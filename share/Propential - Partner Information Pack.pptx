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7562850" cy="10696575"/>
  <p:notesSz cx="10696575" cy="756285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9.png"/><Relationship Id="rId10" Type="http://schemas.openxmlformats.org/officeDocument/2006/relationships/image" Target="../media/image-4-10.sv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4" Type="http://schemas.openxmlformats.org/officeDocument/2006/relationships/hyperlink" Target="https://propential.com.au/" TargetMode="External"/><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70F"/>
        </a:solidFill>
      </p:bgPr>
    </p:bg>
    <p:spTree>
      <p:nvGrpSpPr>
        <p:cNvPr id="1" name=""/>
        <p:cNvGrpSpPr/>
        <p:nvPr/>
      </p:nvGrpSpPr>
      <p:grpSpPr>
        <a:xfrm>
          <a:off x="0" y="0"/>
          <a:ext cx="0" cy="0"/>
          <a:chOff x="0" y="0"/>
          <a:chExt cx="0" cy="0"/>
        </a:xfrm>
      </p:grpSpPr>
      <p:sp>
        <p:nvSpPr>
          <p:cNvPr id="2" name="Shape 0"/>
          <p:cNvSpPr/>
          <p:nvPr/>
        </p:nvSpPr>
        <p:spPr>
          <a:xfrm>
            <a:off x="0" y="0"/>
            <a:ext cx="7559873" cy="10691961"/>
          </a:xfrm>
          <a:prstGeom prst="rect">
            <a:avLst/>
          </a:prstGeom>
          <a:ln/>
          <a:effectLst>
            <a:outerShdw sx="100000" sy="100000" kx="0" ky="0" algn="bl" rotWithShape="0" blurRad="666750" dist="285750" dir="5400000">
              <a:srgbClr val="000000">
                <a:alpha val="70000"/>
              </a:srgbClr>
            </a:outerShdw>
          </a:effectLst>
        </p:spPr>
      </p:sp>
      <p:pic>
        <p:nvPicPr>
          <p:cNvPr id="3" name="Image 0" descr="preencoded.png">    </p:cNvPr>
          <p:cNvPicPr>
            <a:picLocks noChangeAspect="1"/>
          </p:cNvPicPr>
          <p:nvPr/>
        </p:nvPicPr>
        <p:blipFill>
          <a:blip r:embed="rId1"/>
          <a:stretch>
            <a:fillRect/>
          </a:stretch>
        </p:blipFill>
        <p:spPr>
          <a:xfrm>
            <a:off x="0" y="0"/>
            <a:ext cx="7559873" cy="10691961"/>
          </a:xfrm>
          <a:prstGeom prst="rect">
            <a:avLst/>
          </a:prstGeom>
        </p:spPr>
      </p:pic>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1914" y="863947"/>
            <a:ext cx="308372" cy="323850"/>
          </a:xfrm>
          <a:prstGeom prst="rect">
            <a:avLst/>
          </a:prstGeom>
        </p:spPr>
      </p:pic>
      <p:sp>
        <p:nvSpPr>
          <p:cNvPr id="5" name="Text 1"/>
          <p:cNvSpPr/>
          <p:nvPr/>
        </p:nvSpPr>
        <p:spPr>
          <a:xfrm>
            <a:off x="1195536" y="868710"/>
            <a:ext cx="1524149" cy="352425"/>
          </a:xfrm>
          <a:prstGeom prst="rect">
            <a:avLst/>
          </a:prstGeom>
          <a:noFill/>
          <a:ln/>
        </p:spPr>
        <p:txBody>
          <a:bodyPr wrap="square" lIns="25400" tIns="25400" rIns="25400" bIns="25400" rtlCol="0" anchor="t">
            <a:normAutofit/>
          </a:bodyPr>
          <a:lstStyle/>
          <a:p>
            <a:pPr algn="l" indent="0" marL="0">
              <a:lnSpc>
                <a:spcPct val="110000"/>
              </a:lnSpc>
              <a:buNone/>
            </a:pPr>
            <a:r>
              <a:rPr lang="en-US" sz="2250" spc="5" kern="0" dirty="0">
                <a:solidFill>
                  <a:srgbClr val="F3EEE2"/>
                </a:solidFill>
                <a:latin typeface="Fraunces" pitchFamily="34" charset="0"/>
                <a:ea typeface="Fraunces" pitchFamily="34" charset="-122"/>
                <a:cs typeface="Fraunces" pitchFamily="34" charset="-120"/>
              </a:rPr>
              <a:t>Prop</a:t>
            </a:r>
            <a:pPr algn="l" indent="0" marL="0">
              <a:lnSpc>
                <a:spcPct val="110000"/>
              </a:lnSpc>
              <a:buNone/>
            </a:pPr>
            <a:r>
              <a:rPr lang="en-US" sz="2250" i="1" spc="5" kern="0" dirty="0">
                <a:solidFill>
                  <a:srgbClr val="D6B15E"/>
                </a:solidFill>
                <a:latin typeface="Fraunces" pitchFamily="34" charset="0"/>
                <a:ea typeface="Fraunces" pitchFamily="34" charset="-122"/>
                <a:cs typeface="Fraunces" pitchFamily="34" charset="-120"/>
              </a:rPr>
              <a:t>ential</a:t>
            </a:r>
            <a:endParaRPr lang="en-US" sz="2250" dirty="0"/>
          </a:p>
        </p:txBody>
      </p:sp>
      <p:sp>
        <p:nvSpPr>
          <p:cNvPr id="6" name="Text 2"/>
          <p:cNvSpPr/>
          <p:nvPr/>
        </p:nvSpPr>
        <p:spPr>
          <a:xfrm>
            <a:off x="5916067" y="983010"/>
            <a:ext cx="928092" cy="161925"/>
          </a:xfrm>
          <a:prstGeom prst="rect">
            <a:avLst/>
          </a:prstGeom>
          <a:noFill/>
          <a:ln/>
        </p:spPr>
        <p:txBody>
          <a:bodyPr wrap="square" lIns="25400" tIns="25400" rIns="25400" bIns="25400" rtlCol="0" anchor="t">
            <a:normAutofit/>
          </a:bodyPr>
          <a:lstStyle/>
          <a:p>
            <a:pPr algn="l" indent="0" marL="0">
              <a:buNone/>
            </a:pPr>
            <a:r>
              <a:rPr lang="en-US" sz="788" spc="126" kern="0" dirty="0">
                <a:solidFill>
                  <a:srgbClr val="D6B15E"/>
                </a:solidFill>
                <a:latin typeface="Courier New" pitchFamily="34" charset="0"/>
                <a:ea typeface="Courier New" pitchFamily="34" charset="-122"/>
                <a:cs typeface="Courier New" pitchFamily="34" charset="-120"/>
              </a:rPr>
              <a:t>PARTNER PACK</a:t>
            </a:r>
            <a:endParaRPr lang="en-US" sz="788" dirty="0"/>
          </a:p>
        </p:txBody>
      </p:sp>
      <p:sp>
        <p:nvSpPr>
          <p:cNvPr id="7" name="Text 3"/>
          <p:cNvSpPr/>
          <p:nvPr/>
        </p:nvSpPr>
        <p:spPr>
          <a:xfrm>
            <a:off x="791914" y="4010471"/>
            <a:ext cx="6573649" cy="161925"/>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D6B15E"/>
                </a:solidFill>
                <a:latin typeface="Courier New" pitchFamily="34" charset="0"/>
                <a:ea typeface="Courier New" pitchFamily="34" charset="-122"/>
                <a:cs typeface="Courier New" pitchFamily="34" charset="-120"/>
              </a:rPr>
              <a:t>INFORMATION PACK · FOR PARTNERS</a:t>
            </a:r>
            <a:endParaRPr lang="en-US" sz="825" dirty="0"/>
          </a:p>
        </p:txBody>
      </p:sp>
      <p:sp>
        <p:nvSpPr>
          <p:cNvPr id="8" name="Text 4"/>
          <p:cNvSpPr/>
          <p:nvPr/>
        </p:nvSpPr>
        <p:spPr>
          <a:xfrm>
            <a:off x="791914" y="4200971"/>
            <a:ext cx="4785960" cy="723900"/>
          </a:xfrm>
          <a:prstGeom prst="rect">
            <a:avLst/>
          </a:prstGeom>
          <a:noFill/>
          <a:ln/>
        </p:spPr>
        <p:txBody>
          <a:bodyPr wrap="square" lIns="0" tIns="0" rIns="0" bIns="0" rtlCol="0" anchor="t">
            <a:normAutofit/>
          </a:bodyPr>
          <a:lstStyle/>
          <a:p>
            <a:pPr algn="l" indent="0" marL="0">
              <a:lnSpc>
                <a:spcPct val="110000"/>
              </a:lnSpc>
              <a:buNone/>
            </a:pPr>
            <a:r>
              <a:rPr lang="en-US" sz="4350" dirty="0">
                <a:solidFill>
                  <a:srgbClr val="F3EEE2"/>
                </a:solidFill>
                <a:latin typeface="Fraunces" pitchFamily="34" charset="0"/>
                <a:ea typeface="Fraunces" pitchFamily="34" charset="-122"/>
                <a:cs typeface="Fraunces" pitchFamily="34" charset="-120"/>
              </a:rPr>
              <a:t>You refer. We fund.</a:t>
            </a:r>
            <a:endParaRPr lang="en-US" sz="4350" dirty="0"/>
          </a:p>
        </p:txBody>
      </p:sp>
      <p:sp>
        <p:nvSpPr>
          <p:cNvPr id="9" name="Text 5"/>
          <p:cNvSpPr/>
          <p:nvPr/>
        </p:nvSpPr>
        <p:spPr>
          <a:xfrm>
            <a:off x="791914" y="4856262"/>
            <a:ext cx="6573649" cy="645765"/>
          </a:xfrm>
          <a:prstGeom prst="rect">
            <a:avLst/>
          </a:prstGeom>
          <a:noFill/>
          <a:ln/>
        </p:spPr>
        <p:txBody>
          <a:bodyPr wrap="square" lIns="25400" tIns="25400" rIns="25400" bIns="25400" rtlCol="0" anchor="t">
            <a:normAutofit/>
          </a:bodyPr>
          <a:lstStyle/>
          <a:p>
            <a:pPr algn="l" indent="0" marL="0">
              <a:lnSpc>
                <a:spcPct val="110000"/>
              </a:lnSpc>
              <a:buNone/>
            </a:pPr>
            <a:r>
              <a:rPr lang="en-US" sz="4350" dirty="0">
                <a:gradFill rotWithShape="1">
                  <a:gsLst>
                    <a:gs pos="0">
                      <a:srgbClr val="F0DA97">
                        <a:alpha val="100000"/>
                      </a:srgbClr>
                    </a:gs>
                    <a:gs pos="60000">
                      <a:srgbClr val="D6B15E">
                        <a:alpha val="100000"/>
                      </a:srgbClr>
                    </a:gs>
                    <a:gs pos="100000">
                      <a:srgbClr val="C0913F">
                        <a:alpha val="100000"/>
                      </a:srgbClr>
                    </a:gs>
                  </a:gsLst>
                  <a:lin ang="5400000" scaled="0"/>
                </a:gradFill>
                <a:latin typeface="Fraunces" pitchFamily="34" charset="0"/>
                <a:ea typeface="Fraunces" pitchFamily="34" charset="-122"/>
                <a:cs typeface="Fraunces" pitchFamily="34" charset="-120"/>
              </a:rPr>
              <a:t>They improve.</a:t>
            </a:r>
            <a:endParaRPr lang="en-US" sz="4350" dirty="0"/>
          </a:p>
        </p:txBody>
      </p:sp>
      <p:sp>
        <p:nvSpPr>
          <p:cNvPr id="10" name="Text 6"/>
          <p:cNvSpPr/>
          <p:nvPr/>
        </p:nvSpPr>
        <p:spPr>
          <a:xfrm>
            <a:off x="791914" y="5673477"/>
            <a:ext cx="4787726" cy="248543"/>
          </a:xfrm>
          <a:prstGeom prst="rect">
            <a:avLst/>
          </a:prstGeom>
          <a:noFill/>
          <a:ln/>
        </p:spPr>
        <p:txBody>
          <a:bodyPr wrap="square" lIns="25400" tIns="25400" rIns="25400" bIns="25400" rtlCol="0" anchor="t">
            <a:normAutofit/>
          </a:bodyPr>
          <a:lstStyle/>
          <a:p>
            <a:pPr algn="l" indent="0" marL="0">
              <a:lnSpc>
                <a:spcPct val="130000"/>
              </a:lnSpc>
              <a:buNone/>
            </a:pPr>
            <a:r>
              <a:rPr lang="en-US" sz="1050" spc="5" kern="0" dirty="0">
                <a:solidFill>
                  <a:srgbClr val="A7A399"/>
                </a:solidFill>
                <a:latin typeface="Hanken Grotesk" pitchFamily="34" charset="0"/>
                <a:ea typeface="Hanken Grotesk" pitchFamily="34" charset="-122"/>
                <a:cs typeface="Hanken Grotesk" pitchFamily="34" charset="-120"/>
              </a:rPr>
              <a:t>Partner with a property-secured loan built to do right by the customer.</a:t>
            </a:r>
            <a:endParaRPr lang="en-US" sz="1050" dirty="0"/>
          </a:p>
        </p:txBody>
      </p:sp>
      <p:sp>
        <p:nvSpPr>
          <p:cNvPr id="11" name="Text 7"/>
          <p:cNvSpPr/>
          <p:nvPr/>
        </p:nvSpPr>
        <p:spPr>
          <a:xfrm>
            <a:off x="791914" y="6341120"/>
            <a:ext cx="1471761" cy="152400"/>
          </a:xfrm>
          <a:prstGeom prst="rect">
            <a:avLst/>
          </a:prstGeom>
          <a:noFill/>
          <a:ln/>
        </p:spPr>
        <p:txBody>
          <a:bodyPr wrap="square" lIns="25400" tIns="25400" rIns="25400" bIns="25400" rtlCol="0" anchor="t">
            <a:normAutofit/>
          </a:bodyPr>
          <a:lstStyle/>
          <a:p>
            <a:pPr algn="l" indent="0" marL="0">
              <a:buNone/>
            </a:pPr>
            <a:r>
              <a:rPr lang="en-US" sz="750" spc="105" kern="0" dirty="0">
                <a:solidFill>
                  <a:srgbClr val="D6B15E"/>
                </a:solidFill>
                <a:latin typeface="Courier New" pitchFamily="34" charset="0"/>
                <a:ea typeface="Courier New" pitchFamily="34" charset="-122"/>
                <a:cs typeface="Courier New" pitchFamily="34" charset="-120"/>
              </a:rPr>
              <a:t>PREPARED FOR</a:t>
            </a:r>
            <a:endParaRPr lang="en-US" sz="750" dirty="0"/>
          </a:p>
        </p:txBody>
      </p:sp>
      <p:sp>
        <p:nvSpPr>
          <p:cNvPr id="12" name="Text 8"/>
          <p:cNvSpPr/>
          <p:nvPr/>
        </p:nvSpPr>
        <p:spPr>
          <a:xfrm>
            <a:off x="791914" y="6512570"/>
            <a:ext cx="1471761" cy="209550"/>
          </a:xfrm>
          <a:prstGeom prst="rect">
            <a:avLst/>
          </a:prstGeom>
          <a:noFill/>
          <a:ln/>
        </p:spPr>
        <p:txBody>
          <a:bodyPr wrap="square" lIns="25400" tIns="25400" rIns="25400" bIns="25400" rtlCol="0" anchor="t">
            <a:normAutofit/>
          </a:bodyPr>
          <a:lstStyle/>
          <a:p>
            <a:pPr algn="l" indent="0" marL="0">
              <a:buNone/>
            </a:pPr>
            <a:r>
              <a:rPr lang="en-US" sz="1050" spc="5" kern="0" dirty="0">
                <a:solidFill>
                  <a:srgbClr val="F3EEE2"/>
                </a:solidFill>
                <a:latin typeface="Hanken Grotesk" pitchFamily="34" charset="0"/>
                <a:ea typeface="Hanken Grotesk" pitchFamily="34" charset="-122"/>
                <a:cs typeface="Hanken Grotesk" pitchFamily="34" charset="-120"/>
              </a:rPr>
              <a:t>Distributors &amp; brokers</a:t>
            </a:r>
            <a:endParaRPr lang="en-US" sz="1050" dirty="0"/>
          </a:p>
        </p:txBody>
      </p:sp>
      <p:sp>
        <p:nvSpPr>
          <p:cNvPr id="13" name="Text 9"/>
          <p:cNvSpPr/>
          <p:nvPr/>
        </p:nvSpPr>
        <p:spPr>
          <a:xfrm>
            <a:off x="2606129" y="6341120"/>
            <a:ext cx="1937846" cy="152400"/>
          </a:xfrm>
          <a:prstGeom prst="rect">
            <a:avLst/>
          </a:prstGeom>
          <a:noFill/>
          <a:ln/>
        </p:spPr>
        <p:txBody>
          <a:bodyPr wrap="square" lIns="25400" tIns="25400" rIns="25400" bIns="25400" rtlCol="0" anchor="t">
            <a:normAutofit/>
          </a:bodyPr>
          <a:lstStyle/>
          <a:p>
            <a:pPr algn="l" indent="0" marL="0">
              <a:buNone/>
            </a:pPr>
            <a:r>
              <a:rPr lang="en-US" sz="750" spc="105" kern="0" dirty="0">
                <a:solidFill>
                  <a:srgbClr val="D6B15E"/>
                </a:solidFill>
                <a:latin typeface="Courier New" pitchFamily="34" charset="0"/>
                <a:ea typeface="Courier New" pitchFamily="34" charset="-122"/>
                <a:cs typeface="Courier New" pitchFamily="34" charset="-120"/>
              </a:rPr>
              <a:t>LENDER</a:t>
            </a:r>
            <a:endParaRPr lang="en-US" sz="750" dirty="0"/>
          </a:p>
        </p:txBody>
      </p:sp>
      <p:sp>
        <p:nvSpPr>
          <p:cNvPr id="14" name="Text 10"/>
          <p:cNvSpPr/>
          <p:nvPr/>
        </p:nvSpPr>
        <p:spPr>
          <a:xfrm>
            <a:off x="2606129" y="6512570"/>
            <a:ext cx="1937846" cy="209550"/>
          </a:xfrm>
          <a:prstGeom prst="rect">
            <a:avLst/>
          </a:prstGeom>
          <a:noFill/>
          <a:ln/>
        </p:spPr>
        <p:txBody>
          <a:bodyPr wrap="square" lIns="25400" tIns="25400" rIns="25400" bIns="25400" rtlCol="0" anchor="t">
            <a:normAutofit/>
          </a:bodyPr>
          <a:lstStyle/>
          <a:p>
            <a:pPr algn="l" indent="0" marL="0">
              <a:buNone/>
            </a:pPr>
            <a:r>
              <a:rPr lang="en-US" sz="1050" spc="5" kern="0" dirty="0">
                <a:solidFill>
                  <a:srgbClr val="F3EEE2"/>
                </a:solidFill>
                <a:latin typeface="Hanken Grotesk" pitchFamily="34" charset="0"/>
                <a:ea typeface="Hanken Grotesk" pitchFamily="34" charset="-122"/>
                <a:cs typeface="Hanken Grotesk" pitchFamily="34" charset="-120"/>
              </a:rPr>
              <a:t>MediPay Holdings Pty Limited</a:t>
            </a:r>
            <a:endParaRPr lang="en-US" sz="1050" dirty="0"/>
          </a:p>
        </p:txBody>
      </p:sp>
      <p:sp>
        <p:nvSpPr>
          <p:cNvPr id="15" name="Text 11"/>
          <p:cNvSpPr/>
          <p:nvPr/>
        </p:nvSpPr>
        <p:spPr>
          <a:xfrm>
            <a:off x="4844058" y="6341120"/>
            <a:ext cx="806351" cy="152400"/>
          </a:xfrm>
          <a:prstGeom prst="rect">
            <a:avLst/>
          </a:prstGeom>
          <a:noFill/>
          <a:ln/>
        </p:spPr>
        <p:txBody>
          <a:bodyPr wrap="square" lIns="25400" tIns="25400" rIns="25400" bIns="25400" rtlCol="0" anchor="t">
            <a:normAutofit/>
          </a:bodyPr>
          <a:lstStyle/>
          <a:p>
            <a:pPr algn="l" indent="0" marL="0">
              <a:buNone/>
            </a:pPr>
            <a:r>
              <a:rPr lang="en-US" sz="750" spc="105" kern="0" dirty="0">
                <a:solidFill>
                  <a:srgbClr val="D6B15E"/>
                </a:solidFill>
                <a:latin typeface="Courier New" pitchFamily="34" charset="0"/>
                <a:ea typeface="Courier New" pitchFamily="34" charset="-122"/>
                <a:cs typeface="Courier New" pitchFamily="34" charset="-120"/>
              </a:rPr>
              <a:t>LICENCE</a:t>
            </a:r>
            <a:endParaRPr lang="en-US" sz="750" dirty="0"/>
          </a:p>
        </p:txBody>
      </p:sp>
      <p:sp>
        <p:nvSpPr>
          <p:cNvPr id="16" name="Text 12"/>
          <p:cNvSpPr/>
          <p:nvPr/>
        </p:nvSpPr>
        <p:spPr>
          <a:xfrm>
            <a:off x="4844058" y="6512570"/>
            <a:ext cx="806351" cy="209550"/>
          </a:xfrm>
          <a:prstGeom prst="rect">
            <a:avLst/>
          </a:prstGeom>
          <a:noFill/>
          <a:ln/>
        </p:spPr>
        <p:txBody>
          <a:bodyPr wrap="square" lIns="25400" tIns="25400" rIns="25400" bIns="25400" rtlCol="0" anchor="t">
            <a:normAutofit/>
          </a:bodyPr>
          <a:lstStyle/>
          <a:p>
            <a:pPr algn="l" indent="0" marL="0">
              <a:buNone/>
            </a:pPr>
            <a:r>
              <a:rPr lang="en-US" sz="1050" spc="5" kern="0" dirty="0">
                <a:solidFill>
                  <a:srgbClr val="F3EEE2"/>
                </a:solidFill>
                <a:latin typeface="Hanken Grotesk" pitchFamily="34" charset="0"/>
                <a:ea typeface="Hanken Grotesk" pitchFamily="34" charset="-122"/>
                <a:cs typeface="Hanken Grotesk" pitchFamily="34" charset="-120"/>
              </a:rPr>
              <a:t>ACL 474336</a:t>
            </a:r>
            <a:endParaRPr lang="en-US" sz="1050" dirty="0"/>
          </a:p>
        </p:txBody>
      </p:sp>
      <p:sp>
        <p:nvSpPr>
          <p:cNvPr id="17" name="Shape 13"/>
          <p:cNvSpPr/>
          <p:nvPr/>
        </p:nvSpPr>
        <p:spPr>
          <a:xfrm>
            <a:off x="791914" y="9468594"/>
            <a:ext cx="5976045" cy="9525"/>
          </a:xfrm>
          <a:prstGeom prst="rect">
            <a:avLst/>
          </a:prstGeom>
          <a:solidFill>
            <a:srgbClr val="F3EEE2">
              <a:alpha val="8000"/>
            </a:srgbClr>
          </a:solidFill>
          <a:ln/>
        </p:spPr>
      </p:sp>
      <p:sp>
        <p:nvSpPr>
          <p:cNvPr id="18" name="Text 14"/>
          <p:cNvSpPr/>
          <p:nvPr/>
        </p:nvSpPr>
        <p:spPr>
          <a:xfrm>
            <a:off x="791914" y="9763869"/>
            <a:ext cx="6155326" cy="174278"/>
          </a:xfrm>
          <a:prstGeom prst="rect">
            <a:avLst/>
          </a:prstGeom>
          <a:noFill/>
          <a:ln/>
        </p:spPr>
        <p:txBody>
          <a:bodyPr wrap="square" lIns="25400" tIns="25400" rIns="25400" bIns="25400" rtlCol="0" anchor="t">
            <a:normAutofit/>
          </a:bodyPr>
          <a:lstStyle/>
          <a:p>
            <a:pPr algn="l" indent="0" marL="0">
              <a:lnSpc>
                <a:spcPct val="130000"/>
              </a:lnSpc>
              <a:buNone/>
            </a:pPr>
            <a:r>
              <a:rPr lang="en-US" sz="825" spc="5" kern="0" dirty="0">
                <a:solidFill>
                  <a:srgbClr val="6F6C63"/>
                </a:solidFill>
                <a:latin typeface="Hanken Grotesk" pitchFamily="34" charset="0"/>
                <a:ea typeface="Hanken Grotesk" pitchFamily="34" charset="-122"/>
                <a:cs typeface="Hanken Grotesk" pitchFamily="34" charset="-120"/>
              </a:rPr>
              <a:t>Commercial-in-confidence. Indicative information only, not a quote, approval or offer of credit. © Propential.</a:t>
            </a:r>
            <a:endParaRPr lang="en-US" sz="8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EE2"/>
        </a:solidFill>
      </p:bgPr>
    </p:bg>
    <p:spTree>
      <p:nvGrpSpPr>
        <p:cNvPr id="1" name=""/>
        <p:cNvGrpSpPr/>
        <p:nvPr/>
      </p:nvGrpSpPr>
      <p:grpSpPr>
        <a:xfrm>
          <a:off x="0" y="0"/>
          <a:ext cx="0" cy="0"/>
          <a:chOff x="0" y="0"/>
          <a:chExt cx="0" cy="0"/>
        </a:xfrm>
      </p:grpSpPr>
      <p:sp>
        <p:nvSpPr>
          <p:cNvPr id="2" name="Shape 0"/>
          <p:cNvSpPr/>
          <p:nvPr/>
        </p:nvSpPr>
        <p:spPr>
          <a:xfrm>
            <a:off x="0" y="0"/>
            <a:ext cx="7559873" cy="10691961"/>
          </a:xfrm>
          <a:prstGeom prst="rect">
            <a:avLst/>
          </a:prstGeom>
          <a:ln/>
          <a:effectLst>
            <a:outerShdw sx="100000" sy="100000" kx="0" ky="0" algn="bl" rotWithShape="0" blurRad="666750" dist="285750" dir="5400000">
              <a:srgbClr val="000000">
                <a:alpha val="70000"/>
              </a:srgbClr>
            </a:outerShdw>
          </a:effectLst>
        </p:spPr>
      </p:sp>
      <p:sp>
        <p:nvSpPr>
          <p:cNvPr id="3" name="Shape 1"/>
          <p:cNvSpPr/>
          <p:nvPr/>
        </p:nvSpPr>
        <p:spPr>
          <a:xfrm>
            <a:off x="791914" y="1283047"/>
            <a:ext cx="5976045" cy="9525"/>
          </a:xfrm>
          <a:prstGeom prst="rect">
            <a:avLst/>
          </a:prstGeom>
          <a:solidFill>
            <a:srgbClr val="1B1C16">
              <a:alpha val="12000"/>
            </a:srgbClr>
          </a:solidFill>
          <a:ln/>
        </p:spPr>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1914" y="863947"/>
            <a:ext cx="235744" cy="247650"/>
          </a:xfrm>
          <a:prstGeom prst="rect">
            <a:avLst/>
          </a:prstGeom>
        </p:spPr>
      </p:pic>
      <p:sp>
        <p:nvSpPr>
          <p:cNvPr id="5" name="Text 2"/>
          <p:cNvSpPr/>
          <p:nvPr/>
        </p:nvSpPr>
        <p:spPr>
          <a:xfrm>
            <a:off x="1122908" y="872579"/>
            <a:ext cx="1095673" cy="268486"/>
          </a:xfrm>
          <a:prstGeom prst="rect">
            <a:avLst/>
          </a:prstGeom>
          <a:noFill/>
          <a:ln/>
        </p:spPr>
        <p:txBody>
          <a:bodyPr wrap="square" lIns="25400" tIns="25400" rIns="25400" bIns="25400" rtlCol="0" anchor="t">
            <a:normAutofit/>
          </a:bodyPr>
          <a:lstStyle/>
          <a:p>
            <a:pPr algn="l" indent="0" marL="0">
              <a:lnSpc>
                <a:spcPct val="110000"/>
              </a:lnSpc>
              <a:buNone/>
            </a:pPr>
            <a:r>
              <a:rPr lang="en-US" sz="1650" dirty="0">
                <a:solidFill>
                  <a:srgbClr val="1B1C16"/>
                </a:solidFill>
                <a:latin typeface="Fraunces" pitchFamily="34" charset="0"/>
                <a:ea typeface="Fraunces" pitchFamily="34" charset="-122"/>
                <a:cs typeface="Fraunces" pitchFamily="34" charset="-120"/>
              </a:rPr>
              <a:t>Prop</a:t>
            </a:r>
            <a:pPr algn="l" indent="0" marL="0">
              <a:lnSpc>
                <a:spcPct val="110000"/>
              </a:lnSpc>
              <a:buNone/>
            </a:pPr>
            <a:r>
              <a:rPr lang="en-US" sz="1650" i="1" dirty="0">
                <a:solidFill>
                  <a:srgbClr val="B6873A"/>
                </a:solidFill>
                <a:latin typeface="Fraunces" pitchFamily="34" charset="0"/>
                <a:ea typeface="Fraunces" pitchFamily="34" charset="-122"/>
                <a:cs typeface="Fraunces" pitchFamily="34" charset="-120"/>
              </a:rPr>
              <a:t>ential</a:t>
            </a:r>
            <a:endParaRPr lang="en-US" sz="1650" dirty="0"/>
          </a:p>
        </p:txBody>
      </p:sp>
      <p:sp>
        <p:nvSpPr>
          <p:cNvPr id="6" name="Text 3"/>
          <p:cNvSpPr/>
          <p:nvPr/>
        </p:nvSpPr>
        <p:spPr>
          <a:xfrm>
            <a:off x="5064175" y="944910"/>
            <a:ext cx="1874163" cy="161925"/>
          </a:xfrm>
          <a:prstGeom prst="rect">
            <a:avLst/>
          </a:prstGeom>
          <a:noFill/>
          <a:ln/>
        </p:spPr>
        <p:txBody>
          <a:bodyPr wrap="square" lIns="25400" tIns="25400" rIns="25400" bIns="25400" rtlCol="0" anchor="t">
            <a:normAutofit/>
          </a:bodyPr>
          <a:lstStyle/>
          <a:p>
            <a:pPr algn="l" indent="0" marL="0">
              <a:buNone/>
            </a:pPr>
            <a:r>
              <a:rPr lang="en-US" sz="788" spc="126" kern="0" dirty="0">
                <a:solidFill>
                  <a:srgbClr val="5C5A50"/>
                </a:solidFill>
                <a:latin typeface="Courier New" pitchFamily="34" charset="0"/>
                <a:ea typeface="Courier New" pitchFamily="34" charset="-122"/>
                <a:cs typeface="Courier New" pitchFamily="34" charset="-120"/>
              </a:rPr>
              <a:t>01 · ABOUT &amp; THE PRODUCT</a:t>
            </a:r>
            <a:endParaRPr lang="en-US" sz="788" dirty="0"/>
          </a:p>
        </p:txBody>
      </p:sp>
      <p:sp>
        <p:nvSpPr>
          <p:cNvPr id="7" name="Text 4"/>
          <p:cNvSpPr/>
          <p:nvPr/>
        </p:nvSpPr>
        <p:spPr>
          <a:xfrm>
            <a:off x="791914" y="1578322"/>
            <a:ext cx="6573649" cy="161925"/>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B6873A"/>
                </a:solidFill>
                <a:latin typeface="Courier New" pitchFamily="34" charset="0"/>
                <a:ea typeface="Courier New" pitchFamily="34" charset="-122"/>
                <a:cs typeface="Courier New" pitchFamily="34" charset="-120"/>
              </a:rPr>
              <a:t>ABOUT PROPENTIAL</a:t>
            </a:r>
            <a:endParaRPr lang="en-US" sz="825" dirty="0"/>
          </a:p>
        </p:txBody>
      </p:sp>
      <p:sp>
        <p:nvSpPr>
          <p:cNvPr id="8" name="Text 5"/>
          <p:cNvSpPr/>
          <p:nvPr/>
        </p:nvSpPr>
        <p:spPr>
          <a:xfrm>
            <a:off x="791914" y="1816447"/>
            <a:ext cx="6155326" cy="876300"/>
          </a:xfrm>
          <a:prstGeom prst="rect">
            <a:avLst/>
          </a:prstGeom>
          <a:noFill/>
          <a:ln/>
        </p:spPr>
        <p:txBody>
          <a:bodyPr wrap="square" lIns="25400" tIns="25400" rIns="25400" bIns="25400" rtlCol="0" anchor="t">
            <a:normAutofit/>
          </a:bodyPr>
          <a:lstStyle/>
          <a:p>
            <a:pPr algn="l" indent="0" marL="0">
              <a:lnSpc>
                <a:spcPct val="110000"/>
              </a:lnSpc>
              <a:buNone/>
            </a:pPr>
            <a:r>
              <a:rPr lang="en-US" sz="3000" dirty="0">
                <a:solidFill>
                  <a:srgbClr val="1B1C16"/>
                </a:solidFill>
                <a:latin typeface="Fraunces" pitchFamily="34" charset="0"/>
                <a:ea typeface="Fraunces" pitchFamily="34" charset="-122"/>
                <a:cs typeface="Fraunces" pitchFamily="34" charset="-120"/>
              </a:rPr>
              <a:t>A loan secured by the home </a:t>
            </a:r>
            <a:pPr algn="l" indent="0" marL="0">
              <a:lnSpc>
                <a:spcPct val="110000"/>
              </a:lnSpc>
              <a:buNone/>
            </a:pPr>
            <a:r>
              <a:rPr lang="en-US" sz="3000" dirty="0">
                <a:solidFill>
                  <a:srgbClr val="B6873A"/>
                </a:solidFill>
                <a:latin typeface="Fraunces" pitchFamily="34" charset="0"/>
                <a:ea typeface="Fraunces" pitchFamily="34" charset="-122"/>
                <a:cs typeface="Fraunces" pitchFamily="34" charset="-120"/>
              </a:rPr>
              <a:t>people already own.</a:t>
            </a:r>
            <a:endParaRPr lang="en-US" sz="3000" dirty="0"/>
          </a:p>
        </p:txBody>
      </p:sp>
      <p:sp>
        <p:nvSpPr>
          <p:cNvPr id="9" name="Text 6"/>
          <p:cNvSpPr/>
          <p:nvPr/>
        </p:nvSpPr>
        <p:spPr>
          <a:xfrm>
            <a:off x="791914" y="2807047"/>
            <a:ext cx="6151340" cy="731044"/>
          </a:xfrm>
          <a:prstGeom prst="rect">
            <a:avLst/>
          </a:prstGeom>
          <a:noFill/>
          <a:ln/>
        </p:spPr>
        <p:txBody>
          <a:bodyPr wrap="square" lIns="25400" tIns="25400" rIns="25400" bIns="25400" rtlCol="0" anchor="t">
            <a:normAutofit/>
          </a:bodyPr>
          <a:lstStyle/>
          <a:p>
            <a:pPr algn="l" indent="0" marL="0">
              <a:lnSpc>
                <a:spcPct val="130000"/>
              </a:lnSpc>
              <a:buNone/>
            </a:pPr>
            <a:r>
              <a:rPr lang="en-US" sz="1050" spc="5" kern="0" dirty="0">
                <a:solidFill>
                  <a:srgbClr val="5C5A50"/>
                </a:solidFill>
                <a:latin typeface="Hanken Grotesk" pitchFamily="34" charset="0"/>
                <a:ea typeface="Hanken Grotesk" pitchFamily="34" charset="-122"/>
                <a:cs typeface="Hanken Grotesk" pitchFamily="34" charset="-120"/>
              </a:rPr>
              <a:t>Propential is a property-secured personal loan for owners who want to invest in their home rather than move. The customer borrows a set amount, repays it with principal &amp; interest over a fixed term and puts it toward a project that improves their property. </a:t>
            </a:r>
            <a:pPr algn="l" indent="0" marL="0">
              <a:lnSpc>
                <a:spcPct val="130000"/>
              </a:lnSpc>
              <a:buNone/>
            </a:pPr>
            <a:r>
              <a:rPr lang="en-US" sz="1050" spc="5" kern="0" dirty="0">
                <a:solidFill>
                  <a:srgbClr val="1B1C16"/>
                </a:solidFill>
                <a:latin typeface="Hanken Grotesk" pitchFamily="34" charset="0"/>
                <a:ea typeface="Hanken Grotesk" pitchFamily="34" charset="-122"/>
                <a:cs typeface="Hanken Grotesk" pitchFamily="34" charset="-120"/>
              </a:rPr>
              <a:t>Propential is offered by MediPay Holdings Pty Limited (ACL 474336).</a:t>
            </a:r>
            <a:endParaRPr lang="en-US" sz="1050" dirty="0"/>
          </a:p>
        </p:txBody>
      </p:sp>
      <p:sp>
        <p:nvSpPr>
          <p:cNvPr id="10" name="Text 7"/>
          <p:cNvSpPr/>
          <p:nvPr/>
        </p:nvSpPr>
        <p:spPr>
          <a:xfrm>
            <a:off x="791914" y="3880991"/>
            <a:ext cx="6573649" cy="161925"/>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B6873A"/>
                </a:solidFill>
                <a:latin typeface="Courier New" pitchFamily="34" charset="0"/>
                <a:ea typeface="Courier New" pitchFamily="34" charset="-122"/>
                <a:cs typeface="Courier New" pitchFamily="34" charset="-120"/>
              </a:rPr>
              <a:t>THE PRODUCT IN DETAIL</a:t>
            </a:r>
            <a:endParaRPr lang="en-US" sz="825" dirty="0"/>
          </a:p>
        </p:txBody>
      </p:sp>
      <p:sp>
        <p:nvSpPr>
          <p:cNvPr id="11" name="Shape 8"/>
          <p:cNvSpPr/>
          <p:nvPr/>
        </p:nvSpPr>
        <p:spPr>
          <a:xfrm>
            <a:off x="791914" y="4119116"/>
            <a:ext cx="1890415" cy="1218009"/>
          </a:xfrm>
          <a:prstGeom prst="roundRect">
            <a:avLst>
              <a:gd name="adj" fmla="val 9384"/>
            </a:avLst>
          </a:prstGeom>
          <a:solidFill>
            <a:srgbClr val="FFFFFF"/>
          </a:solidFill>
          <a:ln w="9525">
            <a:solidFill>
              <a:srgbClr val="1B1C16">
                <a:alpha val="12000"/>
              </a:srgbClr>
            </a:solidFill>
            <a:prstDash val="solid"/>
          </a:ln>
        </p:spPr>
      </p:sp>
      <p:sp>
        <p:nvSpPr>
          <p:cNvPr id="12" name="Text 9"/>
          <p:cNvSpPr/>
          <p:nvPr/>
        </p:nvSpPr>
        <p:spPr>
          <a:xfrm>
            <a:off x="953839" y="4261991"/>
            <a:ext cx="1723221" cy="152400"/>
          </a:xfrm>
          <a:prstGeom prst="rect">
            <a:avLst/>
          </a:prstGeom>
          <a:noFill/>
          <a:ln/>
        </p:spPr>
        <p:txBody>
          <a:bodyPr wrap="square" lIns="25400" tIns="25400" rIns="25400" bIns="25400" rtlCol="0" anchor="t">
            <a:normAutofit/>
          </a:bodyPr>
          <a:lstStyle/>
          <a:p>
            <a:pPr algn="l" indent="0" marL="0">
              <a:buNone/>
            </a:pPr>
            <a:r>
              <a:rPr lang="en-US" sz="750" spc="90" kern="0" dirty="0">
                <a:solidFill>
                  <a:srgbClr val="5C5A50"/>
                </a:solidFill>
                <a:latin typeface="Courier New" pitchFamily="34" charset="0"/>
                <a:ea typeface="Courier New" pitchFamily="34" charset="-122"/>
                <a:cs typeface="Courier New" pitchFamily="34" charset="-120"/>
              </a:rPr>
              <a:t>LOAN AMOUNT</a:t>
            </a:r>
            <a:endParaRPr lang="en-US" sz="750" dirty="0"/>
          </a:p>
        </p:txBody>
      </p:sp>
      <p:sp>
        <p:nvSpPr>
          <p:cNvPr id="13" name="Text 10"/>
          <p:cNvSpPr/>
          <p:nvPr/>
        </p:nvSpPr>
        <p:spPr>
          <a:xfrm>
            <a:off x="953839" y="4376291"/>
            <a:ext cx="1642765" cy="533400"/>
          </a:xfrm>
          <a:prstGeom prst="rect">
            <a:avLst/>
          </a:prstGeom>
          <a:noFill/>
          <a:ln/>
        </p:spPr>
        <p:txBody>
          <a:bodyPr wrap="square" lIns="25400" tIns="25400" rIns="25400" bIns="25400" rtlCol="0" anchor="b">
            <a:normAutofit/>
          </a:bodyPr>
          <a:lstStyle/>
          <a:p>
            <a:pPr algn="l" indent="0" marL="0">
              <a:lnSpc>
                <a:spcPct val="110000"/>
              </a:lnSpc>
              <a:buNone/>
            </a:pPr>
            <a:r>
              <a:rPr lang="en-US" sz="1800" spc="5" kern="0" dirty="0">
                <a:solidFill>
                  <a:srgbClr val="B6873A"/>
                </a:solidFill>
                <a:latin typeface="Fraunces" pitchFamily="34" charset="0"/>
                <a:ea typeface="Fraunces" pitchFamily="34" charset="-122"/>
                <a:cs typeface="Fraunces" pitchFamily="34" charset="-120"/>
              </a:rPr>
              <a:t>$5k – $175k</a:t>
            </a:r>
            <a:endParaRPr lang="en-US" sz="1800" dirty="0"/>
          </a:p>
        </p:txBody>
      </p:sp>
      <p:sp>
        <p:nvSpPr>
          <p:cNvPr id="14" name="Text 11"/>
          <p:cNvSpPr/>
          <p:nvPr/>
        </p:nvSpPr>
        <p:spPr>
          <a:xfrm>
            <a:off x="953839" y="4909691"/>
            <a:ext cx="1723221" cy="180380"/>
          </a:xfrm>
          <a:prstGeom prst="rect">
            <a:avLst/>
          </a:prstGeom>
          <a:noFill/>
          <a:ln/>
        </p:spPr>
        <p:txBody>
          <a:bodyPr wrap="square" lIns="25400" tIns="25400" rIns="25400" bIns="25400" rtlCol="0" anchor="t">
            <a:normAutofit/>
          </a:bodyPr>
          <a:lstStyle/>
          <a:p>
            <a:pPr algn="l" indent="0" marL="0">
              <a:lnSpc>
                <a:spcPct val="130000"/>
              </a:lnSpc>
              <a:buNone/>
            </a:pPr>
            <a:r>
              <a:rPr lang="en-US" sz="863" spc="5" kern="0" dirty="0">
                <a:solidFill>
                  <a:srgbClr val="5C5A50"/>
                </a:solidFill>
                <a:latin typeface="Hanken Grotesk" pitchFamily="34" charset="0"/>
                <a:ea typeface="Hanken Grotesk" pitchFamily="34" charset="-122"/>
                <a:cs typeface="Hanken Grotesk" pitchFamily="34" charset="-120"/>
              </a:rPr>
              <a:t>A secured, fixed-term loan.</a:t>
            </a:r>
            <a:endParaRPr lang="en-US" sz="863" dirty="0"/>
          </a:p>
        </p:txBody>
      </p:sp>
      <p:sp>
        <p:nvSpPr>
          <p:cNvPr id="15" name="Shape 12"/>
          <p:cNvSpPr/>
          <p:nvPr/>
        </p:nvSpPr>
        <p:spPr>
          <a:xfrm>
            <a:off x="2834729" y="4119116"/>
            <a:ext cx="1890415" cy="1218009"/>
          </a:xfrm>
          <a:prstGeom prst="roundRect">
            <a:avLst>
              <a:gd name="adj" fmla="val 9384"/>
            </a:avLst>
          </a:prstGeom>
          <a:solidFill>
            <a:srgbClr val="FFFFFF"/>
          </a:solidFill>
          <a:ln w="9525">
            <a:solidFill>
              <a:srgbClr val="1B1C16">
                <a:alpha val="12000"/>
              </a:srgbClr>
            </a:solidFill>
            <a:prstDash val="solid"/>
          </a:ln>
        </p:spPr>
      </p:sp>
      <p:sp>
        <p:nvSpPr>
          <p:cNvPr id="16" name="Text 13"/>
          <p:cNvSpPr/>
          <p:nvPr/>
        </p:nvSpPr>
        <p:spPr>
          <a:xfrm>
            <a:off x="2996654" y="4261991"/>
            <a:ext cx="1723221" cy="152400"/>
          </a:xfrm>
          <a:prstGeom prst="rect">
            <a:avLst/>
          </a:prstGeom>
          <a:noFill/>
          <a:ln/>
        </p:spPr>
        <p:txBody>
          <a:bodyPr wrap="square" lIns="25400" tIns="25400" rIns="25400" bIns="25400" rtlCol="0" anchor="t">
            <a:normAutofit/>
          </a:bodyPr>
          <a:lstStyle/>
          <a:p>
            <a:pPr algn="l" indent="0" marL="0">
              <a:buNone/>
            </a:pPr>
            <a:r>
              <a:rPr lang="en-US" sz="750" spc="90" kern="0" dirty="0">
                <a:solidFill>
                  <a:srgbClr val="5C5A50"/>
                </a:solidFill>
                <a:latin typeface="Courier New" pitchFamily="34" charset="0"/>
                <a:ea typeface="Courier New" pitchFamily="34" charset="-122"/>
                <a:cs typeface="Courier New" pitchFamily="34" charset="-120"/>
              </a:rPr>
              <a:t>ONE CLEAR RATE</a:t>
            </a:r>
            <a:endParaRPr lang="en-US" sz="750" dirty="0"/>
          </a:p>
        </p:txBody>
      </p:sp>
      <p:sp>
        <p:nvSpPr>
          <p:cNvPr id="17" name="Text 14"/>
          <p:cNvSpPr/>
          <p:nvPr/>
        </p:nvSpPr>
        <p:spPr>
          <a:xfrm>
            <a:off x="2996654" y="4433441"/>
            <a:ext cx="1642765" cy="533400"/>
          </a:xfrm>
          <a:prstGeom prst="rect">
            <a:avLst/>
          </a:prstGeom>
          <a:noFill/>
          <a:ln/>
        </p:spPr>
        <p:txBody>
          <a:bodyPr wrap="square" lIns="25400" tIns="25400" rIns="25400" bIns="25400" rtlCol="0" anchor="b">
            <a:normAutofit/>
          </a:bodyPr>
          <a:lstStyle/>
          <a:p>
            <a:pPr algn="l" indent="0" marL="0">
              <a:lnSpc>
                <a:spcPct val="110000"/>
              </a:lnSpc>
              <a:buNone/>
            </a:pPr>
            <a:r>
              <a:rPr lang="en-US" sz="1800" spc="5" kern="0" dirty="0">
                <a:solidFill>
                  <a:srgbClr val="B6873A"/>
                </a:solidFill>
                <a:latin typeface="Fraunces" pitchFamily="34" charset="0"/>
                <a:ea typeface="Fraunces" pitchFamily="34" charset="-122"/>
                <a:cs typeface="Fraunces" pitchFamily="34" charset="-120"/>
              </a:rPr>
              <a:t>17.95% p.a.</a:t>
            </a:r>
            <a:endParaRPr lang="en-US" sz="1800" dirty="0"/>
          </a:p>
        </p:txBody>
      </p:sp>
      <p:sp>
        <p:nvSpPr>
          <p:cNvPr id="18" name="Text 15"/>
          <p:cNvSpPr/>
          <p:nvPr/>
        </p:nvSpPr>
        <p:spPr>
          <a:xfrm>
            <a:off x="2996654" y="4966841"/>
            <a:ext cx="1723221" cy="180380"/>
          </a:xfrm>
          <a:prstGeom prst="rect">
            <a:avLst/>
          </a:prstGeom>
          <a:noFill/>
          <a:ln/>
        </p:spPr>
        <p:txBody>
          <a:bodyPr wrap="square" lIns="25400" tIns="25400" rIns="25400" bIns="25400" rtlCol="0" anchor="t">
            <a:normAutofit/>
          </a:bodyPr>
          <a:lstStyle/>
          <a:p>
            <a:pPr algn="l" indent="0" marL="0">
              <a:lnSpc>
                <a:spcPct val="130000"/>
              </a:lnSpc>
              <a:buNone/>
            </a:pPr>
            <a:r>
              <a:rPr lang="en-US" sz="863" spc="5" kern="0" dirty="0">
                <a:solidFill>
                  <a:srgbClr val="5C5A50"/>
                </a:solidFill>
                <a:latin typeface="Hanken Grotesk" pitchFamily="34" charset="0"/>
                <a:ea typeface="Hanken Grotesk" pitchFamily="34" charset="-122"/>
                <a:cs typeface="Hanken Grotesk" pitchFamily="34" charset="-120"/>
              </a:rPr>
              <a:t>The same rate for everyone.</a:t>
            </a:r>
            <a:endParaRPr lang="en-US" sz="863" dirty="0"/>
          </a:p>
        </p:txBody>
      </p:sp>
      <p:sp>
        <p:nvSpPr>
          <p:cNvPr id="19" name="Shape 16"/>
          <p:cNvSpPr/>
          <p:nvPr/>
        </p:nvSpPr>
        <p:spPr>
          <a:xfrm>
            <a:off x="4877544" y="4119116"/>
            <a:ext cx="1890415" cy="1218009"/>
          </a:xfrm>
          <a:prstGeom prst="roundRect">
            <a:avLst>
              <a:gd name="adj" fmla="val 9384"/>
            </a:avLst>
          </a:prstGeom>
          <a:solidFill>
            <a:srgbClr val="FFFFFF"/>
          </a:solidFill>
          <a:ln w="9525">
            <a:solidFill>
              <a:srgbClr val="1B1C16">
                <a:alpha val="12000"/>
              </a:srgbClr>
            </a:solidFill>
            <a:prstDash val="solid"/>
          </a:ln>
        </p:spPr>
      </p:sp>
      <p:sp>
        <p:nvSpPr>
          <p:cNvPr id="20" name="Text 17"/>
          <p:cNvSpPr/>
          <p:nvPr/>
        </p:nvSpPr>
        <p:spPr>
          <a:xfrm>
            <a:off x="5039469" y="4261991"/>
            <a:ext cx="1723221" cy="152400"/>
          </a:xfrm>
          <a:prstGeom prst="rect">
            <a:avLst/>
          </a:prstGeom>
          <a:noFill/>
          <a:ln/>
        </p:spPr>
        <p:txBody>
          <a:bodyPr wrap="square" lIns="25400" tIns="25400" rIns="25400" bIns="25400" rtlCol="0" anchor="t">
            <a:normAutofit/>
          </a:bodyPr>
          <a:lstStyle/>
          <a:p>
            <a:pPr algn="l" indent="0" marL="0">
              <a:buNone/>
            </a:pPr>
            <a:r>
              <a:rPr lang="en-US" sz="750" spc="90" kern="0" dirty="0">
                <a:solidFill>
                  <a:srgbClr val="5C5A50"/>
                </a:solidFill>
                <a:latin typeface="Courier New" pitchFamily="34" charset="0"/>
                <a:ea typeface="Courier New" pitchFamily="34" charset="-122"/>
                <a:cs typeface="Courier New" pitchFamily="34" charset="-120"/>
              </a:rPr>
              <a:t>TERM</a:t>
            </a:r>
            <a:endParaRPr lang="en-US" sz="750" dirty="0"/>
          </a:p>
        </p:txBody>
      </p:sp>
      <p:sp>
        <p:nvSpPr>
          <p:cNvPr id="21" name="Text 18"/>
          <p:cNvSpPr/>
          <p:nvPr/>
        </p:nvSpPr>
        <p:spPr>
          <a:xfrm>
            <a:off x="5039469" y="4376291"/>
            <a:ext cx="1642765" cy="533400"/>
          </a:xfrm>
          <a:prstGeom prst="rect">
            <a:avLst/>
          </a:prstGeom>
          <a:noFill/>
          <a:ln/>
        </p:spPr>
        <p:txBody>
          <a:bodyPr wrap="square" lIns="25400" tIns="25400" rIns="25400" bIns="25400" rtlCol="0" anchor="b">
            <a:normAutofit/>
          </a:bodyPr>
          <a:lstStyle/>
          <a:p>
            <a:pPr algn="l" indent="0" marL="0">
              <a:lnSpc>
                <a:spcPct val="110000"/>
              </a:lnSpc>
              <a:buNone/>
            </a:pPr>
            <a:r>
              <a:rPr lang="en-US" sz="1800" spc="5" kern="0" dirty="0">
                <a:solidFill>
                  <a:srgbClr val="B6873A"/>
                </a:solidFill>
                <a:latin typeface="Fraunces" pitchFamily="34" charset="0"/>
                <a:ea typeface="Fraunces" pitchFamily="34" charset="-122"/>
                <a:cs typeface="Fraunces" pitchFamily="34" charset="-120"/>
              </a:rPr>
              <a:t>1 – 10 years</a:t>
            </a:r>
            <a:endParaRPr lang="en-US" sz="1800" dirty="0"/>
          </a:p>
        </p:txBody>
      </p:sp>
      <p:sp>
        <p:nvSpPr>
          <p:cNvPr id="22" name="Text 19"/>
          <p:cNvSpPr/>
          <p:nvPr/>
        </p:nvSpPr>
        <p:spPr>
          <a:xfrm>
            <a:off x="5039469" y="4909691"/>
            <a:ext cx="1642765" cy="322659"/>
          </a:xfrm>
          <a:prstGeom prst="rect">
            <a:avLst/>
          </a:prstGeom>
          <a:noFill/>
          <a:ln/>
        </p:spPr>
        <p:txBody>
          <a:bodyPr wrap="square" lIns="25400" tIns="25400" rIns="25400" bIns="25400" rtlCol="0" anchor="t">
            <a:normAutofit/>
          </a:bodyPr>
          <a:lstStyle/>
          <a:p>
            <a:pPr algn="l" indent="0" marL="0">
              <a:lnSpc>
                <a:spcPct val="130000"/>
              </a:lnSpc>
              <a:buNone/>
            </a:pPr>
            <a:r>
              <a:rPr lang="en-US" sz="863" spc="5" kern="0" dirty="0">
                <a:solidFill>
                  <a:srgbClr val="5C5A50"/>
                </a:solidFill>
                <a:latin typeface="Hanken Grotesk" pitchFamily="34" charset="0"/>
                <a:ea typeface="Hanken Grotesk" pitchFamily="34" charset="-122"/>
                <a:cs typeface="Hanken Grotesk" pitchFamily="34" charset="-120"/>
              </a:rPr>
              <a:t>Up to 7 yrs to $50k; up to 10 yrs above.</a:t>
            </a:r>
            <a:endParaRPr lang="en-US" sz="863" dirty="0"/>
          </a:p>
        </p:txBody>
      </p:sp>
      <p:sp>
        <p:nvSpPr>
          <p:cNvPr id="23" name="Shape 20"/>
          <p:cNvSpPr/>
          <p:nvPr/>
        </p:nvSpPr>
        <p:spPr>
          <a:xfrm>
            <a:off x="791914" y="5489525"/>
            <a:ext cx="1890415" cy="1282601"/>
          </a:xfrm>
          <a:prstGeom prst="roundRect">
            <a:avLst>
              <a:gd name="adj" fmla="val 8912"/>
            </a:avLst>
          </a:prstGeom>
          <a:solidFill>
            <a:srgbClr val="FFFFFF"/>
          </a:solidFill>
          <a:ln w="9525">
            <a:solidFill>
              <a:srgbClr val="1B1C16">
                <a:alpha val="12000"/>
              </a:srgbClr>
            </a:solidFill>
            <a:prstDash val="solid"/>
          </a:ln>
        </p:spPr>
      </p:sp>
      <p:sp>
        <p:nvSpPr>
          <p:cNvPr id="24" name="Text 21"/>
          <p:cNvSpPr/>
          <p:nvPr/>
        </p:nvSpPr>
        <p:spPr>
          <a:xfrm>
            <a:off x="953839" y="5632400"/>
            <a:ext cx="1723221" cy="152400"/>
          </a:xfrm>
          <a:prstGeom prst="rect">
            <a:avLst/>
          </a:prstGeom>
          <a:noFill/>
          <a:ln/>
        </p:spPr>
        <p:txBody>
          <a:bodyPr wrap="square" lIns="25400" tIns="25400" rIns="25400" bIns="25400" rtlCol="0" anchor="t">
            <a:normAutofit/>
          </a:bodyPr>
          <a:lstStyle/>
          <a:p>
            <a:pPr algn="l" indent="0" marL="0">
              <a:buNone/>
            </a:pPr>
            <a:r>
              <a:rPr lang="en-US" sz="750" spc="90" kern="0" dirty="0">
                <a:solidFill>
                  <a:srgbClr val="5C5A50"/>
                </a:solidFill>
                <a:latin typeface="Courier New" pitchFamily="34" charset="0"/>
                <a:ea typeface="Courier New" pitchFamily="34" charset="-122"/>
                <a:cs typeface="Courier New" pitchFamily="34" charset="-120"/>
              </a:rPr>
              <a:t>REPAYMENTS</a:t>
            </a:r>
            <a:endParaRPr lang="en-US" sz="750" dirty="0"/>
          </a:p>
        </p:txBody>
      </p:sp>
      <p:sp>
        <p:nvSpPr>
          <p:cNvPr id="25" name="Text 22"/>
          <p:cNvSpPr/>
          <p:nvPr/>
        </p:nvSpPr>
        <p:spPr>
          <a:xfrm>
            <a:off x="953839" y="5803850"/>
            <a:ext cx="1642765" cy="540841"/>
          </a:xfrm>
          <a:prstGeom prst="rect">
            <a:avLst/>
          </a:prstGeom>
          <a:noFill/>
          <a:ln/>
        </p:spPr>
        <p:txBody>
          <a:bodyPr wrap="square" lIns="25400" tIns="25400" rIns="25400" bIns="25400" rtlCol="0" anchor="b">
            <a:normAutofit/>
          </a:bodyPr>
          <a:lstStyle/>
          <a:p>
            <a:pPr algn="l" indent="0" marL="0">
              <a:lnSpc>
                <a:spcPct val="110000"/>
              </a:lnSpc>
              <a:buNone/>
            </a:pPr>
            <a:r>
              <a:rPr lang="en-US" sz="1800" spc="5" kern="0" dirty="0">
                <a:solidFill>
                  <a:srgbClr val="1B1C16"/>
                </a:solidFill>
                <a:latin typeface="Fraunces" pitchFamily="34" charset="0"/>
                <a:ea typeface="Fraunces" pitchFamily="34" charset="-122"/>
                <a:cs typeface="Fraunces" pitchFamily="34" charset="-120"/>
              </a:rPr>
              <a:t>Fortnightly or monthly</a:t>
            </a:r>
            <a:endParaRPr lang="en-US" sz="1800" dirty="0"/>
          </a:p>
        </p:txBody>
      </p:sp>
      <p:sp>
        <p:nvSpPr>
          <p:cNvPr id="26" name="Text 23"/>
          <p:cNvSpPr/>
          <p:nvPr/>
        </p:nvSpPr>
        <p:spPr>
          <a:xfrm>
            <a:off x="953839" y="6344692"/>
            <a:ext cx="1642765" cy="322659"/>
          </a:xfrm>
          <a:prstGeom prst="rect">
            <a:avLst/>
          </a:prstGeom>
          <a:noFill/>
          <a:ln/>
        </p:spPr>
        <p:txBody>
          <a:bodyPr wrap="square" lIns="25400" tIns="25400" rIns="25400" bIns="25400" rtlCol="0" anchor="t">
            <a:normAutofit/>
          </a:bodyPr>
          <a:lstStyle/>
          <a:p>
            <a:pPr algn="l" indent="0" marL="0">
              <a:lnSpc>
                <a:spcPct val="130000"/>
              </a:lnSpc>
              <a:buNone/>
            </a:pPr>
            <a:r>
              <a:rPr lang="en-US" sz="863" spc="5" kern="0" dirty="0">
                <a:solidFill>
                  <a:srgbClr val="5C5A50"/>
                </a:solidFill>
                <a:latin typeface="Hanken Grotesk" pitchFamily="34" charset="0"/>
                <a:ea typeface="Hanken Grotesk" pitchFamily="34" charset="-122"/>
                <a:cs typeface="Hanken Grotesk" pitchFamily="34" charset="-120"/>
              </a:rPr>
              <a:t>Principal &amp; interest; fees shown separately.</a:t>
            </a:r>
            <a:endParaRPr lang="en-US" sz="863" dirty="0"/>
          </a:p>
        </p:txBody>
      </p:sp>
      <p:sp>
        <p:nvSpPr>
          <p:cNvPr id="27" name="Shape 24"/>
          <p:cNvSpPr/>
          <p:nvPr/>
        </p:nvSpPr>
        <p:spPr>
          <a:xfrm>
            <a:off x="2834729" y="5489525"/>
            <a:ext cx="1890415" cy="1282601"/>
          </a:xfrm>
          <a:prstGeom prst="roundRect">
            <a:avLst>
              <a:gd name="adj" fmla="val 8912"/>
            </a:avLst>
          </a:prstGeom>
          <a:solidFill>
            <a:srgbClr val="FFFFFF"/>
          </a:solidFill>
          <a:ln w="9525">
            <a:solidFill>
              <a:srgbClr val="1B1C16">
                <a:alpha val="12000"/>
              </a:srgbClr>
            </a:solidFill>
            <a:prstDash val="solid"/>
          </a:ln>
        </p:spPr>
      </p:sp>
      <p:sp>
        <p:nvSpPr>
          <p:cNvPr id="28" name="Text 25"/>
          <p:cNvSpPr/>
          <p:nvPr/>
        </p:nvSpPr>
        <p:spPr>
          <a:xfrm>
            <a:off x="2996654" y="5632400"/>
            <a:ext cx="1723221" cy="152400"/>
          </a:xfrm>
          <a:prstGeom prst="rect">
            <a:avLst/>
          </a:prstGeom>
          <a:noFill/>
          <a:ln/>
        </p:spPr>
        <p:txBody>
          <a:bodyPr wrap="square" lIns="25400" tIns="25400" rIns="25400" bIns="25400" rtlCol="0" anchor="t">
            <a:normAutofit/>
          </a:bodyPr>
          <a:lstStyle/>
          <a:p>
            <a:pPr algn="l" indent="0" marL="0">
              <a:buNone/>
            </a:pPr>
            <a:r>
              <a:rPr lang="en-US" sz="750" spc="90" kern="0" dirty="0">
                <a:solidFill>
                  <a:srgbClr val="5C5A50"/>
                </a:solidFill>
                <a:latin typeface="Courier New" pitchFamily="34" charset="0"/>
                <a:ea typeface="Courier New" pitchFamily="34" charset="-122"/>
                <a:cs typeface="Courier New" pitchFamily="34" charset="-120"/>
              </a:rPr>
              <a:t>SECURITY</a:t>
            </a:r>
            <a:endParaRPr lang="en-US" sz="750" dirty="0"/>
          </a:p>
        </p:txBody>
      </p:sp>
      <p:sp>
        <p:nvSpPr>
          <p:cNvPr id="29" name="Text 26"/>
          <p:cNvSpPr/>
          <p:nvPr/>
        </p:nvSpPr>
        <p:spPr>
          <a:xfrm>
            <a:off x="2996654" y="5803850"/>
            <a:ext cx="1642765" cy="540841"/>
          </a:xfrm>
          <a:prstGeom prst="rect">
            <a:avLst/>
          </a:prstGeom>
          <a:noFill/>
          <a:ln/>
        </p:spPr>
        <p:txBody>
          <a:bodyPr wrap="square" lIns="25400" tIns="25400" rIns="25400" bIns="25400" rtlCol="0" anchor="b">
            <a:normAutofit/>
          </a:bodyPr>
          <a:lstStyle/>
          <a:p>
            <a:pPr algn="l" indent="0" marL="0">
              <a:lnSpc>
                <a:spcPct val="110000"/>
              </a:lnSpc>
              <a:buNone/>
            </a:pPr>
            <a:r>
              <a:rPr lang="en-US" sz="1800" spc="5" kern="0" dirty="0">
                <a:solidFill>
                  <a:srgbClr val="1B1C16"/>
                </a:solidFill>
                <a:latin typeface="Fraunces" pitchFamily="34" charset="0"/>
                <a:ea typeface="Fraunces" pitchFamily="34" charset="-122"/>
                <a:cs typeface="Fraunces" pitchFamily="34" charset="-120"/>
              </a:rPr>
              <a:t>Caveat or 2nd mortgage</a:t>
            </a:r>
            <a:endParaRPr lang="en-US" sz="1800" dirty="0"/>
          </a:p>
        </p:txBody>
      </p:sp>
      <p:sp>
        <p:nvSpPr>
          <p:cNvPr id="30" name="Text 27"/>
          <p:cNvSpPr/>
          <p:nvPr/>
        </p:nvSpPr>
        <p:spPr>
          <a:xfrm>
            <a:off x="2996654" y="6344692"/>
            <a:ext cx="1642765" cy="322659"/>
          </a:xfrm>
          <a:prstGeom prst="rect">
            <a:avLst/>
          </a:prstGeom>
          <a:noFill/>
          <a:ln/>
        </p:spPr>
        <p:txBody>
          <a:bodyPr wrap="square" lIns="25400" tIns="25400" rIns="25400" bIns="25400" rtlCol="0" anchor="t">
            <a:normAutofit/>
          </a:bodyPr>
          <a:lstStyle/>
          <a:p>
            <a:pPr algn="l" indent="0" marL="0">
              <a:lnSpc>
                <a:spcPct val="130000"/>
              </a:lnSpc>
              <a:buNone/>
            </a:pPr>
            <a:r>
              <a:rPr lang="en-US" sz="863" spc="5" kern="0" dirty="0">
                <a:solidFill>
                  <a:srgbClr val="5C5A50"/>
                </a:solidFill>
                <a:latin typeface="Hanken Grotesk" pitchFamily="34" charset="0"/>
                <a:ea typeface="Hanken Grotesk" pitchFamily="34" charset="-122"/>
                <a:cs typeface="Hanken Grotesk" pitchFamily="34" charset="-120"/>
              </a:rPr>
              <a:t>The customer's existing home loan is untouched.</a:t>
            </a:r>
            <a:endParaRPr lang="en-US" sz="863" dirty="0"/>
          </a:p>
        </p:txBody>
      </p:sp>
      <p:sp>
        <p:nvSpPr>
          <p:cNvPr id="31" name="Shape 28"/>
          <p:cNvSpPr/>
          <p:nvPr/>
        </p:nvSpPr>
        <p:spPr>
          <a:xfrm>
            <a:off x="4877544" y="5489525"/>
            <a:ext cx="1890415" cy="1282601"/>
          </a:xfrm>
          <a:prstGeom prst="roundRect">
            <a:avLst>
              <a:gd name="adj" fmla="val 8912"/>
            </a:avLst>
          </a:prstGeom>
          <a:solidFill>
            <a:srgbClr val="FFFFFF"/>
          </a:solidFill>
          <a:ln w="9525">
            <a:solidFill>
              <a:srgbClr val="1B1C16">
                <a:alpha val="12000"/>
              </a:srgbClr>
            </a:solidFill>
            <a:prstDash val="solid"/>
          </a:ln>
        </p:spPr>
      </p:sp>
      <p:sp>
        <p:nvSpPr>
          <p:cNvPr id="32" name="Text 29"/>
          <p:cNvSpPr/>
          <p:nvPr/>
        </p:nvSpPr>
        <p:spPr>
          <a:xfrm>
            <a:off x="5039469" y="5632400"/>
            <a:ext cx="1723221" cy="152400"/>
          </a:xfrm>
          <a:prstGeom prst="rect">
            <a:avLst/>
          </a:prstGeom>
          <a:noFill/>
          <a:ln/>
        </p:spPr>
        <p:txBody>
          <a:bodyPr wrap="square" lIns="25400" tIns="25400" rIns="25400" bIns="25400" rtlCol="0" anchor="t">
            <a:normAutofit/>
          </a:bodyPr>
          <a:lstStyle/>
          <a:p>
            <a:pPr algn="l" indent="0" marL="0">
              <a:buNone/>
            </a:pPr>
            <a:r>
              <a:rPr lang="en-US" sz="750" spc="90" kern="0" dirty="0">
                <a:solidFill>
                  <a:srgbClr val="5C5A50"/>
                </a:solidFill>
                <a:latin typeface="Courier New" pitchFamily="34" charset="0"/>
                <a:ea typeface="Courier New" pitchFamily="34" charset="-122"/>
                <a:cs typeface="Courier New" pitchFamily="34" charset="-120"/>
              </a:rPr>
              <a:t>COMPARISON RATE</a:t>
            </a:r>
            <a:endParaRPr lang="en-US" sz="750" dirty="0"/>
          </a:p>
        </p:txBody>
      </p:sp>
      <p:sp>
        <p:nvSpPr>
          <p:cNvPr id="33" name="Text 30"/>
          <p:cNvSpPr/>
          <p:nvPr/>
        </p:nvSpPr>
        <p:spPr>
          <a:xfrm>
            <a:off x="5039469" y="5803850"/>
            <a:ext cx="1642765" cy="533400"/>
          </a:xfrm>
          <a:prstGeom prst="rect">
            <a:avLst/>
          </a:prstGeom>
          <a:noFill/>
          <a:ln/>
        </p:spPr>
        <p:txBody>
          <a:bodyPr wrap="square" lIns="25400" tIns="25400" rIns="25400" bIns="25400" rtlCol="0" anchor="b">
            <a:normAutofit/>
          </a:bodyPr>
          <a:lstStyle/>
          <a:p>
            <a:pPr algn="l" indent="0" marL="0">
              <a:lnSpc>
                <a:spcPct val="110000"/>
              </a:lnSpc>
              <a:buNone/>
            </a:pPr>
            <a:r>
              <a:rPr lang="en-US" sz="1800" spc="5" kern="0" dirty="0">
                <a:solidFill>
                  <a:srgbClr val="1B1C16"/>
                </a:solidFill>
                <a:latin typeface="Fraunces" pitchFamily="34" charset="0"/>
                <a:ea typeface="Fraunces" pitchFamily="34" charset="-122"/>
                <a:cs typeface="Fraunces" pitchFamily="34" charset="-120"/>
              </a:rPr>
              <a:t>21.3% p.a.</a:t>
            </a:r>
            <a:endParaRPr lang="en-US" sz="1800" dirty="0"/>
          </a:p>
        </p:txBody>
      </p:sp>
      <p:sp>
        <p:nvSpPr>
          <p:cNvPr id="34" name="Text 31"/>
          <p:cNvSpPr/>
          <p:nvPr/>
        </p:nvSpPr>
        <p:spPr>
          <a:xfrm>
            <a:off x="5039469" y="6337250"/>
            <a:ext cx="1642765" cy="322659"/>
          </a:xfrm>
          <a:prstGeom prst="rect">
            <a:avLst/>
          </a:prstGeom>
          <a:noFill/>
          <a:ln/>
        </p:spPr>
        <p:txBody>
          <a:bodyPr wrap="square" lIns="25400" tIns="25400" rIns="25400" bIns="25400" rtlCol="0" anchor="t">
            <a:normAutofit/>
          </a:bodyPr>
          <a:lstStyle/>
          <a:p>
            <a:pPr algn="l" indent="0" marL="0">
              <a:lnSpc>
                <a:spcPct val="130000"/>
              </a:lnSpc>
              <a:buNone/>
            </a:pPr>
            <a:r>
              <a:rPr lang="en-US" sz="863" spc="5" kern="0" dirty="0">
                <a:solidFill>
                  <a:srgbClr val="5C5A50"/>
                </a:solidFill>
                <a:latin typeface="Hanken Grotesk" pitchFamily="34" charset="0"/>
                <a:ea typeface="Hanken Grotesk" pitchFamily="34" charset="-122"/>
                <a:cs typeface="Hanken Grotesk" pitchFamily="34" charset="-120"/>
              </a:rPr>
              <a:t>Based on a $30,000 5-year loan.</a:t>
            </a:r>
            <a:endParaRPr lang="en-US" sz="863" dirty="0"/>
          </a:p>
        </p:txBody>
      </p:sp>
      <p:sp>
        <p:nvSpPr>
          <p:cNvPr id="35" name="Text 32"/>
          <p:cNvSpPr/>
          <p:nvPr/>
        </p:nvSpPr>
        <p:spPr>
          <a:xfrm>
            <a:off x="791914" y="6829276"/>
            <a:ext cx="6573649" cy="174278"/>
          </a:xfrm>
          <a:prstGeom prst="rect">
            <a:avLst/>
          </a:prstGeom>
          <a:noFill/>
          <a:ln/>
        </p:spPr>
        <p:txBody>
          <a:bodyPr wrap="square" lIns="25400" tIns="25400" rIns="25400" bIns="25400" rtlCol="0" anchor="t">
            <a:normAutofit/>
          </a:bodyPr>
          <a:lstStyle/>
          <a:p>
            <a:pPr algn="l" indent="0" marL="0">
              <a:lnSpc>
                <a:spcPct val="130000"/>
              </a:lnSpc>
              <a:buNone/>
            </a:pPr>
            <a:r>
              <a:rPr lang="en-US" sz="825" spc="5" kern="0" dirty="0">
                <a:solidFill>
                  <a:srgbClr val="5C5A50"/>
                </a:solidFill>
                <a:latin typeface="Hanken Grotesk" pitchFamily="34" charset="0"/>
                <a:ea typeface="Hanken Grotesk" pitchFamily="34" charset="-122"/>
                <a:cs typeface="Hanken Grotesk" pitchFamily="34" charset="-120"/>
              </a:rPr>
              <a:t>Comparison rate is indicative and true only for the example given.</a:t>
            </a:r>
            <a:endParaRPr lang="en-US" sz="825" dirty="0"/>
          </a:p>
        </p:txBody>
      </p:sp>
      <p:sp>
        <p:nvSpPr>
          <p:cNvPr id="36" name="Text 33"/>
          <p:cNvSpPr/>
          <p:nvPr/>
        </p:nvSpPr>
        <p:spPr>
          <a:xfrm>
            <a:off x="791914" y="7346454"/>
            <a:ext cx="6573649" cy="161925"/>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B6873A"/>
                </a:solidFill>
                <a:latin typeface="Courier New" pitchFamily="34" charset="0"/>
                <a:ea typeface="Courier New" pitchFamily="34" charset="-122"/>
                <a:cs typeface="Courier New" pitchFamily="34" charset="-120"/>
              </a:rPr>
              <a:t>FEES</a:t>
            </a:r>
            <a:endParaRPr lang="en-US" sz="825" dirty="0"/>
          </a:p>
        </p:txBody>
      </p:sp>
      <p:sp>
        <p:nvSpPr>
          <p:cNvPr id="37" name="Shape 34"/>
          <p:cNvSpPr/>
          <p:nvPr/>
        </p:nvSpPr>
        <p:spPr>
          <a:xfrm>
            <a:off x="791914" y="7584579"/>
            <a:ext cx="1663452" cy="242888"/>
          </a:xfrm>
          <a:prstGeom prst="rect">
            <a:avLst/>
          </a:prstGeom>
          <a:solidFill>
            <a:srgbClr val="B6873A">
              <a:alpha val="6000"/>
            </a:srgbClr>
          </a:solidFill>
          <a:ln/>
        </p:spPr>
      </p:sp>
      <p:sp>
        <p:nvSpPr>
          <p:cNvPr id="38" name="Shape 35"/>
          <p:cNvSpPr/>
          <p:nvPr/>
        </p:nvSpPr>
        <p:spPr>
          <a:xfrm>
            <a:off x="791914" y="7817941"/>
            <a:ext cx="1663452" cy="9525"/>
          </a:xfrm>
          <a:prstGeom prst="rect">
            <a:avLst/>
          </a:prstGeom>
          <a:solidFill>
            <a:srgbClr val="1B1C16">
              <a:alpha val="12000"/>
            </a:srgbClr>
          </a:solidFill>
          <a:ln/>
        </p:spPr>
      </p:sp>
      <p:sp>
        <p:nvSpPr>
          <p:cNvPr id="39" name="Text 36"/>
          <p:cNvSpPr/>
          <p:nvPr/>
        </p:nvSpPr>
        <p:spPr>
          <a:xfrm>
            <a:off x="925264" y="7646491"/>
            <a:ext cx="1472952" cy="147637"/>
          </a:xfrm>
          <a:prstGeom prst="rect">
            <a:avLst/>
          </a:prstGeom>
          <a:noFill/>
          <a:ln/>
        </p:spPr>
        <p:txBody>
          <a:bodyPr wrap="square" lIns="25400" tIns="25400" rIns="25400" bIns="25400" rtlCol="0" anchor="ctr">
            <a:normAutofit/>
          </a:bodyPr>
          <a:lstStyle/>
          <a:p>
            <a:pPr algn="l" indent="0" marL="0">
              <a:buNone/>
            </a:pPr>
            <a:r>
              <a:rPr lang="en-US" sz="750" spc="75" kern="0" dirty="0">
                <a:solidFill>
                  <a:srgbClr val="5C5A50"/>
                </a:solidFill>
                <a:latin typeface="Courier New" pitchFamily="34" charset="0"/>
                <a:ea typeface="Courier New" pitchFamily="34" charset="-122"/>
                <a:cs typeface="Courier New" pitchFamily="34" charset="-120"/>
              </a:rPr>
              <a:t>LOAN SIZE</a:t>
            </a:r>
            <a:endParaRPr lang="en-US" sz="750" dirty="0"/>
          </a:p>
        </p:txBody>
      </p:sp>
      <p:sp>
        <p:nvSpPr>
          <p:cNvPr id="40" name="Shape 37"/>
          <p:cNvSpPr/>
          <p:nvPr/>
        </p:nvSpPr>
        <p:spPr>
          <a:xfrm>
            <a:off x="2455366" y="7584579"/>
            <a:ext cx="2080022" cy="242888"/>
          </a:xfrm>
          <a:prstGeom prst="rect">
            <a:avLst/>
          </a:prstGeom>
          <a:solidFill>
            <a:srgbClr val="B6873A">
              <a:alpha val="6000"/>
            </a:srgbClr>
          </a:solidFill>
          <a:ln/>
        </p:spPr>
      </p:sp>
      <p:sp>
        <p:nvSpPr>
          <p:cNvPr id="41" name="Shape 38"/>
          <p:cNvSpPr/>
          <p:nvPr/>
        </p:nvSpPr>
        <p:spPr>
          <a:xfrm>
            <a:off x="2455366" y="7817941"/>
            <a:ext cx="2080022" cy="9525"/>
          </a:xfrm>
          <a:prstGeom prst="rect">
            <a:avLst/>
          </a:prstGeom>
          <a:solidFill>
            <a:srgbClr val="1B1C16">
              <a:alpha val="12000"/>
            </a:srgbClr>
          </a:solidFill>
          <a:ln/>
        </p:spPr>
      </p:sp>
      <p:sp>
        <p:nvSpPr>
          <p:cNvPr id="42" name="Text 39"/>
          <p:cNvSpPr/>
          <p:nvPr/>
        </p:nvSpPr>
        <p:spPr>
          <a:xfrm>
            <a:off x="2588716" y="7646491"/>
            <a:ext cx="1889522" cy="147637"/>
          </a:xfrm>
          <a:prstGeom prst="rect">
            <a:avLst/>
          </a:prstGeom>
          <a:noFill/>
          <a:ln/>
        </p:spPr>
        <p:txBody>
          <a:bodyPr wrap="square" lIns="25400" tIns="25400" rIns="25400" bIns="25400" rtlCol="0" anchor="ctr">
            <a:normAutofit/>
          </a:bodyPr>
          <a:lstStyle/>
          <a:p>
            <a:pPr algn="l" indent="0" marL="0">
              <a:buNone/>
            </a:pPr>
            <a:r>
              <a:rPr lang="en-US" sz="750" spc="75" kern="0" dirty="0">
                <a:solidFill>
                  <a:srgbClr val="5C5A50"/>
                </a:solidFill>
                <a:latin typeface="Courier New" pitchFamily="34" charset="0"/>
                <a:ea typeface="Courier New" pitchFamily="34" charset="-122"/>
                <a:cs typeface="Courier New" pitchFamily="34" charset="-120"/>
              </a:rPr>
              <a:t>ESTABLISHMENT (ONE-OFF)</a:t>
            </a:r>
            <a:endParaRPr lang="en-US" sz="750" dirty="0"/>
          </a:p>
        </p:txBody>
      </p:sp>
      <p:sp>
        <p:nvSpPr>
          <p:cNvPr id="43" name="Shape 40"/>
          <p:cNvSpPr/>
          <p:nvPr/>
        </p:nvSpPr>
        <p:spPr>
          <a:xfrm>
            <a:off x="4535388" y="7584579"/>
            <a:ext cx="2232571" cy="242888"/>
          </a:xfrm>
          <a:prstGeom prst="rect">
            <a:avLst/>
          </a:prstGeom>
          <a:solidFill>
            <a:srgbClr val="B6873A">
              <a:alpha val="6000"/>
            </a:srgbClr>
          </a:solidFill>
          <a:ln/>
        </p:spPr>
      </p:sp>
      <p:sp>
        <p:nvSpPr>
          <p:cNvPr id="44" name="Shape 41"/>
          <p:cNvSpPr/>
          <p:nvPr/>
        </p:nvSpPr>
        <p:spPr>
          <a:xfrm>
            <a:off x="4535388" y="7817941"/>
            <a:ext cx="2232571" cy="9525"/>
          </a:xfrm>
          <a:prstGeom prst="rect">
            <a:avLst/>
          </a:prstGeom>
          <a:solidFill>
            <a:srgbClr val="1B1C16">
              <a:alpha val="12000"/>
            </a:srgbClr>
          </a:solidFill>
          <a:ln/>
        </p:spPr>
      </p:sp>
      <p:sp>
        <p:nvSpPr>
          <p:cNvPr id="45" name="Text 42"/>
          <p:cNvSpPr/>
          <p:nvPr/>
        </p:nvSpPr>
        <p:spPr>
          <a:xfrm>
            <a:off x="4668738" y="7646491"/>
            <a:ext cx="2042071" cy="147637"/>
          </a:xfrm>
          <a:prstGeom prst="rect">
            <a:avLst/>
          </a:prstGeom>
          <a:noFill/>
          <a:ln/>
        </p:spPr>
        <p:txBody>
          <a:bodyPr wrap="square" lIns="25400" tIns="25400" rIns="25400" bIns="25400" rtlCol="0" anchor="ctr">
            <a:normAutofit/>
          </a:bodyPr>
          <a:lstStyle/>
          <a:p>
            <a:pPr algn="l" indent="0" marL="0">
              <a:buNone/>
            </a:pPr>
            <a:r>
              <a:rPr lang="en-US" sz="750" spc="75" kern="0" dirty="0">
                <a:solidFill>
                  <a:srgbClr val="5C5A50"/>
                </a:solidFill>
                <a:latin typeface="Courier New" pitchFamily="34" charset="0"/>
                <a:ea typeface="Courier New" pitchFamily="34" charset="-122"/>
                <a:cs typeface="Courier New" pitchFamily="34" charset="-120"/>
              </a:rPr>
              <a:t>ACCOUNT-KEEPING (MONTHLY)</a:t>
            </a:r>
            <a:endParaRPr lang="en-US" sz="750" dirty="0"/>
          </a:p>
        </p:txBody>
      </p:sp>
      <p:sp>
        <p:nvSpPr>
          <p:cNvPr id="46" name="Shape 43"/>
          <p:cNvSpPr/>
          <p:nvPr/>
        </p:nvSpPr>
        <p:spPr>
          <a:xfrm>
            <a:off x="791914" y="8106073"/>
            <a:ext cx="1663452" cy="9525"/>
          </a:xfrm>
          <a:prstGeom prst="rect">
            <a:avLst/>
          </a:prstGeom>
          <a:solidFill>
            <a:srgbClr val="1B1C16">
              <a:alpha val="12000"/>
            </a:srgbClr>
          </a:solidFill>
          <a:ln/>
        </p:spPr>
      </p:sp>
      <p:sp>
        <p:nvSpPr>
          <p:cNvPr id="47" name="Text 44"/>
          <p:cNvSpPr/>
          <p:nvPr/>
        </p:nvSpPr>
        <p:spPr>
          <a:xfrm>
            <a:off x="925264" y="7889379"/>
            <a:ext cx="1472952" cy="192881"/>
          </a:xfrm>
          <a:prstGeom prst="rect">
            <a:avLst/>
          </a:prstGeom>
          <a:noFill/>
          <a:ln/>
        </p:spPr>
        <p:txBody>
          <a:bodyPr wrap="square" lIns="25400" tIns="25400" rIns="25400" bIns="25400" rtlCol="0" anchor="ctr">
            <a:normAutofit/>
          </a:bodyPr>
          <a:lstStyle/>
          <a:p>
            <a:pPr algn="l" indent="0" marL="0">
              <a:lnSpc>
                <a:spcPct val="130000"/>
              </a:lnSpc>
              <a:buNone/>
            </a:pPr>
            <a:r>
              <a:rPr lang="en-US" sz="938" spc="-30" kern="0" dirty="0">
                <a:solidFill>
                  <a:srgbClr val="5C5A50"/>
                </a:solidFill>
                <a:latin typeface="Hanken Grotesk" pitchFamily="34" charset="0"/>
                <a:ea typeface="Hanken Grotesk" pitchFamily="34" charset="-122"/>
                <a:cs typeface="Hanken Grotesk" pitchFamily="34" charset="-120"/>
              </a:rPr>
              <a:t>$5,000 to $25,000</a:t>
            </a:r>
            <a:endParaRPr lang="en-US" sz="938" dirty="0"/>
          </a:p>
        </p:txBody>
      </p:sp>
      <p:sp>
        <p:nvSpPr>
          <p:cNvPr id="48" name="Shape 45"/>
          <p:cNvSpPr/>
          <p:nvPr/>
        </p:nvSpPr>
        <p:spPr>
          <a:xfrm>
            <a:off x="2455366" y="8106073"/>
            <a:ext cx="2080022" cy="9525"/>
          </a:xfrm>
          <a:prstGeom prst="rect">
            <a:avLst/>
          </a:prstGeom>
          <a:solidFill>
            <a:srgbClr val="1B1C16">
              <a:alpha val="12000"/>
            </a:srgbClr>
          </a:solidFill>
          <a:ln/>
        </p:spPr>
      </p:sp>
      <p:sp>
        <p:nvSpPr>
          <p:cNvPr id="49" name="Text 46"/>
          <p:cNvSpPr/>
          <p:nvPr/>
        </p:nvSpPr>
        <p:spPr>
          <a:xfrm>
            <a:off x="2588716" y="7889379"/>
            <a:ext cx="1889522" cy="192881"/>
          </a:xfrm>
          <a:prstGeom prst="rect">
            <a:avLst/>
          </a:prstGeom>
          <a:noFill/>
          <a:ln/>
        </p:spPr>
        <p:txBody>
          <a:bodyPr wrap="square" lIns="25400" tIns="25400" rIns="25400" bIns="25400" rtlCol="0" anchor="ctr">
            <a:normAutofit/>
          </a:bodyPr>
          <a:lstStyle/>
          <a:p>
            <a:pPr algn="l" indent="0" marL="0">
              <a:lnSpc>
                <a:spcPct val="130000"/>
              </a:lnSpc>
              <a:buNone/>
            </a:pPr>
            <a:r>
              <a:rPr lang="en-US" sz="938" spc="-30" kern="0" dirty="0">
                <a:solidFill>
                  <a:srgbClr val="1B1C16"/>
                </a:solidFill>
                <a:latin typeface="Hanken Grotesk" pitchFamily="34" charset="0"/>
                <a:ea typeface="Hanken Grotesk" pitchFamily="34" charset="-122"/>
                <a:cs typeface="Hanken Grotesk" pitchFamily="34" charset="-120"/>
              </a:rPr>
              <a:t>$975</a:t>
            </a:r>
            <a:endParaRPr lang="en-US" sz="938" dirty="0"/>
          </a:p>
        </p:txBody>
      </p:sp>
      <p:sp>
        <p:nvSpPr>
          <p:cNvPr id="50" name="Shape 47"/>
          <p:cNvSpPr/>
          <p:nvPr/>
        </p:nvSpPr>
        <p:spPr>
          <a:xfrm>
            <a:off x="4535388" y="8106073"/>
            <a:ext cx="2232571" cy="9525"/>
          </a:xfrm>
          <a:prstGeom prst="rect">
            <a:avLst/>
          </a:prstGeom>
          <a:solidFill>
            <a:srgbClr val="1B1C16">
              <a:alpha val="12000"/>
            </a:srgbClr>
          </a:solidFill>
          <a:ln/>
        </p:spPr>
      </p:sp>
      <p:sp>
        <p:nvSpPr>
          <p:cNvPr id="51" name="Text 48"/>
          <p:cNvSpPr/>
          <p:nvPr/>
        </p:nvSpPr>
        <p:spPr>
          <a:xfrm>
            <a:off x="4668738" y="7889379"/>
            <a:ext cx="2042071" cy="192881"/>
          </a:xfrm>
          <a:prstGeom prst="rect">
            <a:avLst/>
          </a:prstGeom>
          <a:noFill/>
          <a:ln/>
        </p:spPr>
        <p:txBody>
          <a:bodyPr wrap="square" lIns="25400" tIns="25400" rIns="25400" bIns="25400" rtlCol="0" anchor="ctr">
            <a:normAutofit/>
          </a:bodyPr>
          <a:lstStyle/>
          <a:p>
            <a:pPr algn="l" indent="0" marL="0">
              <a:lnSpc>
                <a:spcPct val="130000"/>
              </a:lnSpc>
              <a:buNone/>
            </a:pPr>
            <a:r>
              <a:rPr lang="en-US" sz="938" spc="-30" kern="0" dirty="0">
                <a:solidFill>
                  <a:srgbClr val="1B1C16"/>
                </a:solidFill>
                <a:latin typeface="Hanken Grotesk" pitchFamily="34" charset="0"/>
                <a:ea typeface="Hanken Grotesk" pitchFamily="34" charset="-122"/>
                <a:cs typeface="Hanken Grotesk" pitchFamily="34" charset="-120"/>
              </a:rPr>
              <a:t>$19.50</a:t>
            </a:r>
            <a:endParaRPr lang="en-US" sz="938" dirty="0"/>
          </a:p>
        </p:txBody>
      </p:sp>
      <p:sp>
        <p:nvSpPr>
          <p:cNvPr id="52" name="Shape 49"/>
          <p:cNvSpPr/>
          <p:nvPr/>
        </p:nvSpPr>
        <p:spPr>
          <a:xfrm>
            <a:off x="791914" y="8394204"/>
            <a:ext cx="1663452" cy="9525"/>
          </a:xfrm>
          <a:prstGeom prst="rect">
            <a:avLst/>
          </a:prstGeom>
          <a:solidFill>
            <a:srgbClr val="1B1C16">
              <a:alpha val="12000"/>
            </a:srgbClr>
          </a:solidFill>
          <a:ln/>
        </p:spPr>
      </p:sp>
      <p:sp>
        <p:nvSpPr>
          <p:cNvPr id="53" name="Text 50"/>
          <p:cNvSpPr/>
          <p:nvPr/>
        </p:nvSpPr>
        <p:spPr>
          <a:xfrm>
            <a:off x="925264" y="8177510"/>
            <a:ext cx="1472952" cy="192881"/>
          </a:xfrm>
          <a:prstGeom prst="rect">
            <a:avLst/>
          </a:prstGeom>
          <a:noFill/>
          <a:ln/>
        </p:spPr>
        <p:txBody>
          <a:bodyPr wrap="square" lIns="25400" tIns="25400" rIns="25400" bIns="25400" rtlCol="0" anchor="ctr">
            <a:normAutofit/>
          </a:bodyPr>
          <a:lstStyle/>
          <a:p>
            <a:pPr algn="l" indent="0" marL="0">
              <a:lnSpc>
                <a:spcPct val="130000"/>
              </a:lnSpc>
              <a:buNone/>
            </a:pPr>
            <a:r>
              <a:rPr lang="en-US" sz="938" spc="-30" kern="0" dirty="0">
                <a:solidFill>
                  <a:srgbClr val="5C5A50"/>
                </a:solidFill>
                <a:latin typeface="Hanken Grotesk" pitchFamily="34" charset="0"/>
                <a:ea typeface="Hanken Grotesk" pitchFamily="34" charset="-122"/>
                <a:cs typeface="Hanken Grotesk" pitchFamily="34" charset="-120"/>
              </a:rPr>
              <a:t>$25,001 to $50,000</a:t>
            </a:r>
            <a:endParaRPr lang="en-US" sz="938" dirty="0"/>
          </a:p>
        </p:txBody>
      </p:sp>
      <p:sp>
        <p:nvSpPr>
          <p:cNvPr id="54" name="Shape 51"/>
          <p:cNvSpPr/>
          <p:nvPr/>
        </p:nvSpPr>
        <p:spPr>
          <a:xfrm>
            <a:off x="2455366" y="8394204"/>
            <a:ext cx="2080022" cy="9525"/>
          </a:xfrm>
          <a:prstGeom prst="rect">
            <a:avLst/>
          </a:prstGeom>
          <a:solidFill>
            <a:srgbClr val="1B1C16">
              <a:alpha val="12000"/>
            </a:srgbClr>
          </a:solidFill>
          <a:ln/>
        </p:spPr>
      </p:sp>
      <p:sp>
        <p:nvSpPr>
          <p:cNvPr id="55" name="Text 52"/>
          <p:cNvSpPr/>
          <p:nvPr/>
        </p:nvSpPr>
        <p:spPr>
          <a:xfrm>
            <a:off x="2588716" y="8177510"/>
            <a:ext cx="1889522" cy="192881"/>
          </a:xfrm>
          <a:prstGeom prst="rect">
            <a:avLst/>
          </a:prstGeom>
          <a:noFill/>
          <a:ln/>
        </p:spPr>
        <p:txBody>
          <a:bodyPr wrap="square" lIns="25400" tIns="25400" rIns="25400" bIns="25400" rtlCol="0" anchor="ctr">
            <a:normAutofit/>
          </a:bodyPr>
          <a:lstStyle/>
          <a:p>
            <a:pPr algn="l" indent="0" marL="0">
              <a:lnSpc>
                <a:spcPct val="130000"/>
              </a:lnSpc>
              <a:buNone/>
            </a:pPr>
            <a:r>
              <a:rPr lang="en-US" sz="938" spc="-30" kern="0" dirty="0">
                <a:solidFill>
                  <a:srgbClr val="1B1C16"/>
                </a:solidFill>
                <a:latin typeface="Hanken Grotesk" pitchFamily="34" charset="0"/>
                <a:ea typeface="Hanken Grotesk" pitchFamily="34" charset="-122"/>
                <a:cs typeface="Hanken Grotesk" pitchFamily="34" charset="-120"/>
              </a:rPr>
              <a:t>$1,130</a:t>
            </a:r>
            <a:endParaRPr lang="en-US" sz="938" dirty="0"/>
          </a:p>
        </p:txBody>
      </p:sp>
      <p:sp>
        <p:nvSpPr>
          <p:cNvPr id="56" name="Shape 53"/>
          <p:cNvSpPr/>
          <p:nvPr/>
        </p:nvSpPr>
        <p:spPr>
          <a:xfrm>
            <a:off x="4535388" y="8394204"/>
            <a:ext cx="2232571" cy="9525"/>
          </a:xfrm>
          <a:prstGeom prst="rect">
            <a:avLst/>
          </a:prstGeom>
          <a:solidFill>
            <a:srgbClr val="1B1C16">
              <a:alpha val="12000"/>
            </a:srgbClr>
          </a:solidFill>
          <a:ln/>
        </p:spPr>
      </p:sp>
      <p:sp>
        <p:nvSpPr>
          <p:cNvPr id="57" name="Text 54"/>
          <p:cNvSpPr/>
          <p:nvPr/>
        </p:nvSpPr>
        <p:spPr>
          <a:xfrm>
            <a:off x="4668738" y="8177510"/>
            <a:ext cx="2042071" cy="192881"/>
          </a:xfrm>
          <a:prstGeom prst="rect">
            <a:avLst/>
          </a:prstGeom>
          <a:noFill/>
          <a:ln/>
        </p:spPr>
        <p:txBody>
          <a:bodyPr wrap="square" lIns="25400" tIns="25400" rIns="25400" bIns="25400" rtlCol="0" anchor="ctr">
            <a:normAutofit/>
          </a:bodyPr>
          <a:lstStyle/>
          <a:p>
            <a:pPr algn="l" indent="0" marL="0">
              <a:lnSpc>
                <a:spcPct val="130000"/>
              </a:lnSpc>
              <a:buNone/>
            </a:pPr>
            <a:r>
              <a:rPr lang="en-US" sz="938" spc="-30" kern="0" dirty="0">
                <a:solidFill>
                  <a:srgbClr val="1B1C16"/>
                </a:solidFill>
                <a:latin typeface="Hanken Grotesk" pitchFamily="34" charset="0"/>
                <a:ea typeface="Hanken Grotesk" pitchFamily="34" charset="-122"/>
                <a:cs typeface="Hanken Grotesk" pitchFamily="34" charset="-120"/>
              </a:rPr>
              <a:t>$24.50</a:t>
            </a:r>
            <a:endParaRPr lang="en-US" sz="938" dirty="0"/>
          </a:p>
        </p:txBody>
      </p:sp>
      <p:sp>
        <p:nvSpPr>
          <p:cNvPr id="58" name="Shape 55"/>
          <p:cNvSpPr/>
          <p:nvPr/>
        </p:nvSpPr>
        <p:spPr>
          <a:xfrm>
            <a:off x="791914" y="8682335"/>
            <a:ext cx="1663452" cy="9525"/>
          </a:xfrm>
          <a:prstGeom prst="rect">
            <a:avLst/>
          </a:prstGeom>
          <a:solidFill>
            <a:srgbClr val="1B1C16">
              <a:alpha val="12000"/>
            </a:srgbClr>
          </a:solidFill>
          <a:ln/>
        </p:spPr>
      </p:sp>
      <p:sp>
        <p:nvSpPr>
          <p:cNvPr id="59" name="Text 56"/>
          <p:cNvSpPr/>
          <p:nvPr/>
        </p:nvSpPr>
        <p:spPr>
          <a:xfrm>
            <a:off x="925264" y="8465641"/>
            <a:ext cx="1472952" cy="192881"/>
          </a:xfrm>
          <a:prstGeom prst="rect">
            <a:avLst/>
          </a:prstGeom>
          <a:noFill/>
          <a:ln/>
        </p:spPr>
        <p:txBody>
          <a:bodyPr wrap="square" lIns="25400" tIns="25400" rIns="25400" bIns="25400" rtlCol="0" anchor="ctr">
            <a:normAutofit/>
          </a:bodyPr>
          <a:lstStyle/>
          <a:p>
            <a:pPr algn="l" indent="0" marL="0">
              <a:lnSpc>
                <a:spcPct val="130000"/>
              </a:lnSpc>
              <a:buNone/>
            </a:pPr>
            <a:r>
              <a:rPr lang="en-US" sz="938" spc="-30" kern="0" dirty="0">
                <a:solidFill>
                  <a:srgbClr val="5C5A50"/>
                </a:solidFill>
                <a:latin typeface="Hanken Grotesk" pitchFamily="34" charset="0"/>
                <a:ea typeface="Hanken Grotesk" pitchFamily="34" charset="-122"/>
                <a:cs typeface="Hanken Grotesk" pitchFamily="34" charset="-120"/>
              </a:rPr>
              <a:t>$50,001 to $75,000</a:t>
            </a:r>
            <a:endParaRPr lang="en-US" sz="938" dirty="0"/>
          </a:p>
        </p:txBody>
      </p:sp>
      <p:sp>
        <p:nvSpPr>
          <p:cNvPr id="60" name="Shape 57"/>
          <p:cNvSpPr/>
          <p:nvPr/>
        </p:nvSpPr>
        <p:spPr>
          <a:xfrm>
            <a:off x="2455366" y="8682335"/>
            <a:ext cx="2080022" cy="9525"/>
          </a:xfrm>
          <a:prstGeom prst="rect">
            <a:avLst/>
          </a:prstGeom>
          <a:solidFill>
            <a:srgbClr val="1B1C16">
              <a:alpha val="12000"/>
            </a:srgbClr>
          </a:solidFill>
          <a:ln/>
        </p:spPr>
      </p:sp>
      <p:sp>
        <p:nvSpPr>
          <p:cNvPr id="61" name="Text 58"/>
          <p:cNvSpPr/>
          <p:nvPr/>
        </p:nvSpPr>
        <p:spPr>
          <a:xfrm>
            <a:off x="2588716" y="8465641"/>
            <a:ext cx="1889522" cy="192881"/>
          </a:xfrm>
          <a:prstGeom prst="rect">
            <a:avLst/>
          </a:prstGeom>
          <a:noFill/>
          <a:ln/>
        </p:spPr>
        <p:txBody>
          <a:bodyPr wrap="square" lIns="25400" tIns="25400" rIns="25400" bIns="25400" rtlCol="0" anchor="ctr">
            <a:normAutofit/>
          </a:bodyPr>
          <a:lstStyle/>
          <a:p>
            <a:pPr algn="l" indent="0" marL="0">
              <a:lnSpc>
                <a:spcPct val="130000"/>
              </a:lnSpc>
              <a:buNone/>
            </a:pPr>
            <a:r>
              <a:rPr lang="en-US" sz="938" spc="-30" kern="0" dirty="0">
                <a:solidFill>
                  <a:srgbClr val="1B1C16"/>
                </a:solidFill>
                <a:latin typeface="Hanken Grotesk" pitchFamily="34" charset="0"/>
                <a:ea typeface="Hanken Grotesk" pitchFamily="34" charset="-122"/>
                <a:cs typeface="Hanken Grotesk" pitchFamily="34" charset="-120"/>
              </a:rPr>
              <a:t>$1,285</a:t>
            </a:r>
            <a:endParaRPr lang="en-US" sz="938" dirty="0"/>
          </a:p>
        </p:txBody>
      </p:sp>
      <p:sp>
        <p:nvSpPr>
          <p:cNvPr id="62" name="Shape 59"/>
          <p:cNvSpPr/>
          <p:nvPr/>
        </p:nvSpPr>
        <p:spPr>
          <a:xfrm>
            <a:off x="4535388" y="8682335"/>
            <a:ext cx="2232571" cy="9525"/>
          </a:xfrm>
          <a:prstGeom prst="rect">
            <a:avLst/>
          </a:prstGeom>
          <a:solidFill>
            <a:srgbClr val="1B1C16">
              <a:alpha val="12000"/>
            </a:srgbClr>
          </a:solidFill>
          <a:ln/>
        </p:spPr>
      </p:sp>
      <p:sp>
        <p:nvSpPr>
          <p:cNvPr id="63" name="Text 60"/>
          <p:cNvSpPr/>
          <p:nvPr/>
        </p:nvSpPr>
        <p:spPr>
          <a:xfrm>
            <a:off x="4668738" y="8465641"/>
            <a:ext cx="2042071" cy="192881"/>
          </a:xfrm>
          <a:prstGeom prst="rect">
            <a:avLst/>
          </a:prstGeom>
          <a:noFill/>
          <a:ln/>
        </p:spPr>
        <p:txBody>
          <a:bodyPr wrap="square" lIns="25400" tIns="25400" rIns="25400" bIns="25400" rtlCol="0" anchor="ctr">
            <a:normAutofit/>
          </a:bodyPr>
          <a:lstStyle/>
          <a:p>
            <a:pPr algn="l" indent="0" marL="0">
              <a:lnSpc>
                <a:spcPct val="130000"/>
              </a:lnSpc>
              <a:buNone/>
            </a:pPr>
            <a:r>
              <a:rPr lang="en-US" sz="938" spc="-30" kern="0" dirty="0">
                <a:solidFill>
                  <a:srgbClr val="1B1C16"/>
                </a:solidFill>
                <a:latin typeface="Hanken Grotesk" pitchFamily="34" charset="0"/>
                <a:ea typeface="Hanken Grotesk" pitchFamily="34" charset="-122"/>
                <a:cs typeface="Hanken Grotesk" pitchFamily="34" charset="-120"/>
              </a:rPr>
              <a:t>$29.50</a:t>
            </a:r>
            <a:endParaRPr lang="en-US" sz="938" dirty="0"/>
          </a:p>
        </p:txBody>
      </p:sp>
      <p:sp>
        <p:nvSpPr>
          <p:cNvPr id="64" name="Shape 61"/>
          <p:cNvSpPr/>
          <p:nvPr/>
        </p:nvSpPr>
        <p:spPr>
          <a:xfrm>
            <a:off x="791914" y="8970466"/>
            <a:ext cx="1663452" cy="9525"/>
          </a:xfrm>
          <a:prstGeom prst="rect">
            <a:avLst/>
          </a:prstGeom>
          <a:solidFill>
            <a:srgbClr val="1B1C16">
              <a:alpha val="12000"/>
            </a:srgbClr>
          </a:solidFill>
          <a:ln/>
        </p:spPr>
      </p:sp>
      <p:sp>
        <p:nvSpPr>
          <p:cNvPr id="65" name="Text 62"/>
          <p:cNvSpPr/>
          <p:nvPr/>
        </p:nvSpPr>
        <p:spPr>
          <a:xfrm>
            <a:off x="925264" y="8753773"/>
            <a:ext cx="1472952" cy="192881"/>
          </a:xfrm>
          <a:prstGeom prst="rect">
            <a:avLst/>
          </a:prstGeom>
          <a:noFill/>
          <a:ln/>
        </p:spPr>
        <p:txBody>
          <a:bodyPr wrap="square" lIns="25400" tIns="25400" rIns="25400" bIns="25400" rtlCol="0" anchor="ctr">
            <a:normAutofit/>
          </a:bodyPr>
          <a:lstStyle/>
          <a:p>
            <a:pPr algn="l" indent="0" marL="0">
              <a:lnSpc>
                <a:spcPct val="130000"/>
              </a:lnSpc>
              <a:buNone/>
            </a:pPr>
            <a:r>
              <a:rPr lang="en-US" sz="938" spc="-30" kern="0" dirty="0">
                <a:solidFill>
                  <a:srgbClr val="5C5A50"/>
                </a:solidFill>
                <a:latin typeface="Hanken Grotesk" pitchFamily="34" charset="0"/>
                <a:ea typeface="Hanken Grotesk" pitchFamily="34" charset="-122"/>
                <a:cs typeface="Hanken Grotesk" pitchFamily="34" charset="-120"/>
              </a:rPr>
              <a:t>$75,001 to $100,000</a:t>
            </a:r>
            <a:endParaRPr lang="en-US" sz="938" dirty="0"/>
          </a:p>
        </p:txBody>
      </p:sp>
      <p:sp>
        <p:nvSpPr>
          <p:cNvPr id="66" name="Shape 63"/>
          <p:cNvSpPr/>
          <p:nvPr/>
        </p:nvSpPr>
        <p:spPr>
          <a:xfrm>
            <a:off x="2455366" y="8970466"/>
            <a:ext cx="2080022" cy="9525"/>
          </a:xfrm>
          <a:prstGeom prst="rect">
            <a:avLst/>
          </a:prstGeom>
          <a:solidFill>
            <a:srgbClr val="1B1C16">
              <a:alpha val="12000"/>
            </a:srgbClr>
          </a:solidFill>
          <a:ln/>
        </p:spPr>
      </p:sp>
      <p:sp>
        <p:nvSpPr>
          <p:cNvPr id="67" name="Text 64"/>
          <p:cNvSpPr/>
          <p:nvPr/>
        </p:nvSpPr>
        <p:spPr>
          <a:xfrm>
            <a:off x="2588716" y="8753773"/>
            <a:ext cx="1889522" cy="192881"/>
          </a:xfrm>
          <a:prstGeom prst="rect">
            <a:avLst/>
          </a:prstGeom>
          <a:noFill/>
          <a:ln/>
        </p:spPr>
        <p:txBody>
          <a:bodyPr wrap="square" lIns="25400" tIns="25400" rIns="25400" bIns="25400" rtlCol="0" anchor="ctr">
            <a:normAutofit/>
          </a:bodyPr>
          <a:lstStyle/>
          <a:p>
            <a:pPr algn="l" indent="0" marL="0">
              <a:lnSpc>
                <a:spcPct val="130000"/>
              </a:lnSpc>
              <a:buNone/>
            </a:pPr>
            <a:r>
              <a:rPr lang="en-US" sz="938" spc="-30" kern="0" dirty="0">
                <a:solidFill>
                  <a:srgbClr val="1B1C16"/>
                </a:solidFill>
                <a:latin typeface="Hanken Grotesk" pitchFamily="34" charset="0"/>
                <a:ea typeface="Hanken Grotesk" pitchFamily="34" charset="-122"/>
                <a:cs typeface="Hanken Grotesk" pitchFamily="34" charset="-120"/>
              </a:rPr>
              <a:t>$1,440</a:t>
            </a:r>
            <a:endParaRPr lang="en-US" sz="938" dirty="0"/>
          </a:p>
        </p:txBody>
      </p:sp>
      <p:sp>
        <p:nvSpPr>
          <p:cNvPr id="68" name="Shape 65"/>
          <p:cNvSpPr/>
          <p:nvPr/>
        </p:nvSpPr>
        <p:spPr>
          <a:xfrm>
            <a:off x="4535388" y="8970466"/>
            <a:ext cx="2232571" cy="9525"/>
          </a:xfrm>
          <a:prstGeom prst="rect">
            <a:avLst/>
          </a:prstGeom>
          <a:solidFill>
            <a:srgbClr val="1B1C16">
              <a:alpha val="12000"/>
            </a:srgbClr>
          </a:solidFill>
          <a:ln/>
        </p:spPr>
      </p:sp>
      <p:sp>
        <p:nvSpPr>
          <p:cNvPr id="69" name="Text 66"/>
          <p:cNvSpPr/>
          <p:nvPr/>
        </p:nvSpPr>
        <p:spPr>
          <a:xfrm>
            <a:off x="4668738" y="8753773"/>
            <a:ext cx="2042071" cy="192881"/>
          </a:xfrm>
          <a:prstGeom prst="rect">
            <a:avLst/>
          </a:prstGeom>
          <a:noFill/>
          <a:ln/>
        </p:spPr>
        <p:txBody>
          <a:bodyPr wrap="square" lIns="25400" tIns="25400" rIns="25400" bIns="25400" rtlCol="0" anchor="ctr">
            <a:normAutofit/>
          </a:bodyPr>
          <a:lstStyle/>
          <a:p>
            <a:pPr algn="l" indent="0" marL="0">
              <a:lnSpc>
                <a:spcPct val="130000"/>
              </a:lnSpc>
              <a:buNone/>
            </a:pPr>
            <a:r>
              <a:rPr lang="en-US" sz="938" spc="-30" kern="0" dirty="0">
                <a:solidFill>
                  <a:srgbClr val="1B1C16"/>
                </a:solidFill>
                <a:latin typeface="Hanken Grotesk" pitchFamily="34" charset="0"/>
                <a:ea typeface="Hanken Grotesk" pitchFamily="34" charset="-122"/>
                <a:cs typeface="Hanken Grotesk" pitchFamily="34" charset="-120"/>
              </a:rPr>
              <a:t>$34.50</a:t>
            </a:r>
            <a:endParaRPr lang="en-US" sz="938" dirty="0"/>
          </a:p>
        </p:txBody>
      </p:sp>
      <p:sp>
        <p:nvSpPr>
          <p:cNvPr id="70" name="Shape 67"/>
          <p:cNvSpPr/>
          <p:nvPr/>
        </p:nvSpPr>
        <p:spPr>
          <a:xfrm>
            <a:off x="791914" y="9258598"/>
            <a:ext cx="1663452" cy="9525"/>
          </a:xfrm>
          <a:prstGeom prst="rect">
            <a:avLst/>
          </a:prstGeom>
          <a:solidFill>
            <a:srgbClr val="1B1C16">
              <a:alpha val="12000"/>
            </a:srgbClr>
          </a:solidFill>
          <a:ln/>
        </p:spPr>
      </p:sp>
      <p:sp>
        <p:nvSpPr>
          <p:cNvPr id="71" name="Text 68"/>
          <p:cNvSpPr/>
          <p:nvPr/>
        </p:nvSpPr>
        <p:spPr>
          <a:xfrm>
            <a:off x="925264" y="9041904"/>
            <a:ext cx="1472952" cy="192881"/>
          </a:xfrm>
          <a:prstGeom prst="rect">
            <a:avLst/>
          </a:prstGeom>
          <a:noFill/>
          <a:ln/>
        </p:spPr>
        <p:txBody>
          <a:bodyPr wrap="square" lIns="25400" tIns="25400" rIns="25400" bIns="25400" rtlCol="0" anchor="ctr">
            <a:normAutofit/>
          </a:bodyPr>
          <a:lstStyle/>
          <a:p>
            <a:pPr algn="l" indent="0" marL="0">
              <a:lnSpc>
                <a:spcPct val="130000"/>
              </a:lnSpc>
              <a:buNone/>
            </a:pPr>
            <a:r>
              <a:rPr lang="en-US" sz="938" spc="-30" kern="0" dirty="0">
                <a:solidFill>
                  <a:srgbClr val="5C5A50"/>
                </a:solidFill>
                <a:latin typeface="Hanken Grotesk" pitchFamily="34" charset="0"/>
                <a:ea typeface="Hanken Grotesk" pitchFamily="34" charset="-122"/>
                <a:cs typeface="Hanken Grotesk" pitchFamily="34" charset="-120"/>
              </a:rPr>
              <a:t>$100,001 to $125,000</a:t>
            </a:r>
            <a:endParaRPr lang="en-US" sz="938" dirty="0"/>
          </a:p>
        </p:txBody>
      </p:sp>
      <p:sp>
        <p:nvSpPr>
          <p:cNvPr id="72" name="Shape 69"/>
          <p:cNvSpPr/>
          <p:nvPr/>
        </p:nvSpPr>
        <p:spPr>
          <a:xfrm>
            <a:off x="2455366" y="9258598"/>
            <a:ext cx="2080022" cy="9525"/>
          </a:xfrm>
          <a:prstGeom prst="rect">
            <a:avLst/>
          </a:prstGeom>
          <a:solidFill>
            <a:srgbClr val="1B1C16">
              <a:alpha val="12000"/>
            </a:srgbClr>
          </a:solidFill>
          <a:ln/>
        </p:spPr>
      </p:sp>
      <p:sp>
        <p:nvSpPr>
          <p:cNvPr id="73" name="Text 70"/>
          <p:cNvSpPr/>
          <p:nvPr/>
        </p:nvSpPr>
        <p:spPr>
          <a:xfrm>
            <a:off x="2588716" y="9041904"/>
            <a:ext cx="1889522" cy="192881"/>
          </a:xfrm>
          <a:prstGeom prst="rect">
            <a:avLst/>
          </a:prstGeom>
          <a:noFill/>
          <a:ln/>
        </p:spPr>
        <p:txBody>
          <a:bodyPr wrap="square" lIns="25400" tIns="25400" rIns="25400" bIns="25400" rtlCol="0" anchor="ctr">
            <a:normAutofit/>
          </a:bodyPr>
          <a:lstStyle/>
          <a:p>
            <a:pPr algn="l" indent="0" marL="0">
              <a:lnSpc>
                <a:spcPct val="130000"/>
              </a:lnSpc>
              <a:buNone/>
            </a:pPr>
            <a:r>
              <a:rPr lang="en-US" sz="938" spc="-30" kern="0" dirty="0">
                <a:solidFill>
                  <a:srgbClr val="1B1C16"/>
                </a:solidFill>
                <a:latin typeface="Hanken Grotesk" pitchFamily="34" charset="0"/>
                <a:ea typeface="Hanken Grotesk" pitchFamily="34" charset="-122"/>
                <a:cs typeface="Hanken Grotesk" pitchFamily="34" charset="-120"/>
              </a:rPr>
              <a:t>$1,595</a:t>
            </a:r>
            <a:endParaRPr lang="en-US" sz="938" dirty="0"/>
          </a:p>
        </p:txBody>
      </p:sp>
      <p:sp>
        <p:nvSpPr>
          <p:cNvPr id="74" name="Shape 71"/>
          <p:cNvSpPr/>
          <p:nvPr/>
        </p:nvSpPr>
        <p:spPr>
          <a:xfrm>
            <a:off x="4535388" y="9258598"/>
            <a:ext cx="2232571" cy="9525"/>
          </a:xfrm>
          <a:prstGeom prst="rect">
            <a:avLst/>
          </a:prstGeom>
          <a:solidFill>
            <a:srgbClr val="1B1C16">
              <a:alpha val="12000"/>
            </a:srgbClr>
          </a:solidFill>
          <a:ln/>
        </p:spPr>
      </p:sp>
      <p:sp>
        <p:nvSpPr>
          <p:cNvPr id="75" name="Text 72"/>
          <p:cNvSpPr/>
          <p:nvPr/>
        </p:nvSpPr>
        <p:spPr>
          <a:xfrm>
            <a:off x="4668738" y="9041904"/>
            <a:ext cx="2042071" cy="192881"/>
          </a:xfrm>
          <a:prstGeom prst="rect">
            <a:avLst/>
          </a:prstGeom>
          <a:noFill/>
          <a:ln/>
        </p:spPr>
        <p:txBody>
          <a:bodyPr wrap="square" lIns="25400" tIns="25400" rIns="25400" bIns="25400" rtlCol="0" anchor="ctr">
            <a:normAutofit/>
          </a:bodyPr>
          <a:lstStyle/>
          <a:p>
            <a:pPr algn="l" indent="0" marL="0">
              <a:lnSpc>
                <a:spcPct val="130000"/>
              </a:lnSpc>
              <a:buNone/>
            </a:pPr>
            <a:r>
              <a:rPr lang="en-US" sz="938" spc="-30" kern="0" dirty="0">
                <a:solidFill>
                  <a:srgbClr val="1B1C16"/>
                </a:solidFill>
                <a:latin typeface="Hanken Grotesk" pitchFamily="34" charset="0"/>
                <a:ea typeface="Hanken Grotesk" pitchFamily="34" charset="-122"/>
                <a:cs typeface="Hanken Grotesk" pitchFamily="34" charset="-120"/>
              </a:rPr>
              <a:t>$39.50</a:t>
            </a:r>
            <a:endParaRPr lang="en-US" sz="938" dirty="0"/>
          </a:p>
        </p:txBody>
      </p:sp>
      <p:sp>
        <p:nvSpPr>
          <p:cNvPr id="76" name="Shape 73"/>
          <p:cNvSpPr/>
          <p:nvPr/>
        </p:nvSpPr>
        <p:spPr>
          <a:xfrm>
            <a:off x="791914" y="9546729"/>
            <a:ext cx="1663452" cy="9525"/>
          </a:xfrm>
          <a:prstGeom prst="rect">
            <a:avLst/>
          </a:prstGeom>
          <a:solidFill>
            <a:srgbClr val="1B1C16">
              <a:alpha val="12000"/>
            </a:srgbClr>
          </a:solidFill>
          <a:ln/>
        </p:spPr>
      </p:sp>
      <p:sp>
        <p:nvSpPr>
          <p:cNvPr id="77" name="Text 74"/>
          <p:cNvSpPr/>
          <p:nvPr/>
        </p:nvSpPr>
        <p:spPr>
          <a:xfrm>
            <a:off x="925264" y="9330035"/>
            <a:ext cx="1472952" cy="192881"/>
          </a:xfrm>
          <a:prstGeom prst="rect">
            <a:avLst/>
          </a:prstGeom>
          <a:noFill/>
          <a:ln/>
        </p:spPr>
        <p:txBody>
          <a:bodyPr wrap="square" lIns="25400" tIns="25400" rIns="25400" bIns="25400" rtlCol="0" anchor="ctr">
            <a:normAutofit/>
          </a:bodyPr>
          <a:lstStyle/>
          <a:p>
            <a:pPr algn="l" indent="0" marL="0">
              <a:lnSpc>
                <a:spcPct val="130000"/>
              </a:lnSpc>
              <a:buNone/>
            </a:pPr>
            <a:r>
              <a:rPr lang="en-US" sz="938" spc="-30" kern="0" dirty="0">
                <a:solidFill>
                  <a:srgbClr val="5C5A50"/>
                </a:solidFill>
                <a:latin typeface="Hanken Grotesk" pitchFamily="34" charset="0"/>
                <a:ea typeface="Hanken Grotesk" pitchFamily="34" charset="-122"/>
                <a:cs typeface="Hanken Grotesk" pitchFamily="34" charset="-120"/>
              </a:rPr>
              <a:t>$125,001 to $150,000</a:t>
            </a:r>
            <a:endParaRPr lang="en-US" sz="938" dirty="0"/>
          </a:p>
        </p:txBody>
      </p:sp>
      <p:sp>
        <p:nvSpPr>
          <p:cNvPr id="78" name="Shape 75"/>
          <p:cNvSpPr/>
          <p:nvPr/>
        </p:nvSpPr>
        <p:spPr>
          <a:xfrm>
            <a:off x="2455366" y="9546729"/>
            <a:ext cx="2080022" cy="9525"/>
          </a:xfrm>
          <a:prstGeom prst="rect">
            <a:avLst/>
          </a:prstGeom>
          <a:solidFill>
            <a:srgbClr val="1B1C16">
              <a:alpha val="12000"/>
            </a:srgbClr>
          </a:solidFill>
          <a:ln/>
        </p:spPr>
      </p:sp>
      <p:sp>
        <p:nvSpPr>
          <p:cNvPr id="79" name="Text 76"/>
          <p:cNvSpPr/>
          <p:nvPr/>
        </p:nvSpPr>
        <p:spPr>
          <a:xfrm>
            <a:off x="2588716" y="9330035"/>
            <a:ext cx="1889522" cy="192881"/>
          </a:xfrm>
          <a:prstGeom prst="rect">
            <a:avLst/>
          </a:prstGeom>
          <a:noFill/>
          <a:ln/>
        </p:spPr>
        <p:txBody>
          <a:bodyPr wrap="square" lIns="25400" tIns="25400" rIns="25400" bIns="25400" rtlCol="0" anchor="ctr">
            <a:normAutofit/>
          </a:bodyPr>
          <a:lstStyle/>
          <a:p>
            <a:pPr algn="l" indent="0" marL="0">
              <a:lnSpc>
                <a:spcPct val="130000"/>
              </a:lnSpc>
              <a:buNone/>
            </a:pPr>
            <a:r>
              <a:rPr lang="en-US" sz="938" spc="-30" kern="0" dirty="0">
                <a:solidFill>
                  <a:srgbClr val="1B1C16"/>
                </a:solidFill>
                <a:latin typeface="Hanken Grotesk" pitchFamily="34" charset="0"/>
                <a:ea typeface="Hanken Grotesk" pitchFamily="34" charset="-122"/>
                <a:cs typeface="Hanken Grotesk" pitchFamily="34" charset="-120"/>
              </a:rPr>
              <a:t>$1,750</a:t>
            </a:r>
            <a:endParaRPr lang="en-US" sz="938" dirty="0"/>
          </a:p>
        </p:txBody>
      </p:sp>
      <p:sp>
        <p:nvSpPr>
          <p:cNvPr id="80" name="Shape 77"/>
          <p:cNvSpPr/>
          <p:nvPr/>
        </p:nvSpPr>
        <p:spPr>
          <a:xfrm>
            <a:off x="4535388" y="9546729"/>
            <a:ext cx="2232571" cy="9525"/>
          </a:xfrm>
          <a:prstGeom prst="rect">
            <a:avLst/>
          </a:prstGeom>
          <a:solidFill>
            <a:srgbClr val="1B1C16">
              <a:alpha val="12000"/>
            </a:srgbClr>
          </a:solidFill>
          <a:ln/>
        </p:spPr>
      </p:sp>
      <p:sp>
        <p:nvSpPr>
          <p:cNvPr id="81" name="Text 78"/>
          <p:cNvSpPr/>
          <p:nvPr/>
        </p:nvSpPr>
        <p:spPr>
          <a:xfrm>
            <a:off x="4668738" y="9330035"/>
            <a:ext cx="2042071" cy="192881"/>
          </a:xfrm>
          <a:prstGeom prst="rect">
            <a:avLst/>
          </a:prstGeom>
          <a:noFill/>
          <a:ln/>
        </p:spPr>
        <p:txBody>
          <a:bodyPr wrap="square" lIns="25400" tIns="25400" rIns="25400" bIns="25400" rtlCol="0" anchor="ctr">
            <a:normAutofit/>
          </a:bodyPr>
          <a:lstStyle/>
          <a:p>
            <a:pPr algn="l" indent="0" marL="0">
              <a:lnSpc>
                <a:spcPct val="130000"/>
              </a:lnSpc>
              <a:buNone/>
            </a:pPr>
            <a:r>
              <a:rPr lang="en-US" sz="938" spc="-30" kern="0" dirty="0">
                <a:solidFill>
                  <a:srgbClr val="1B1C16"/>
                </a:solidFill>
                <a:latin typeface="Hanken Grotesk" pitchFamily="34" charset="0"/>
                <a:ea typeface="Hanken Grotesk" pitchFamily="34" charset="-122"/>
                <a:cs typeface="Hanken Grotesk" pitchFamily="34" charset="-120"/>
              </a:rPr>
              <a:t>$44.50</a:t>
            </a:r>
            <a:endParaRPr lang="en-US" sz="938" dirty="0"/>
          </a:p>
        </p:txBody>
      </p:sp>
      <p:sp>
        <p:nvSpPr>
          <p:cNvPr id="82" name="Text 79"/>
          <p:cNvSpPr/>
          <p:nvPr/>
        </p:nvSpPr>
        <p:spPr>
          <a:xfrm>
            <a:off x="925264" y="9618166"/>
            <a:ext cx="1472952" cy="197644"/>
          </a:xfrm>
          <a:prstGeom prst="rect">
            <a:avLst/>
          </a:prstGeom>
          <a:noFill/>
          <a:ln/>
        </p:spPr>
        <p:txBody>
          <a:bodyPr wrap="square" lIns="25400" tIns="25400" rIns="25400" bIns="25400" rtlCol="0" anchor="ctr">
            <a:normAutofit/>
          </a:bodyPr>
          <a:lstStyle/>
          <a:p>
            <a:pPr algn="l" indent="0" marL="0">
              <a:lnSpc>
                <a:spcPct val="130000"/>
              </a:lnSpc>
              <a:buNone/>
            </a:pPr>
            <a:r>
              <a:rPr lang="en-US" sz="938" spc="-30" kern="0" dirty="0">
                <a:solidFill>
                  <a:srgbClr val="5C5A50"/>
                </a:solidFill>
                <a:latin typeface="Hanken Grotesk" pitchFamily="34" charset="0"/>
                <a:ea typeface="Hanken Grotesk" pitchFamily="34" charset="-122"/>
                <a:cs typeface="Hanken Grotesk" pitchFamily="34" charset="-120"/>
              </a:rPr>
              <a:t>$150,001 to $175,000</a:t>
            </a:r>
            <a:endParaRPr lang="en-US" sz="938" dirty="0"/>
          </a:p>
        </p:txBody>
      </p:sp>
      <p:sp>
        <p:nvSpPr>
          <p:cNvPr id="83" name="Text 80"/>
          <p:cNvSpPr/>
          <p:nvPr/>
        </p:nvSpPr>
        <p:spPr>
          <a:xfrm>
            <a:off x="2588716" y="9618166"/>
            <a:ext cx="1889522" cy="197644"/>
          </a:xfrm>
          <a:prstGeom prst="rect">
            <a:avLst/>
          </a:prstGeom>
          <a:noFill/>
          <a:ln/>
        </p:spPr>
        <p:txBody>
          <a:bodyPr wrap="square" lIns="25400" tIns="25400" rIns="25400" bIns="25400" rtlCol="0" anchor="ctr">
            <a:normAutofit/>
          </a:bodyPr>
          <a:lstStyle/>
          <a:p>
            <a:pPr algn="l" indent="0" marL="0">
              <a:lnSpc>
                <a:spcPct val="130000"/>
              </a:lnSpc>
              <a:buNone/>
            </a:pPr>
            <a:r>
              <a:rPr lang="en-US" sz="938" spc="-30" kern="0" dirty="0">
                <a:solidFill>
                  <a:srgbClr val="1B1C16"/>
                </a:solidFill>
                <a:latin typeface="Hanken Grotesk" pitchFamily="34" charset="0"/>
                <a:ea typeface="Hanken Grotesk" pitchFamily="34" charset="-122"/>
                <a:cs typeface="Hanken Grotesk" pitchFamily="34" charset="-120"/>
              </a:rPr>
              <a:t>$1,905</a:t>
            </a:r>
            <a:endParaRPr lang="en-US" sz="938" dirty="0"/>
          </a:p>
        </p:txBody>
      </p:sp>
      <p:sp>
        <p:nvSpPr>
          <p:cNvPr id="84" name="Text 81"/>
          <p:cNvSpPr/>
          <p:nvPr/>
        </p:nvSpPr>
        <p:spPr>
          <a:xfrm>
            <a:off x="4668738" y="9618166"/>
            <a:ext cx="2042071" cy="197644"/>
          </a:xfrm>
          <a:prstGeom prst="rect">
            <a:avLst/>
          </a:prstGeom>
          <a:noFill/>
          <a:ln/>
        </p:spPr>
        <p:txBody>
          <a:bodyPr wrap="square" lIns="25400" tIns="25400" rIns="25400" bIns="25400" rtlCol="0" anchor="ctr">
            <a:normAutofit/>
          </a:bodyPr>
          <a:lstStyle/>
          <a:p>
            <a:pPr algn="l" indent="0" marL="0">
              <a:lnSpc>
                <a:spcPct val="130000"/>
              </a:lnSpc>
              <a:buNone/>
            </a:pPr>
            <a:r>
              <a:rPr lang="en-US" sz="938" spc="-30" kern="0" dirty="0">
                <a:solidFill>
                  <a:srgbClr val="1B1C16"/>
                </a:solidFill>
                <a:latin typeface="Hanken Grotesk" pitchFamily="34" charset="0"/>
                <a:ea typeface="Hanken Grotesk" pitchFamily="34" charset="-122"/>
                <a:cs typeface="Hanken Grotesk" pitchFamily="34" charset="-120"/>
              </a:rPr>
              <a:t>$49.50</a:t>
            </a:r>
            <a:endParaRPr lang="en-US" sz="938" dirty="0"/>
          </a:p>
        </p:txBody>
      </p:sp>
      <p:sp>
        <p:nvSpPr>
          <p:cNvPr id="85" name="Shape 82"/>
          <p:cNvSpPr/>
          <p:nvPr/>
        </p:nvSpPr>
        <p:spPr>
          <a:xfrm>
            <a:off x="791914" y="9978479"/>
            <a:ext cx="5976045" cy="9525"/>
          </a:xfrm>
          <a:prstGeom prst="rect">
            <a:avLst/>
          </a:prstGeom>
          <a:solidFill>
            <a:srgbClr val="1B1C16">
              <a:alpha val="12000"/>
            </a:srgbClr>
          </a:solidFill>
          <a:ln/>
        </p:spPr>
      </p:sp>
      <p:sp>
        <p:nvSpPr>
          <p:cNvPr id="86" name="Text 83"/>
          <p:cNvSpPr/>
          <p:nvPr/>
        </p:nvSpPr>
        <p:spPr>
          <a:xfrm>
            <a:off x="791914" y="10083254"/>
            <a:ext cx="2393126" cy="142875"/>
          </a:xfrm>
          <a:prstGeom prst="rect">
            <a:avLst/>
          </a:prstGeom>
          <a:noFill/>
          <a:ln/>
        </p:spPr>
        <p:txBody>
          <a:bodyPr wrap="square" lIns="25400" tIns="25400" rIns="25400" bIns="25400" rtlCol="0" anchor="t">
            <a:normAutofit/>
          </a:bodyPr>
          <a:lstStyle/>
          <a:p>
            <a:pPr algn="l" indent="0" marL="0">
              <a:buNone/>
            </a:pPr>
            <a:r>
              <a:rPr lang="en-US" sz="713" spc="71" kern="0" dirty="0">
                <a:solidFill>
                  <a:srgbClr val="9A978C"/>
                </a:solidFill>
                <a:latin typeface="Courier New" pitchFamily="34" charset="0"/>
                <a:ea typeface="Courier New" pitchFamily="34" charset="-122"/>
                <a:cs typeface="Courier New" pitchFamily="34" charset="-120"/>
              </a:rPr>
              <a:t>PROPENTIAL · PARTNER INFORMATION PACK</a:t>
            </a:r>
            <a:endParaRPr lang="en-US" sz="713" dirty="0"/>
          </a:p>
        </p:txBody>
      </p:sp>
      <p:sp>
        <p:nvSpPr>
          <p:cNvPr id="87" name="Text 84"/>
          <p:cNvSpPr/>
          <p:nvPr/>
        </p:nvSpPr>
        <p:spPr>
          <a:xfrm>
            <a:off x="5062686" y="10083254"/>
            <a:ext cx="1875800" cy="142875"/>
          </a:xfrm>
          <a:prstGeom prst="rect">
            <a:avLst/>
          </a:prstGeom>
          <a:noFill/>
          <a:ln/>
        </p:spPr>
        <p:txBody>
          <a:bodyPr wrap="square" lIns="25400" tIns="25400" rIns="25400" bIns="25400" rtlCol="0" anchor="t">
            <a:normAutofit/>
          </a:bodyPr>
          <a:lstStyle/>
          <a:p>
            <a:pPr algn="l" indent="0" marL="0">
              <a:buNone/>
            </a:pPr>
            <a:r>
              <a:rPr lang="en-US" sz="713" spc="71" kern="0" dirty="0">
                <a:solidFill>
                  <a:srgbClr val="9A978C"/>
                </a:solidFill>
                <a:latin typeface="Courier New" pitchFamily="34" charset="0"/>
                <a:ea typeface="Courier New" pitchFamily="34" charset="-122"/>
                <a:cs typeface="Courier New" pitchFamily="34" charset="-120"/>
              </a:rPr>
              <a:t>COMMERCIAL-IN-CONFIDENCE · 02</a:t>
            </a:r>
            <a:endParaRPr lang="en-US" sz="71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EEE2"/>
        </a:solidFill>
      </p:bgPr>
    </p:bg>
    <p:spTree>
      <p:nvGrpSpPr>
        <p:cNvPr id="1" name=""/>
        <p:cNvGrpSpPr/>
        <p:nvPr/>
      </p:nvGrpSpPr>
      <p:grpSpPr>
        <a:xfrm>
          <a:off x="0" y="0"/>
          <a:ext cx="0" cy="0"/>
          <a:chOff x="0" y="0"/>
          <a:chExt cx="0" cy="0"/>
        </a:xfrm>
      </p:grpSpPr>
      <p:sp>
        <p:nvSpPr>
          <p:cNvPr id="2" name="Shape 0"/>
          <p:cNvSpPr/>
          <p:nvPr/>
        </p:nvSpPr>
        <p:spPr>
          <a:xfrm>
            <a:off x="0" y="0"/>
            <a:ext cx="7559873" cy="10691961"/>
          </a:xfrm>
          <a:prstGeom prst="rect">
            <a:avLst/>
          </a:prstGeom>
          <a:ln/>
          <a:effectLst>
            <a:outerShdw sx="100000" sy="100000" kx="0" ky="0" algn="bl" rotWithShape="0" blurRad="666750" dist="285750" dir="5400000">
              <a:srgbClr val="000000">
                <a:alpha val="70000"/>
              </a:srgbClr>
            </a:outerShdw>
          </a:effectLst>
        </p:spPr>
      </p:sp>
      <p:sp>
        <p:nvSpPr>
          <p:cNvPr id="3" name="Shape 1"/>
          <p:cNvSpPr/>
          <p:nvPr/>
        </p:nvSpPr>
        <p:spPr>
          <a:xfrm>
            <a:off x="791914" y="1283047"/>
            <a:ext cx="5976045" cy="9525"/>
          </a:xfrm>
          <a:prstGeom prst="rect">
            <a:avLst/>
          </a:prstGeom>
          <a:solidFill>
            <a:srgbClr val="1B1C16">
              <a:alpha val="12000"/>
            </a:srgbClr>
          </a:solidFill>
          <a:ln/>
        </p:spPr>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1914" y="863947"/>
            <a:ext cx="235744" cy="247650"/>
          </a:xfrm>
          <a:prstGeom prst="rect">
            <a:avLst/>
          </a:prstGeom>
        </p:spPr>
      </p:pic>
      <p:sp>
        <p:nvSpPr>
          <p:cNvPr id="5" name="Text 2"/>
          <p:cNvSpPr/>
          <p:nvPr/>
        </p:nvSpPr>
        <p:spPr>
          <a:xfrm>
            <a:off x="1122908" y="872579"/>
            <a:ext cx="1095673" cy="268486"/>
          </a:xfrm>
          <a:prstGeom prst="rect">
            <a:avLst/>
          </a:prstGeom>
          <a:noFill/>
          <a:ln/>
        </p:spPr>
        <p:txBody>
          <a:bodyPr wrap="square" lIns="25400" tIns="25400" rIns="25400" bIns="25400" rtlCol="0" anchor="t">
            <a:normAutofit/>
          </a:bodyPr>
          <a:lstStyle/>
          <a:p>
            <a:pPr algn="l" indent="0" marL="0">
              <a:lnSpc>
                <a:spcPct val="110000"/>
              </a:lnSpc>
              <a:buNone/>
            </a:pPr>
            <a:r>
              <a:rPr lang="en-US" sz="1650" dirty="0">
                <a:solidFill>
                  <a:srgbClr val="1B1C16"/>
                </a:solidFill>
                <a:latin typeface="Fraunces" pitchFamily="34" charset="0"/>
                <a:ea typeface="Fraunces" pitchFamily="34" charset="-122"/>
                <a:cs typeface="Fraunces" pitchFamily="34" charset="-120"/>
              </a:rPr>
              <a:t>Prop</a:t>
            </a:r>
            <a:pPr algn="l" indent="0" marL="0">
              <a:lnSpc>
                <a:spcPct val="110000"/>
              </a:lnSpc>
              <a:buNone/>
            </a:pPr>
            <a:r>
              <a:rPr lang="en-US" sz="1650" i="1" dirty="0">
                <a:solidFill>
                  <a:srgbClr val="B6873A"/>
                </a:solidFill>
                <a:latin typeface="Fraunces" pitchFamily="34" charset="0"/>
                <a:ea typeface="Fraunces" pitchFamily="34" charset="-122"/>
                <a:cs typeface="Fraunces" pitchFamily="34" charset="-120"/>
              </a:rPr>
              <a:t>ential</a:t>
            </a:r>
            <a:endParaRPr lang="en-US" sz="1650" dirty="0"/>
          </a:p>
        </p:txBody>
      </p:sp>
      <p:sp>
        <p:nvSpPr>
          <p:cNvPr id="6" name="Text 3"/>
          <p:cNvSpPr/>
          <p:nvPr/>
        </p:nvSpPr>
        <p:spPr>
          <a:xfrm>
            <a:off x="5135166" y="944910"/>
            <a:ext cx="1796073" cy="161925"/>
          </a:xfrm>
          <a:prstGeom prst="rect">
            <a:avLst/>
          </a:prstGeom>
          <a:noFill/>
          <a:ln/>
        </p:spPr>
        <p:txBody>
          <a:bodyPr wrap="square" lIns="25400" tIns="25400" rIns="25400" bIns="25400" rtlCol="0" anchor="t">
            <a:normAutofit/>
          </a:bodyPr>
          <a:lstStyle/>
          <a:p>
            <a:pPr algn="l" indent="0" marL="0">
              <a:buNone/>
            </a:pPr>
            <a:r>
              <a:rPr lang="en-US" sz="788" spc="126" kern="0" dirty="0">
                <a:solidFill>
                  <a:srgbClr val="5C5A50"/>
                </a:solidFill>
                <a:latin typeface="Courier New" pitchFamily="34" charset="0"/>
                <a:ea typeface="Courier New" pitchFamily="34" charset="-122"/>
                <a:cs typeface="Courier New" pitchFamily="34" charset="-120"/>
              </a:rPr>
              <a:t>02 · USES &amp; ELIGIBILITY</a:t>
            </a:r>
            <a:endParaRPr lang="en-US" sz="788" dirty="0"/>
          </a:p>
        </p:txBody>
      </p:sp>
      <p:sp>
        <p:nvSpPr>
          <p:cNvPr id="7" name="Text 4"/>
          <p:cNvSpPr/>
          <p:nvPr/>
        </p:nvSpPr>
        <p:spPr>
          <a:xfrm>
            <a:off x="791914" y="1578322"/>
            <a:ext cx="6573649" cy="161925"/>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B6873A"/>
                </a:solidFill>
                <a:latin typeface="Courier New" pitchFamily="34" charset="0"/>
                <a:ea typeface="Courier New" pitchFamily="34" charset="-122"/>
                <a:cs typeface="Courier New" pitchFamily="34" charset="-120"/>
              </a:rPr>
              <a:t>WHAT IT CAN BE USED FOR</a:t>
            </a:r>
            <a:endParaRPr lang="en-US" sz="825" dirty="0"/>
          </a:p>
        </p:txBody>
      </p:sp>
      <p:sp>
        <p:nvSpPr>
          <p:cNvPr id="8" name="Text 5"/>
          <p:cNvSpPr/>
          <p:nvPr/>
        </p:nvSpPr>
        <p:spPr>
          <a:xfrm>
            <a:off x="791914" y="1816447"/>
            <a:ext cx="6155326" cy="687586"/>
          </a:xfrm>
          <a:prstGeom prst="rect">
            <a:avLst/>
          </a:prstGeom>
          <a:noFill/>
          <a:ln/>
        </p:spPr>
        <p:txBody>
          <a:bodyPr wrap="square" lIns="25400" tIns="25400" rIns="25400" bIns="25400" rtlCol="0" anchor="t">
            <a:normAutofit/>
          </a:bodyPr>
          <a:lstStyle/>
          <a:p>
            <a:pPr algn="l" indent="0" marL="0">
              <a:lnSpc>
                <a:spcPct val="110000"/>
              </a:lnSpc>
              <a:buNone/>
            </a:pPr>
            <a:r>
              <a:rPr lang="en-US" sz="2325" spc="-35" kern="0" dirty="0">
                <a:solidFill>
                  <a:srgbClr val="1B1C16"/>
                </a:solidFill>
                <a:latin typeface="Fraunces" pitchFamily="34" charset="0"/>
                <a:ea typeface="Fraunces" pitchFamily="34" charset="-122"/>
                <a:cs typeface="Fraunces" pitchFamily="34" charset="-120"/>
              </a:rPr>
              <a:t>Any project that improves the property and adds value.</a:t>
            </a:r>
            <a:endParaRPr lang="en-US" sz="2325" dirty="0"/>
          </a:p>
        </p:txBody>
      </p:sp>
      <p:sp>
        <p:nvSpPr>
          <p:cNvPr id="9" name="Shape 6"/>
          <p:cNvSpPr/>
          <p:nvPr/>
        </p:nvSpPr>
        <p:spPr>
          <a:xfrm>
            <a:off x="791914" y="2618333"/>
            <a:ext cx="1060252" cy="295275"/>
          </a:xfrm>
          <a:prstGeom prst="roundRect">
            <a:avLst>
              <a:gd name="adj" fmla="val 50000"/>
            </a:avLst>
          </a:prstGeom>
          <a:solidFill>
            <a:srgbClr val="16170F"/>
          </a:solidFill>
          <a:ln/>
        </p:spPr>
      </p:sp>
      <p:sp>
        <p:nvSpPr>
          <p:cNvPr id="10" name="Text 7"/>
          <p:cNvSpPr/>
          <p:nvPr/>
        </p:nvSpPr>
        <p:spPr>
          <a:xfrm>
            <a:off x="944314" y="2704058"/>
            <a:ext cx="831652" cy="161925"/>
          </a:xfrm>
          <a:prstGeom prst="rect">
            <a:avLst/>
          </a:prstGeom>
          <a:noFill/>
          <a:ln/>
        </p:spPr>
        <p:txBody>
          <a:bodyPr wrap="square" lIns="25400" tIns="25400" rIns="25400" bIns="25400" rtlCol="0" anchor="ctr">
            <a:normAutofit/>
          </a:bodyPr>
          <a:lstStyle/>
          <a:p>
            <a:pPr algn="l" indent="0" marL="0">
              <a:buNone/>
            </a:pPr>
            <a:r>
              <a:rPr lang="en-US" sz="825" spc="99" kern="0" dirty="0">
                <a:solidFill>
                  <a:srgbClr val="F3EEE2"/>
                </a:solidFill>
                <a:latin typeface="Courier New" pitchFamily="34" charset="0"/>
                <a:ea typeface="Courier New" pitchFamily="34" charset="-122"/>
                <a:cs typeface="Courier New" pitchFamily="34" charset="-120"/>
              </a:rPr>
              <a:t>INTERIORS</a:t>
            </a:r>
            <a:endParaRPr lang="en-US" sz="825" dirty="0"/>
          </a:p>
        </p:txBody>
      </p:sp>
      <p:sp>
        <p:nvSpPr>
          <p:cNvPr id="11" name="Shape 8"/>
          <p:cNvSpPr/>
          <p:nvPr/>
        </p:nvSpPr>
        <p:spPr>
          <a:xfrm>
            <a:off x="1937891" y="2618333"/>
            <a:ext cx="1832223" cy="295275"/>
          </a:xfrm>
          <a:prstGeom prst="roundRect">
            <a:avLst>
              <a:gd name="adj" fmla="val 50000"/>
            </a:avLst>
          </a:prstGeom>
          <a:solidFill>
            <a:srgbClr val="16170F"/>
          </a:solidFill>
          <a:ln/>
        </p:spPr>
      </p:sp>
      <p:sp>
        <p:nvSpPr>
          <p:cNvPr id="12" name="Text 9"/>
          <p:cNvSpPr/>
          <p:nvPr/>
        </p:nvSpPr>
        <p:spPr>
          <a:xfrm>
            <a:off x="2090291" y="2704058"/>
            <a:ext cx="1603623" cy="161925"/>
          </a:xfrm>
          <a:prstGeom prst="rect">
            <a:avLst/>
          </a:prstGeom>
          <a:noFill/>
          <a:ln/>
        </p:spPr>
        <p:txBody>
          <a:bodyPr wrap="square" lIns="25400" tIns="25400" rIns="25400" bIns="25400" rtlCol="0" anchor="ctr">
            <a:normAutofit/>
          </a:bodyPr>
          <a:lstStyle/>
          <a:p>
            <a:pPr algn="l" indent="0" marL="0">
              <a:buNone/>
            </a:pPr>
            <a:r>
              <a:rPr lang="en-US" sz="825" spc="99" kern="0" dirty="0">
                <a:solidFill>
                  <a:srgbClr val="F3EEE2"/>
                </a:solidFill>
                <a:latin typeface="Courier New" pitchFamily="34" charset="0"/>
                <a:ea typeface="Courier New" pitchFamily="34" charset="-122"/>
                <a:cs typeface="Courier New" pitchFamily="34" charset="-120"/>
              </a:rPr>
              <a:t>KITCHENS &amp; BATHROOMS</a:t>
            </a:r>
            <a:endParaRPr lang="en-US" sz="825" dirty="0"/>
          </a:p>
        </p:txBody>
      </p:sp>
      <p:sp>
        <p:nvSpPr>
          <p:cNvPr id="13" name="Shape 10"/>
          <p:cNvSpPr/>
          <p:nvPr/>
        </p:nvSpPr>
        <p:spPr>
          <a:xfrm>
            <a:off x="3855839" y="2618333"/>
            <a:ext cx="779562" cy="295275"/>
          </a:xfrm>
          <a:prstGeom prst="roundRect">
            <a:avLst>
              <a:gd name="adj" fmla="val 50000"/>
            </a:avLst>
          </a:prstGeom>
          <a:solidFill>
            <a:srgbClr val="16170F"/>
          </a:solidFill>
          <a:ln/>
        </p:spPr>
      </p:sp>
      <p:sp>
        <p:nvSpPr>
          <p:cNvPr id="14" name="Text 11"/>
          <p:cNvSpPr/>
          <p:nvPr/>
        </p:nvSpPr>
        <p:spPr>
          <a:xfrm>
            <a:off x="4008239" y="2704058"/>
            <a:ext cx="550962" cy="161925"/>
          </a:xfrm>
          <a:prstGeom prst="rect">
            <a:avLst/>
          </a:prstGeom>
          <a:noFill/>
          <a:ln/>
        </p:spPr>
        <p:txBody>
          <a:bodyPr wrap="square" lIns="25400" tIns="25400" rIns="25400" bIns="25400" rtlCol="0" anchor="ctr">
            <a:normAutofit/>
          </a:bodyPr>
          <a:lstStyle/>
          <a:p>
            <a:pPr algn="l" indent="0" marL="0">
              <a:buNone/>
            </a:pPr>
            <a:r>
              <a:rPr lang="en-US" sz="825" spc="99" kern="0" dirty="0">
                <a:solidFill>
                  <a:srgbClr val="F3EEE2"/>
                </a:solidFill>
                <a:latin typeface="Courier New" pitchFamily="34" charset="0"/>
                <a:ea typeface="Courier New" pitchFamily="34" charset="-122"/>
                <a:cs typeface="Courier New" pitchFamily="34" charset="-120"/>
              </a:rPr>
              <a:t>POOLS</a:t>
            </a:r>
            <a:endParaRPr lang="en-US" sz="825" dirty="0"/>
          </a:p>
        </p:txBody>
      </p:sp>
      <p:sp>
        <p:nvSpPr>
          <p:cNvPr id="15" name="Shape 12"/>
          <p:cNvSpPr/>
          <p:nvPr/>
        </p:nvSpPr>
        <p:spPr>
          <a:xfrm>
            <a:off x="4721126" y="2618333"/>
            <a:ext cx="919907" cy="295275"/>
          </a:xfrm>
          <a:prstGeom prst="roundRect">
            <a:avLst>
              <a:gd name="adj" fmla="val 50000"/>
            </a:avLst>
          </a:prstGeom>
          <a:solidFill>
            <a:srgbClr val="16170F"/>
          </a:solidFill>
          <a:ln/>
        </p:spPr>
      </p:sp>
      <p:sp>
        <p:nvSpPr>
          <p:cNvPr id="16" name="Text 13"/>
          <p:cNvSpPr/>
          <p:nvPr/>
        </p:nvSpPr>
        <p:spPr>
          <a:xfrm>
            <a:off x="4873526" y="2704058"/>
            <a:ext cx="691307" cy="161925"/>
          </a:xfrm>
          <a:prstGeom prst="rect">
            <a:avLst/>
          </a:prstGeom>
          <a:noFill/>
          <a:ln/>
        </p:spPr>
        <p:txBody>
          <a:bodyPr wrap="square" lIns="25400" tIns="25400" rIns="25400" bIns="25400" rtlCol="0" anchor="ctr">
            <a:normAutofit/>
          </a:bodyPr>
          <a:lstStyle/>
          <a:p>
            <a:pPr algn="l" indent="0" marL="0">
              <a:buNone/>
            </a:pPr>
            <a:r>
              <a:rPr lang="en-US" sz="825" spc="99" kern="0" dirty="0">
                <a:solidFill>
                  <a:srgbClr val="F3EEE2"/>
                </a:solidFill>
                <a:latin typeface="Courier New" pitchFamily="34" charset="0"/>
                <a:ea typeface="Courier New" pitchFamily="34" charset="-122"/>
                <a:cs typeface="Courier New" pitchFamily="34" charset="-120"/>
              </a:rPr>
              <a:t>FENCING</a:t>
            </a:r>
            <a:endParaRPr lang="en-US" sz="825" dirty="0"/>
          </a:p>
        </p:txBody>
      </p:sp>
      <p:sp>
        <p:nvSpPr>
          <p:cNvPr id="17" name="Shape 14"/>
          <p:cNvSpPr/>
          <p:nvPr/>
        </p:nvSpPr>
        <p:spPr>
          <a:xfrm>
            <a:off x="791914" y="2999333"/>
            <a:ext cx="1200596" cy="295275"/>
          </a:xfrm>
          <a:prstGeom prst="roundRect">
            <a:avLst>
              <a:gd name="adj" fmla="val 50000"/>
            </a:avLst>
          </a:prstGeom>
          <a:solidFill>
            <a:srgbClr val="16170F"/>
          </a:solidFill>
          <a:ln/>
        </p:spPr>
      </p:sp>
      <p:sp>
        <p:nvSpPr>
          <p:cNvPr id="18" name="Text 15"/>
          <p:cNvSpPr/>
          <p:nvPr/>
        </p:nvSpPr>
        <p:spPr>
          <a:xfrm>
            <a:off x="944314" y="3085058"/>
            <a:ext cx="971996" cy="161925"/>
          </a:xfrm>
          <a:prstGeom prst="rect">
            <a:avLst/>
          </a:prstGeom>
          <a:noFill/>
          <a:ln/>
        </p:spPr>
        <p:txBody>
          <a:bodyPr wrap="square" lIns="25400" tIns="25400" rIns="25400" bIns="25400" rtlCol="0" anchor="ctr">
            <a:normAutofit/>
          </a:bodyPr>
          <a:lstStyle/>
          <a:p>
            <a:pPr algn="l" indent="0" marL="0">
              <a:buNone/>
            </a:pPr>
            <a:r>
              <a:rPr lang="en-US" sz="825" spc="99" kern="0" dirty="0">
                <a:solidFill>
                  <a:srgbClr val="F3EEE2"/>
                </a:solidFill>
                <a:latin typeface="Courier New" pitchFamily="34" charset="0"/>
                <a:ea typeface="Courier New" pitchFamily="34" charset="-122"/>
                <a:cs typeface="Courier New" pitchFamily="34" charset="-120"/>
              </a:rPr>
              <a:t>LANDSCAPING</a:t>
            </a:r>
            <a:endParaRPr lang="en-US" sz="825" dirty="0"/>
          </a:p>
        </p:txBody>
      </p:sp>
      <p:sp>
        <p:nvSpPr>
          <p:cNvPr id="19" name="Shape 16"/>
          <p:cNvSpPr/>
          <p:nvPr/>
        </p:nvSpPr>
        <p:spPr>
          <a:xfrm>
            <a:off x="2078236" y="2999333"/>
            <a:ext cx="919907" cy="295275"/>
          </a:xfrm>
          <a:prstGeom prst="roundRect">
            <a:avLst>
              <a:gd name="adj" fmla="val 50000"/>
            </a:avLst>
          </a:prstGeom>
          <a:solidFill>
            <a:srgbClr val="16170F"/>
          </a:solidFill>
          <a:ln/>
        </p:spPr>
      </p:sp>
      <p:sp>
        <p:nvSpPr>
          <p:cNvPr id="20" name="Text 17"/>
          <p:cNvSpPr/>
          <p:nvPr/>
        </p:nvSpPr>
        <p:spPr>
          <a:xfrm>
            <a:off x="2230636" y="3085058"/>
            <a:ext cx="691307" cy="161925"/>
          </a:xfrm>
          <a:prstGeom prst="rect">
            <a:avLst/>
          </a:prstGeom>
          <a:noFill/>
          <a:ln/>
        </p:spPr>
        <p:txBody>
          <a:bodyPr wrap="square" lIns="25400" tIns="25400" rIns="25400" bIns="25400" rtlCol="0" anchor="ctr">
            <a:normAutofit/>
          </a:bodyPr>
          <a:lstStyle/>
          <a:p>
            <a:pPr algn="l" indent="0" marL="0">
              <a:buNone/>
            </a:pPr>
            <a:r>
              <a:rPr lang="en-US" sz="825" spc="99" kern="0" dirty="0">
                <a:solidFill>
                  <a:srgbClr val="F3EEE2"/>
                </a:solidFill>
                <a:latin typeface="Courier New" pitchFamily="34" charset="0"/>
                <a:ea typeface="Courier New" pitchFamily="34" charset="-122"/>
                <a:cs typeface="Courier New" pitchFamily="34" charset="-120"/>
              </a:rPr>
              <a:t>ROOFING</a:t>
            </a:r>
            <a:endParaRPr lang="en-US" sz="825" dirty="0"/>
          </a:p>
        </p:txBody>
      </p:sp>
      <p:sp>
        <p:nvSpPr>
          <p:cNvPr id="21" name="Shape 18"/>
          <p:cNvSpPr/>
          <p:nvPr/>
        </p:nvSpPr>
        <p:spPr>
          <a:xfrm>
            <a:off x="3083868" y="2999333"/>
            <a:ext cx="1621780" cy="295275"/>
          </a:xfrm>
          <a:prstGeom prst="roundRect">
            <a:avLst>
              <a:gd name="adj" fmla="val 50000"/>
            </a:avLst>
          </a:prstGeom>
          <a:solidFill>
            <a:srgbClr val="16170F"/>
          </a:solidFill>
          <a:ln/>
        </p:spPr>
      </p:sp>
      <p:sp>
        <p:nvSpPr>
          <p:cNvPr id="22" name="Text 19"/>
          <p:cNvSpPr/>
          <p:nvPr/>
        </p:nvSpPr>
        <p:spPr>
          <a:xfrm>
            <a:off x="3236268" y="3085058"/>
            <a:ext cx="1393180" cy="161925"/>
          </a:xfrm>
          <a:prstGeom prst="rect">
            <a:avLst/>
          </a:prstGeom>
          <a:noFill/>
          <a:ln/>
        </p:spPr>
        <p:txBody>
          <a:bodyPr wrap="square" lIns="25400" tIns="25400" rIns="25400" bIns="25400" rtlCol="0" anchor="ctr">
            <a:normAutofit/>
          </a:bodyPr>
          <a:lstStyle/>
          <a:p>
            <a:pPr algn="l" indent="0" marL="0">
              <a:buNone/>
            </a:pPr>
            <a:r>
              <a:rPr lang="en-US" sz="825" spc="99" kern="0" dirty="0">
                <a:solidFill>
                  <a:srgbClr val="F3EEE2"/>
                </a:solidFill>
                <a:latin typeface="Courier New" pitchFamily="34" charset="0"/>
                <a:ea typeface="Courier New" pitchFamily="34" charset="-122"/>
                <a:cs typeface="Courier New" pitchFamily="34" charset="-120"/>
              </a:rPr>
              <a:t>OUTDOOR &amp; DECKING</a:t>
            </a:r>
            <a:endParaRPr lang="en-US" sz="825" dirty="0"/>
          </a:p>
        </p:txBody>
      </p:sp>
      <p:sp>
        <p:nvSpPr>
          <p:cNvPr id="23" name="Text 20"/>
          <p:cNvSpPr/>
          <p:nvPr/>
        </p:nvSpPr>
        <p:spPr>
          <a:xfrm>
            <a:off x="791914" y="3494633"/>
            <a:ext cx="6151340" cy="384572"/>
          </a:xfrm>
          <a:prstGeom prst="rect">
            <a:avLst/>
          </a:prstGeom>
          <a:noFill/>
          <a:ln/>
        </p:spPr>
        <p:txBody>
          <a:bodyPr wrap="square" lIns="25400" tIns="25400" rIns="25400" bIns="25400" rtlCol="0" anchor="t">
            <a:normAutofit/>
          </a:bodyPr>
          <a:lstStyle/>
          <a:p>
            <a:pPr algn="l" indent="0" marL="0">
              <a:lnSpc>
                <a:spcPct val="130000"/>
              </a:lnSpc>
              <a:buNone/>
            </a:pPr>
            <a:r>
              <a:rPr lang="en-US" sz="1050" spc="5" kern="0" dirty="0">
                <a:solidFill>
                  <a:srgbClr val="5C5A50"/>
                </a:solidFill>
                <a:latin typeface="Hanken Grotesk" pitchFamily="34" charset="0"/>
                <a:ea typeface="Hanken Grotesk" pitchFamily="34" charset="-122"/>
                <a:cs typeface="Hanken Grotesk" pitchFamily="34" charset="-120"/>
              </a:rPr>
              <a:t>It is a fixed-term, secured loan, </a:t>
            </a:r>
            <a:pPr algn="l" indent="0" marL="0">
              <a:lnSpc>
                <a:spcPct val="130000"/>
              </a:lnSpc>
              <a:buNone/>
            </a:pPr>
            <a:r>
              <a:rPr lang="en-US" sz="1050" b="1" spc="5" kern="0" dirty="0">
                <a:solidFill>
                  <a:srgbClr val="1B1C16"/>
                </a:solidFill>
                <a:latin typeface="Hanken Grotesk" pitchFamily="34" charset="0"/>
                <a:ea typeface="Hanken Grotesk" pitchFamily="34" charset="-122"/>
                <a:cs typeface="Hanken Grotesk" pitchFamily="34" charset="-120"/>
              </a:rPr>
              <a:t>not a revolving line of credit </a:t>
            </a:r>
            <a:pPr algn="l" indent="0" marL="0">
              <a:lnSpc>
                <a:spcPct val="130000"/>
              </a:lnSpc>
              <a:buNone/>
            </a:pPr>
            <a:r>
              <a:rPr lang="en-US" sz="1050" spc="5" kern="0" dirty="0">
                <a:solidFill>
                  <a:srgbClr val="5C5A50"/>
                </a:solidFill>
                <a:latin typeface="Hanken Grotesk" pitchFamily="34" charset="0"/>
                <a:ea typeface="Hanken Grotesk" pitchFamily="34" charset="-122"/>
                <a:cs typeface="Hanken Grotesk" pitchFamily="34" charset="-120"/>
              </a:rPr>
              <a:t>and not intended for ground-up construction. The funds go toward improving a property the customer already owns.</a:t>
            </a:r>
            <a:endParaRPr lang="en-US" sz="1050" dirty="0"/>
          </a:p>
        </p:txBody>
      </p:sp>
      <p:sp>
        <p:nvSpPr>
          <p:cNvPr id="24" name="Text 21"/>
          <p:cNvSpPr/>
          <p:nvPr/>
        </p:nvSpPr>
        <p:spPr>
          <a:xfrm>
            <a:off x="791914" y="4222105"/>
            <a:ext cx="6573649" cy="161925"/>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B6873A"/>
                </a:solidFill>
                <a:latin typeface="Courier New" pitchFamily="34" charset="0"/>
                <a:ea typeface="Courier New" pitchFamily="34" charset="-122"/>
                <a:cs typeface="Courier New" pitchFamily="34" charset="-120"/>
              </a:rPr>
              <a:t>ELIGIBILITY: THE ESSENTIALS</a:t>
            </a:r>
            <a:endParaRPr lang="en-US" sz="825" dirty="0"/>
          </a:p>
        </p:txBody>
      </p:sp>
      <p:sp>
        <p:nvSpPr>
          <p:cNvPr id="25" name="Text 22"/>
          <p:cNvSpPr/>
          <p:nvPr/>
        </p:nvSpPr>
        <p:spPr>
          <a:xfrm>
            <a:off x="1039564" y="4460230"/>
            <a:ext cx="6325999" cy="198983"/>
          </a:xfrm>
          <a:prstGeom prst="rect">
            <a:avLst/>
          </a:prstGeom>
          <a:noFill/>
          <a:ln/>
        </p:spPr>
        <p:txBody>
          <a:bodyPr wrap="square" lIns="25400" tIns="25400" rIns="25400" bIns="25400" rtlCol="0" anchor="t">
            <a:normAutofit/>
          </a:bodyPr>
          <a:lstStyle/>
          <a:p>
            <a:pPr algn="l" indent="0" marL="0">
              <a:lnSpc>
                <a:spcPct val="130000"/>
              </a:lnSpc>
              <a:buNone/>
            </a:pPr>
            <a:r>
              <a:rPr lang="en-US" sz="975" b="1" spc="5" kern="0" dirty="0">
                <a:solidFill>
                  <a:srgbClr val="1B1C16"/>
                </a:solidFill>
                <a:latin typeface="Hanken Grotesk" pitchFamily="34" charset="0"/>
                <a:ea typeface="Hanken Grotesk" pitchFamily="34" charset="-122"/>
                <a:cs typeface="Hanken Grotesk" pitchFamily="34" charset="-120"/>
              </a:rPr>
              <a:t>Owns Australian property. </a:t>
            </a:r>
            <a:pPr algn="l" indent="0" marL="0">
              <a:lnSpc>
                <a:spcPct val="130000"/>
              </a:lnSpc>
              <a:buNone/>
            </a:pPr>
            <a:r>
              <a:rPr lang="en-US" sz="975" spc="5" kern="0" dirty="0">
                <a:solidFill>
                  <a:srgbClr val="5C5A50"/>
                </a:solidFill>
                <a:latin typeface="Hanken Grotesk" pitchFamily="34" charset="0"/>
                <a:ea typeface="Hanken Grotesk" pitchFamily="34" charset="-122"/>
                <a:cs typeface="Hanken Grotesk" pitchFamily="34" charset="-120"/>
              </a:rPr>
              <a:t>The loan is secured against a property the customer owns.</a:t>
            </a:r>
            <a:endParaRPr lang="en-US" sz="975" dirty="0"/>
          </a:p>
        </p:txBody>
      </p:sp>
      <p:sp>
        <p:nvSpPr>
          <p:cNvPr id="26" name="Text 23"/>
          <p:cNvSpPr/>
          <p:nvPr/>
        </p:nvSpPr>
        <p:spPr>
          <a:xfrm>
            <a:off x="1039564" y="4725888"/>
            <a:ext cx="6325999" cy="198983"/>
          </a:xfrm>
          <a:prstGeom prst="rect">
            <a:avLst/>
          </a:prstGeom>
          <a:noFill/>
          <a:ln/>
        </p:spPr>
        <p:txBody>
          <a:bodyPr wrap="square" lIns="25400" tIns="25400" rIns="25400" bIns="25400" rtlCol="0" anchor="t">
            <a:normAutofit/>
          </a:bodyPr>
          <a:lstStyle/>
          <a:p>
            <a:pPr algn="l" indent="0" marL="0">
              <a:lnSpc>
                <a:spcPct val="130000"/>
              </a:lnSpc>
              <a:buNone/>
            </a:pPr>
            <a:r>
              <a:rPr lang="en-US" sz="975" b="1" spc="5" kern="0" dirty="0">
                <a:solidFill>
                  <a:srgbClr val="1B1C16"/>
                </a:solidFill>
                <a:latin typeface="Hanken Grotesk" pitchFamily="34" charset="0"/>
                <a:ea typeface="Hanken Grotesk" pitchFamily="34" charset="-122"/>
                <a:cs typeface="Hanken Grotesk" pitchFamily="34" charset="-120"/>
              </a:rPr>
              <a:t>Capacity to repay. </a:t>
            </a:r>
            <a:pPr algn="l" indent="0" marL="0">
              <a:lnSpc>
                <a:spcPct val="130000"/>
              </a:lnSpc>
              <a:buNone/>
            </a:pPr>
            <a:r>
              <a:rPr lang="en-US" sz="975" spc="5" kern="0" dirty="0">
                <a:solidFill>
                  <a:srgbClr val="5C5A50"/>
                </a:solidFill>
                <a:latin typeface="Hanken Grotesk" pitchFamily="34" charset="0"/>
                <a:ea typeface="Hanken Grotesk" pitchFamily="34" charset="-122"/>
                <a:cs typeface="Hanken Grotesk" pitchFamily="34" charset="-120"/>
              </a:rPr>
              <a:t>Approved subject to our credit assessment and the customer's capacity to repay.</a:t>
            </a:r>
            <a:endParaRPr lang="en-US" sz="975" dirty="0"/>
          </a:p>
        </p:txBody>
      </p:sp>
      <p:sp>
        <p:nvSpPr>
          <p:cNvPr id="27" name="Text 24"/>
          <p:cNvSpPr/>
          <p:nvPr/>
        </p:nvSpPr>
        <p:spPr>
          <a:xfrm>
            <a:off x="1039564" y="4991546"/>
            <a:ext cx="6325999" cy="198983"/>
          </a:xfrm>
          <a:prstGeom prst="rect">
            <a:avLst/>
          </a:prstGeom>
          <a:noFill/>
          <a:ln/>
        </p:spPr>
        <p:txBody>
          <a:bodyPr wrap="square" lIns="25400" tIns="25400" rIns="25400" bIns="25400" rtlCol="0" anchor="t">
            <a:normAutofit/>
          </a:bodyPr>
          <a:lstStyle/>
          <a:p>
            <a:pPr algn="l" indent="0" marL="0">
              <a:lnSpc>
                <a:spcPct val="130000"/>
              </a:lnSpc>
              <a:buNone/>
            </a:pPr>
            <a:r>
              <a:rPr lang="en-US" sz="975" b="1" spc="5" kern="0" dirty="0">
                <a:solidFill>
                  <a:srgbClr val="1B1C16"/>
                </a:solidFill>
                <a:latin typeface="Hanken Grotesk" pitchFamily="34" charset="0"/>
                <a:ea typeface="Hanken Grotesk" pitchFamily="34" charset="-122"/>
                <a:cs typeface="Hanken Grotesk" pitchFamily="34" charset="-120"/>
              </a:rPr>
              <a:t>$5,000 to $175,000. </a:t>
            </a:r>
            <a:pPr algn="l" indent="0" marL="0">
              <a:lnSpc>
                <a:spcPct val="130000"/>
              </a:lnSpc>
              <a:buNone/>
            </a:pPr>
            <a:r>
              <a:rPr lang="en-US" sz="975" spc="5" kern="0" dirty="0">
                <a:solidFill>
                  <a:srgbClr val="5C5A50"/>
                </a:solidFill>
                <a:latin typeface="Hanken Grotesk" pitchFamily="34" charset="0"/>
                <a:ea typeface="Hanken Grotesk" pitchFamily="34" charset="-122"/>
                <a:cs typeface="Hanken Grotesk" pitchFamily="34" charset="-120"/>
              </a:rPr>
              <a:t>Within the product's secured, fixed-term range.</a:t>
            </a:r>
            <a:endParaRPr lang="en-US" sz="975" dirty="0"/>
          </a:p>
        </p:txBody>
      </p:sp>
      <p:sp>
        <p:nvSpPr>
          <p:cNvPr id="28" name="Text 25"/>
          <p:cNvSpPr/>
          <p:nvPr/>
        </p:nvSpPr>
        <p:spPr>
          <a:xfrm>
            <a:off x="1039564" y="5257205"/>
            <a:ext cx="6325999" cy="198983"/>
          </a:xfrm>
          <a:prstGeom prst="rect">
            <a:avLst/>
          </a:prstGeom>
          <a:noFill/>
          <a:ln/>
        </p:spPr>
        <p:txBody>
          <a:bodyPr wrap="square" lIns="25400" tIns="25400" rIns="25400" bIns="25400" rtlCol="0" anchor="t">
            <a:normAutofit/>
          </a:bodyPr>
          <a:lstStyle/>
          <a:p>
            <a:pPr algn="l" indent="0" marL="0">
              <a:lnSpc>
                <a:spcPct val="130000"/>
              </a:lnSpc>
              <a:buNone/>
            </a:pPr>
            <a:r>
              <a:rPr lang="en-US" sz="975" b="1" spc="5" kern="0" dirty="0">
                <a:solidFill>
                  <a:srgbClr val="1B1C16"/>
                </a:solidFill>
                <a:latin typeface="Hanken Grotesk" pitchFamily="34" charset="0"/>
                <a:ea typeface="Hanken Grotesk" pitchFamily="34" charset="-122"/>
                <a:cs typeface="Hanken Grotesk" pitchFamily="34" charset="-120"/>
              </a:rPr>
              <a:t>Suitable purpose. </a:t>
            </a:r>
            <a:pPr algn="l" indent="0" marL="0">
              <a:lnSpc>
                <a:spcPct val="130000"/>
              </a:lnSpc>
              <a:buNone/>
            </a:pPr>
            <a:r>
              <a:rPr lang="en-US" sz="975" spc="5" kern="0" dirty="0">
                <a:solidFill>
                  <a:srgbClr val="5C5A50"/>
                </a:solidFill>
                <a:latin typeface="Hanken Grotesk" pitchFamily="34" charset="0"/>
                <a:ea typeface="Hanken Grotesk" pitchFamily="34" charset="-122"/>
                <a:cs typeface="Hanken Grotesk" pitchFamily="34" charset="-120"/>
              </a:rPr>
              <a:t>A property-improvement project that adds value.</a:t>
            </a:r>
            <a:endParaRPr lang="en-US" sz="975" dirty="0"/>
          </a:p>
        </p:txBody>
      </p:sp>
      <p:sp>
        <p:nvSpPr>
          <p:cNvPr id="29" name="Text 26"/>
          <p:cNvSpPr/>
          <p:nvPr/>
        </p:nvSpPr>
        <p:spPr>
          <a:xfrm>
            <a:off x="791914" y="5551438"/>
            <a:ext cx="4570890" cy="359866"/>
          </a:xfrm>
          <a:prstGeom prst="rect">
            <a:avLst/>
          </a:prstGeom>
          <a:noFill/>
          <a:ln/>
        </p:spPr>
        <p:txBody>
          <a:bodyPr wrap="square" lIns="25400" tIns="25400" rIns="25400" bIns="25400" rtlCol="0" anchor="t">
            <a:normAutofit/>
          </a:bodyPr>
          <a:lstStyle/>
          <a:p>
            <a:pPr algn="l" indent="0" marL="0">
              <a:lnSpc>
                <a:spcPct val="130000"/>
              </a:lnSpc>
              <a:buNone/>
            </a:pPr>
            <a:r>
              <a:rPr lang="en-US" sz="975" spc="5" kern="0" dirty="0">
                <a:solidFill>
                  <a:srgbClr val="5C5A50"/>
                </a:solidFill>
                <a:latin typeface="Hanken Grotesk" pitchFamily="34" charset="0"/>
                <a:ea typeface="Hanken Grotesk" pitchFamily="34" charset="-122"/>
                <a:cs typeface="Hanken Grotesk" pitchFamily="34" charset="-120"/>
              </a:rPr>
              <a:t>An eligibility check gives the customer an instant indication with </a:t>
            </a:r>
            <a:pPr algn="l" indent="0" marL="0">
              <a:lnSpc>
                <a:spcPct val="130000"/>
              </a:lnSpc>
              <a:buNone/>
            </a:pPr>
            <a:r>
              <a:rPr lang="en-US" sz="975" b="1" spc="5" kern="0" dirty="0">
                <a:solidFill>
                  <a:srgbClr val="1B1C16"/>
                </a:solidFill>
                <a:latin typeface="Hanken Grotesk" pitchFamily="34" charset="0"/>
                <a:ea typeface="Hanken Grotesk" pitchFamily="34" charset="-122"/>
                <a:cs typeface="Hanken Grotesk" pitchFamily="34" charset="-120"/>
              </a:rPr>
              <a:t>no impact on their credit file </a:t>
            </a:r>
            <a:pPr algn="l" indent="0" marL="0">
              <a:lnSpc>
                <a:spcPct val="130000"/>
              </a:lnSpc>
              <a:buNone/>
            </a:pPr>
            <a:r>
              <a:rPr lang="en-US" sz="975" spc="5" kern="0" dirty="0">
                <a:solidFill>
                  <a:srgbClr val="5C5A50"/>
                </a:solidFill>
                <a:latin typeface="Hanken Grotesk" pitchFamily="34" charset="0"/>
                <a:ea typeface="Hanken Grotesk" pitchFamily="34" charset="-122"/>
                <a:cs typeface="Hanken Grotesk" pitchFamily="34" charset="-120"/>
              </a:rPr>
              <a:t>. A full credit assessment is completed at application.</a:t>
            </a:r>
            <a:endParaRPr lang="en-US" sz="975" dirty="0"/>
          </a:p>
        </p:txBody>
      </p:sp>
      <p:sp>
        <p:nvSpPr>
          <p:cNvPr id="30" name="Text 27"/>
          <p:cNvSpPr/>
          <p:nvPr/>
        </p:nvSpPr>
        <p:spPr>
          <a:xfrm>
            <a:off x="791914" y="6254204"/>
            <a:ext cx="6573649" cy="161925"/>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B6873A"/>
                </a:solidFill>
                <a:latin typeface="Courier New" pitchFamily="34" charset="0"/>
                <a:ea typeface="Courier New" pitchFamily="34" charset="-122"/>
                <a:cs typeface="Courier New" pitchFamily="34" charset="-120"/>
              </a:rPr>
              <a:t>HOW IT WORKS: FOR THE CUSTOMER</a:t>
            </a:r>
            <a:endParaRPr lang="en-US" sz="825" dirty="0"/>
          </a:p>
        </p:txBody>
      </p:sp>
      <p:sp>
        <p:nvSpPr>
          <p:cNvPr id="31" name="Shape 28"/>
          <p:cNvSpPr/>
          <p:nvPr/>
        </p:nvSpPr>
        <p:spPr>
          <a:xfrm>
            <a:off x="791914" y="6511379"/>
            <a:ext cx="438150" cy="438150"/>
          </a:xfrm>
          <a:prstGeom prst="ellipse">
            <a:avLst/>
          </a:prstGeom>
          <a:solidFill>
            <a:srgbClr val="F3EEE2"/>
          </a:solidFill>
          <a:ln w="9525">
            <a:solidFill>
              <a:srgbClr val="B6873A">
                <a:alpha val="60000"/>
              </a:srgbClr>
            </a:solidFill>
            <a:prstDash val="solid"/>
          </a:ln>
        </p:spPr>
      </p:sp>
      <p:sp>
        <p:nvSpPr>
          <p:cNvPr id="32" name="Text 29"/>
          <p:cNvSpPr/>
          <p:nvPr/>
        </p:nvSpPr>
        <p:spPr>
          <a:xfrm>
            <a:off x="763339" y="6520904"/>
            <a:ext cx="495300" cy="457200"/>
          </a:xfrm>
          <a:prstGeom prst="rect">
            <a:avLst/>
          </a:prstGeom>
          <a:noFill/>
          <a:ln/>
        </p:spPr>
        <p:txBody>
          <a:bodyPr wrap="square" lIns="25400" tIns="25400" rIns="25400" bIns="25400" rtlCol="0" anchor="ctr">
            <a:normAutofit/>
          </a:bodyPr>
          <a:lstStyle/>
          <a:p>
            <a:pPr algn="ctr" indent="0" marL="0">
              <a:buNone/>
            </a:pPr>
            <a:r>
              <a:rPr lang="en-US" sz="1125" spc="5" kern="0" dirty="0">
                <a:solidFill>
                  <a:srgbClr val="B6873A"/>
                </a:solidFill>
                <a:latin typeface="Courier New" pitchFamily="34" charset="0"/>
                <a:ea typeface="Courier New" pitchFamily="34" charset="-122"/>
                <a:cs typeface="Courier New" pitchFamily="34" charset="-120"/>
              </a:rPr>
              <a:t>1</a:t>
            </a:r>
            <a:endParaRPr lang="en-US" sz="1125" dirty="0"/>
          </a:p>
        </p:txBody>
      </p:sp>
      <p:sp>
        <p:nvSpPr>
          <p:cNvPr id="33" name="Text 30"/>
          <p:cNvSpPr/>
          <p:nvPr/>
        </p:nvSpPr>
        <p:spPr>
          <a:xfrm>
            <a:off x="1553914" y="6644729"/>
            <a:ext cx="2483168" cy="205680"/>
          </a:xfrm>
          <a:prstGeom prst="rect">
            <a:avLst/>
          </a:prstGeom>
          <a:noFill/>
          <a:ln/>
        </p:spPr>
        <p:txBody>
          <a:bodyPr wrap="square" lIns="25400" tIns="25400" rIns="25400" bIns="25400" rtlCol="0" anchor="t">
            <a:normAutofit/>
          </a:bodyPr>
          <a:lstStyle/>
          <a:p>
            <a:pPr algn="l" indent="0" marL="0">
              <a:lnSpc>
                <a:spcPct val="110000"/>
              </a:lnSpc>
              <a:buNone/>
            </a:pPr>
            <a:r>
              <a:rPr lang="en-US" sz="1200" spc="-18" kern="0" dirty="0">
                <a:solidFill>
                  <a:srgbClr val="1B1C16"/>
                </a:solidFill>
                <a:latin typeface="Fraunces" pitchFamily="34" charset="0"/>
                <a:ea typeface="Fraunces" pitchFamily="34" charset="-122"/>
                <a:cs typeface="Fraunces" pitchFamily="34" charset="-120"/>
              </a:rPr>
              <a:t>Check eligibility</a:t>
            </a:r>
            <a:endParaRPr lang="en-US" sz="1200" dirty="0"/>
          </a:p>
        </p:txBody>
      </p:sp>
      <p:sp>
        <p:nvSpPr>
          <p:cNvPr id="34" name="Text 31"/>
          <p:cNvSpPr/>
          <p:nvPr/>
        </p:nvSpPr>
        <p:spPr>
          <a:xfrm>
            <a:off x="4058989" y="6644729"/>
            <a:ext cx="2790239" cy="335161"/>
          </a:xfrm>
          <a:prstGeom prst="rect">
            <a:avLst/>
          </a:prstGeom>
          <a:noFill/>
          <a:ln/>
        </p:spPr>
        <p:txBody>
          <a:bodyPr wrap="square" lIns="25400" tIns="25400" rIns="25400" bIns="25400" rtlCol="0" anchor="t">
            <a:normAutofit/>
          </a:bodyPr>
          <a:lstStyle/>
          <a:p>
            <a:pPr algn="l" indent="0" marL="0">
              <a:lnSpc>
                <a:spcPct val="130000"/>
              </a:lnSpc>
              <a:buNone/>
            </a:pPr>
            <a:r>
              <a:rPr lang="en-US" sz="900" spc="5" kern="0" dirty="0">
                <a:solidFill>
                  <a:srgbClr val="5C5A50"/>
                </a:solidFill>
                <a:latin typeface="Hanken Grotesk" pitchFamily="34" charset="0"/>
                <a:ea typeface="Hanken Grotesk" pitchFamily="34" charset="-122"/>
                <a:cs typeface="Hanken Grotesk" pitchFamily="34" charset="-120"/>
              </a:rPr>
              <a:t>An instant indication online in less than 5 minutes, with no credit-file impact.</a:t>
            </a:r>
            <a:endParaRPr lang="en-US" sz="900" dirty="0"/>
          </a:p>
        </p:txBody>
      </p:sp>
      <p:sp>
        <p:nvSpPr>
          <p:cNvPr id="35" name="Shape 32"/>
          <p:cNvSpPr/>
          <p:nvPr/>
        </p:nvSpPr>
        <p:spPr>
          <a:xfrm>
            <a:off x="791914" y="7292429"/>
            <a:ext cx="438150" cy="438150"/>
          </a:xfrm>
          <a:prstGeom prst="ellipse">
            <a:avLst/>
          </a:prstGeom>
          <a:solidFill>
            <a:srgbClr val="F3EEE2"/>
          </a:solidFill>
          <a:ln w="9525">
            <a:solidFill>
              <a:srgbClr val="B6873A">
                <a:alpha val="60000"/>
              </a:srgbClr>
            </a:solidFill>
            <a:prstDash val="solid"/>
          </a:ln>
        </p:spPr>
      </p:sp>
      <p:sp>
        <p:nvSpPr>
          <p:cNvPr id="36" name="Text 33"/>
          <p:cNvSpPr/>
          <p:nvPr/>
        </p:nvSpPr>
        <p:spPr>
          <a:xfrm>
            <a:off x="763339" y="7301954"/>
            <a:ext cx="495300" cy="457200"/>
          </a:xfrm>
          <a:prstGeom prst="rect">
            <a:avLst/>
          </a:prstGeom>
          <a:noFill/>
          <a:ln/>
        </p:spPr>
        <p:txBody>
          <a:bodyPr wrap="square" lIns="25400" tIns="25400" rIns="25400" bIns="25400" rtlCol="0" anchor="ctr">
            <a:normAutofit/>
          </a:bodyPr>
          <a:lstStyle/>
          <a:p>
            <a:pPr algn="ctr" indent="0" marL="0">
              <a:buNone/>
            </a:pPr>
            <a:r>
              <a:rPr lang="en-US" sz="1125" spc="5" kern="0" dirty="0">
                <a:solidFill>
                  <a:srgbClr val="B6873A"/>
                </a:solidFill>
                <a:latin typeface="Courier New" pitchFamily="34" charset="0"/>
                <a:ea typeface="Courier New" pitchFamily="34" charset="-122"/>
                <a:cs typeface="Courier New" pitchFamily="34" charset="-120"/>
              </a:rPr>
              <a:t>2</a:t>
            </a:r>
            <a:endParaRPr lang="en-US" sz="1125" dirty="0"/>
          </a:p>
        </p:txBody>
      </p:sp>
      <p:sp>
        <p:nvSpPr>
          <p:cNvPr id="37" name="Text 34"/>
          <p:cNvSpPr/>
          <p:nvPr/>
        </p:nvSpPr>
        <p:spPr>
          <a:xfrm>
            <a:off x="1553914" y="7425779"/>
            <a:ext cx="2483168" cy="205680"/>
          </a:xfrm>
          <a:prstGeom prst="rect">
            <a:avLst/>
          </a:prstGeom>
          <a:noFill/>
          <a:ln/>
        </p:spPr>
        <p:txBody>
          <a:bodyPr wrap="square" lIns="25400" tIns="25400" rIns="25400" bIns="25400" rtlCol="0" anchor="t">
            <a:normAutofit/>
          </a:bodyPr>
          <a:lstStyle/>
          <a:p>
            <a:pPr algn="l" indent="0" marL="0">
              <a:lnSpc>
                <a:spcPct val="110000"/>
              </a:lnSpc>
              <a:buNone/>
            </a:pPr>
            <a:r>
              <a:rPr lang="en-US" sz="1200" spc="-18" kern="0" dirty="0">
                <a:solidFill>
                  <a:srgbClr val="1B1C16"/>
                </a:solidFill>
                <a:latin typeface="Fraunces" pitchFamily="34" charset="0"/>
                <a:ea typeface="Fraunces" pitchFamily="34" charset="-122"/>
                <a:cs typeface="Fraunces" pitchFamily="34" charset="-120"/>
              </a:rPr>
              <a:t>Apply in less than 5 minutes</a:t>
            </a:r>
            <a:endParaRPr lang="en-US" sz="1200" dirty="0"/>
          </a:p>
        </p:txBody>
      </p:sp>
      <p:sp>
        <p:nvSpPr>
          <p:cNvPr id="38" name="Text 35"/>
          <p:cNvSpPr/>
          <p:nvPr/>
        </p:nvSpPr>
        <p:spPr>
          <a:xfrm>
            <a:off x="4058989" y="7425779"/>
            <a:ext cx="2790239" cy="335161"/>
          </a:xfrm>
          <a:prstGeom prst="rect">
            <a:avLst/>
          </a:prstGeom>
          <a:noFill/>
          <a:ln/>
        </p:spPr>
        <p:txBody>
          <a:bodyPr wrap="square" lIns="25400" tIns="25400" rIns="25400" bIns="25400" rtlCol="0" anchor="t">
            <a:normAutofit/>
          </a:bodyPr>
          <a:lstStyle/>
          <a:p>
            <a:pPr algn="l" indent="0" marL="0">
              <a:lnSpc>
                <a:spcPct val="130000"/>
              </a:lnSpc>
              <a:buNone/>
            </a:pPr>
            <a:r>
              <a:rPr lang="en-US" sz="900" spc="5" kern="0" dirty="0">
                <a:solidFill>
                  <a:srgbClr val="5C5A50"/>
                </a:solidFill>
                <a:latin typeface="Hanken Grotesk" pitchFamily="34" charset="0"/>
                <a:ea typeface="Hanken Grotesk" pitchFamily="34" charset="-122"/>
                <a:cs typeface="Hanken Grotesk" pitchFamily="34" charset="-120"/>
              </a:rPr>
              <a:t>A full application with the supporting details we need to assess.</a:t>
            </a:r>
            <a:endParaRPr lang="en-US" sz="900" dirty="0"/>
          </a:p>
        </p:txBody>
      </p:sp>
      <p:sp>
        <p:nvSpPr>
          <p:cNvPr id="39" name="Shape 36"/>
          <p:cNvSpPr/>
          <p:nvPr/>
        </p:nvSpPr>
        <p:spPr>
          <a:xfrm>
            <a:off x="791914" y="8035379"/>
            <a:ext cx="438150" cy="438150"/>
          </a:xfrm>
          <a:prstGeom prst="ellipse">
            <a:avLst/>
          </a:prstGeom>
          <a:solidFill>
            <a:srgbClr val="F3EEE2"/>
          </a:solidFill>
          <a:ln w="9525">
            <a:solidFill>
              <a:srgbClr val="B6873A">
                <a:alpha val="60000"/>
              </a:srgbClr>
            </a:solidFill>
            <a:prstDash val="solid"/>
          </a:ln>
        </p:spPr>
      </p:sp>
      <p:sp>
        <p:nvSpPr>
          <p:cNvPr id="40" name="Text 37"/>
          <p:cNvSpPr/>
          <p:nvPr/>
        </p:nvSpPr>
        <p:spPr>
          <a:xfrm>
            <a:off x="763339" y="8044904"/>
            <a:ext cx="495300" cy="457200"/>
          </a:xfrm>
          <a:prstGeom prst="rect">
            <a:avLst/>
          </a:prstGeom>
          <a:noFill/>
          <a:ln/>
        </p:spPr>
        <p:txBody>
          <a:bodyPr wrap="square" lIns="25400" tIns="25400" rIns="25400" bIns="25400" rtlCol="0" anchor="ctr">
            <a:normAutofit/>
          </a:bodyPr>
          <a:lstStyle/>
          <a:p>
            <a:pPr algn="ctr" indent="0" marL="0">
              <a:buNone/>
            </a:pPr>
            <a:r>
              <a:rPr lang="en-US" sz="1125" spc="5" kern="0" dirty="0">
                <a:solidFill>
                  <a:srgbClr val="B6873A"/>
                </a:solidFill>
                <a:latin typeface="Courier New" pitchFamily="34" charset="0"/>
                <a:ea typeface="Courier New" pitchFamily="34" charset="-122"/>
                <a:cs typeface="Courier New" pitchFamily="34" charset="-120"/>
              </a:rPr>
              <a:t>3</a:t>
            </a:r>
            <a:endParaRPr lang="en-US" sz="1125" dirty="0"/>
          </a:p>
        </p:txBody>
      </p:sp>
      <p:sp>
        <p:nvSpPr>
          <p:cNvPr id="41" name="Text 38"/>
          <p:cNvSpPr/>
          <p:nvPr/>
        </p:nvSpPr>
        <p:spPr>
          <a:xfrm>
            <a:off x="1553914" y="8168729"/>
            <a:ext cx="2483168" cy="205680"/>
          </a:xfrm>
          <a:prstGeom prst="rect">
            <a:avLst/>
          </a:prstGeom>
          <a:noFill/>
          <a:ln/>
        </p:spPr>
        <p:txBody>
          <a:bodyPr wrap="square" lIns="25400" tIns="25400" rIns="25400" bIns="25400" rtlCol="0" anchor="t">
            <a:normAutofit/>
          </a:bodyPr>
          <a:lstStyle/>
          <a:p>
            <a:pPr algn="l" indent="0" marL="0">
              <a:lnSpc>
                <a:spcPct val="110000"/>
              </a:lnSpc>
              <a:buNone/>
            </a:pPr>
            <a:r>
              <a:rPr lang="en-US" sz="1200" spc="-18" kern="0" dirty="0">
                <a:solidFill>
                  <a:srgbClr val="1B1C16"/>
                </a:solidFill>
                <a:latin typeface="Fraunces" pitchFamily="34" charset="0"/>
                <a:ea typeface="Fraunces" pitchFamily="34" charset="-122"/>
                <a:cs typeface="Fraunces" pitchFamily="34" charset="-120"/>
              </a:rPr>
              <a:t>Assessment &amp; valuation</a:t>
            </a:r>
            <a:endParaRPr lang="en-US" sz="1200" dirty="0"/>
          </a:p>
        </p:txBody>
      </p:sp>
      <p:sp>
        <p:nvSpPr>
          <p:cNvPr id="42" name="Text 39"/>
          <p:cNvSpPr/>
          <p:nvPr/>
        </p:nvSpPr>
        <p:spPr>
          <a:xfrm>
            <a:off x="4058989" y="8168729"/>
            <a:ext cx="2790239" cy="335161"/>
          </a:xfrm>
          <a:prstGeom prst="rect">
            <a:avLst/>
          </a:prstGeom>
          <a:noFill/>
          <a:ln/>
        </p:spPr>
        <p:txBody>
          <a:bodyPr wrap="square" lIns="25400" tIns="25400" rIns="25400" bIns="25400" rtlCol="0" anchor="t">
            <a:normAutofit/>
          </a:bodyPr>
          <a:lstStyle/>
          <a:p>
            <a:pPr algn="l" indent="0" marL="0">
              <a:lnSpc>
                <a:spcPct val="130000"/>
              </a:lnSpc>
              <a:buNone/>
            </a:pPr>
            <a:r>
              <a:rPr lang="en-US" sz="900" spc="5" kern="0" dirty="0">
                <a:solidFill>
                  <a:srgbClr val="5C5A50"/>
                </a:solidFill>
                <a:latin typeface="Hanken Grotesk" pitchFamily="34" charset="0"/>
                <a:ea typeface="Hanken Grotesk" pitchFamily="34" charset="-122"/>
                <a:cs typeface="Hanken Grotesk" pitchFamily="34" charset="-120"/>
              </a:rPr>
              <a:t>We complete responsible-lending checks and confirm the security.</a:t>
            </a:r>
            <a:endParaRPr lang="en-US" sz="900" dirty="0"/>
          </a:p>
        </p:txBody>
      </p:sp>
      <p:sp>
        <p:nvSpPr>
          <p:cNvPr id="43" name="Shape 40"/>
          <p:cNvSpPr/>
          <p:nvPr/>
        </p:nvSpPr>
        <p:spPr>
          <a:xfrm>
            <a:off x="791914" y="8778329"/>
            <a:ext cx="438150" cy="438150"/>
          </a:xfrm>
          <a:prstGeom prst="ellipse">
            <a:avLst/>
          </a:prstGeom>
          <a:solidFill>
            <a:srgbClr val="F3EEE2"/>
          </a:solidFill>
          <a:ln w="9525">
            <a:solidFill>
              <a:srgbClr val="B6873A">
                <a:alpha val="60000"/>
              </a:srgbClr>
            </a:solidFill>
            <a:prstDash val="solid"/>
          </a:ln>
        </p:spPr>
      </p:sp>
      <p:sp>
        <p:nvSpPr>
          <p:cNvPr id="44" name="Text 41"/>
          <p:cNvSpPr/>
          <p:nvPr/>
        </p:nvSpPr>
        <p:spPr>
          <a:xfrm>
            <a:off x="763339" y="8787854"/>
            <a:ext cx="495300" cy="457200"/>
          </a:xfrm>
          <a:prstGeom prst="rect">
            <a:avLst/>
          </a:prstGeom>
          <a:noFill/>
          <a:ln/>
        </p:spPr>
        <p:txBody>
          <a:bodyPr wrap="square" lIns="25400" tIns="25400" rIns="25400" bIns="25400" rtlCol="0" anchor="ctr">
            <a:normAutofit/>
          </a:bodyPr>
          <a:lstStyle/>
          <a:p>
            <a:pPr algn="ctr" indent="0" marL="0">
              <a:buNone/>
            </a:pPr>
            <a:r>
              <a:rPr lang="en-US" sz="1125" spc="5" kern="0" dirty="0">
                <a:solidFill>
                  <a:srgbClr val="B6873A"/>
                </a:solidFill>
                <a:latin typeface="Courier New" pitchFamily="34" charset="0"/>
                <a:ea typeface="Courier New" pitchFamily="34" charset="-122"/>
                <a:cs typeface="Courier New" pitchFamily="34" charset="-120"/>
              </a:rPr>
              <a:t>4</a:t>
            </a:r>
            <a:endParaRPr lang="en-US" sz="1125" dirty="0"/>
          </a:p>
        </p:txBody>
      </p:sp>
      <p:sp>
        <p:nvSpPr>
          <p:cNvPr id="45" name="Text 42"/>
          <p:cNvSpPr/>
          <p:nvPr/>
        </p:nvSpPr>
        <p:spPr>
          <a:xfrm>
            <a:off x="1553914" y="8911679"/>
            <a:ext cx="2483168" cy="205680"/>
          </a:xfrm>
          <a:prstGeom prst="rect">
            <a:avLst/>
          </a:prstGeom>
          <a:noFill/>
          <a:ln/>
        </p:spPr>
        <p:txBody>
          <a:bodyPr wrap="square" lIns="25400" tIns="25400" rIns="25400" bIns="25400" rtlCol="0" anchor="t">
            <a:normAutofit/>
          </a:bodyPr>
          <a:lstStyle/>
          <a:p>
            <a:pPr algn="l" indent="0" marL="0">
              <a:lnSpc>
                <a:spcPct val="110000"/>
              </a:lnSpc>
              <a:buNone/>
            </a:pPr>
            <a:r>
              <a:rPr lang="en-US" sz="1200" spc="-18" kern="0" dirty="0">
                <a:solidFill>
                  <a:srgbClr val="1B1C16"/>
                </a:solidFill>
                <a:latin typeface="Fraunces" pitchFamily="34" charset="0"/>
                <a:ea typeface="Fraunces" pitchFamily="34" charset="-122"/>
                <a:cs typeface="Fraunces" pitchFamily="34" charset="-120"/>
              </a:rPr>
              <a:t>Settle &amp; start</a:t>
            </a:r>
            <a:endParaRPr lang="en-US" sz="1200" dirty="0"/>
          </a:p>
        </p:txBody>
      </p:sp>
      <p:sp>
        <p:nvSpPr>
          <p:cNvPr id="46" name="Text 43"/>
          <p:cNvSpPr/>
          <p:nvPr/>
        </p:nvSpPr>
        <p:spPr>
          <a:xfrm>
            <a:off x="4058989" y="8911679"/>
            <a:ext cx="2790239" cy="335161"/>
          </a:xfrm>
          <a:prstGeom prst="rect">
            <a:avLst/>
          </a:prstGeom>
          <a:noFill/>
          <a:ln/>
        </p:spPr>
        <p:txBody>
          <a:bodyPr wrap="square" lIns="25400" tIns="25400" rIns="25400" bIns="25400" rtlCol="0" anchor="t">
            <a:normAutofit/>
          </a:bodyPr>
          <a:lstStyle/>
          <a:p>
            <a:pPr algn="l" indent="0" marL="0">
              <a:lnSpc>
                <a:spcPct val="130000"/>
              </a:lnSpc>
              <a:buNone/>
            </a:pPr>
            <a:r>
              <a:rPr lang="en-US" sz="900" spc="5" kern="0" dirty="0">
                <a:solidFill>
                  <a:srgbClr val="5C5A50"/>
                </a:solidFill>
                <a:latin typeface="Hanken Grotesk" pitchFamily="34" charset="0"/>
                <a:ea typeface="Hanken Grotesk" pitchFamily="34" charset="-122"/>
                <a:cs typeface="Hanken Grotesk" pitchFamily="34" charset="-120"/>
              </a:rPr>
              <a:t>The loan settles, funds are available and repayments begin.</a:t>
            </a:r>
            <a:endParaRPr lang="en-US" sz="900" dirty="0"/>
          </a:p>
        </p:txBody>
      </p:sp>
      <p:sp>
        <p:nvSpPr>
          <p:cNvPr id="47" name="Text 44"/>
          <p:cNvSpPr/>
          <p:nvPr/>
        </p:nvSpPr>
        <p:spPr>
          <a:xfrm>
            <a:off x="791914" y="9454604"/>
            <a:ext cx="4881533" cy="198983"/>
          </a:xfrm>
          <a:prstGeom prst="rect">
            <a:avLst/>
          </a:prstGeom>
          <a:noFill/>
          <a:ln/>
        </p:spPr>
        <p:txBody>
          <a:bodyPr wrap="square" lIns="25400" tIns="25400" rIns="25400" bIns="25400" rtlCol="0" anchor="t">
            <a:normAutofit/>
          </a:bodyPr>
          <a:lstStyle/>
          <a:p>
            <a:pPr algn="l" indent="0" marL="0">
              <a:lnSpc>
                <a:spcPct val="130000"/>
              </a:lnSpc>
              <a:buNone/>
            </a:pPr>
            <a:r>
              <a:rPr lang="en-US" sz="975" spc="5" kern="0" dirty="0">
                <a:solidFill>
                  <a:srgbClr val="5C5A50"/>
                </a:solidFill>
                <a:latin typeface="Hanken Grotesk" pitchFamily="34" charset="0"/>
                <a:ea typeface="Hanken Grotesk" pitchFamily="34" charset="-122"/>
                <a:cs typeface="Hanken Grotesk" pitchFamily="34" charset="-120"/>
              </a:rPr>
              <a:t>Australian based support staff are on-call every step of the way.</a:t>
            </a:r>
            <a:endParaRPr lang="en-US" sz="975" dirty="0"/>
          </a:p>
        </p:txBody>
      </p:sp>
      <p:sp>
        <p:nvSpPr>
          <p:cNvPr id="48" name="Shape 45"/>
          <p:cNvSpPr/>
          <p:nvPr/>
        </p:nvSpPr>
        <p:spPr>
          <a:xfrm>
            <a:off x="791914" y="9978479"/>
            <a:ext cx="5976045" cy="9525"/>
          </a:xfrm>
          <a:prstGeom prst="rect">
            <a:avLst/>
          </a:prstGeom>
          <a:solidFill>
            <a:srgbClr val="1B1C16">
              <a:alpha val="12000"/>
            </a:srgbClr>
          </a:solidFill>
          <a:ln/>
        </p:spPr>
      </p:sp>
      <p:sp>
        <p:nvSpPr>
          <p:cNvPr id="49" name="Text 46"/>
          <p:cNvSpPr/>
          <p:nvPr/>
        </p:nvSpPr>
        <p:spPr>
          <a:xfrm>
            <a:off x="791914" y="10083254"/>
            <a:ext cx="2393126" cy="142875"/>
          </a:xfrm>
          <a:prstGeom prst="rect">
            <a:avLst/>
          </a:prstGeom>
          <a:noFill/>
          <a:ln/>
        </p:spPr>
        <p:txBody>
          <a:bodyPr wrap="square" lIns="25400" tIns="25400" rIns="25400" bIns="25400" rtlCol="0" anchor="t">
            <a:normAutofit/>
          </a:bodyPr>
          <a:lstStyle/>
          <a:p>
            <a:pPr algn="l" indent="0" marL="0">
              <a:buNone/>
            </a:pPr>
            <a:r>
              <a:rPr lang="en-US" sz="713" spc="71" kern="0" dirty="0">
                <a:solidFill>
                  <a:srgbClr val="9A978C"/>
                </a:solidFill>
                <a:latin typeface="Courier New" pitchFamily="34" charset="0"/>
                <a:ea typeface="Courier New" pitchFamily="34" charset="-122"/>
                <a:cs typeface="Courier New" pitchFamily="34" charset="-120"/>
              </a:rPr>
              <a:t>PROPENTIAL · PARTNER INFORMATION PACK</a:t>
            </a:r>
            <a:endParaRPr lang="en-US" sz="713" dirty="0"/>
          </a:p>
        </p:txBody>
      </p:sp>
      <p:sp>
        <p:nvSpPr>
          <p:cNvPr id="50" name="Text 47"/>
          <p:cNvSpPr/>
          <p:nvPr/>
        </p:nvSpPr>
        <p:spPr>
          <a:xfrm>
            <a:off x="5062686" y="10083254"/>
            <a:ext cx="1875800" cy="142875"/>
          </a:xfrm>
          <a:prstGeom prst="rect">
            <a:avLst/>
          </a:prstGeom>
          <a:noFill/>
          <a:ln/>
        </p:spPr>
        <p:txBody>
          <a:bodyPr wrap="square" lIns="25400" tIns="25400" rIns="25400" bIns="25400" rtlCol="0" anchor="t">
            <a:normAutofit/>
          </a:bodyPr>
          <a:lstStyle/>
          <a:p>
            <a:pPr algn="l" indent="0" marL="0">
              <a:buNone/>
            </a:pPr>
            <a:r>
              <a:rPr lang="en-US" sz="713" spc="71" kern="0" dirty="0">
                <a:solidFill>
                  <a:srgbClr val="9A978C"/>
                </a:solidFill>
                <a:latin typeface="Courier New" pitchFamily="34" charset="0"/>
                <a:ea typeface="Courier New" pitchFamily="34" charset="-122"/>
                <a:cs typeface="Courier New" pitchFamily="34" charset="-120"/>
              </a:rPr>
              <a:t>COMMERCIAL-IN-CONFIDENCE · 03</a:t>
            </a:r>
            <a:endParaRPr lang="en-US" sz="713"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EE2"/>
        </a:solidFill>
      </p:bgPr>
    </p:bg>
    <p:spTree>
      <p:nvGrpSpPr>
        <p:cNvPr id="1" name=""/>
        <p:cNvGrpSpPr/>
        <p:nvPr/>
      </p:nvGrpSpPr>
      <p:grpSpPr>
        <a:xfrm>
          <a:off x="0" y="0"/>
          <a:ext cx="0" cy="0"/>
          <a:chOff x="0" y="0"/>
          <a:chExt cx="0" cy="0"/>
        </a:xfrm>
      </p:grpSpPr>
      <p:sp>
        <p:nvSpPr>
          <p:cNvPr id="2" name="Shape 0"/>
          <p:cNvSpPr/>
          <p:nvPr/>
        </p:nvSpPr>
        <p:spPr>
          <a:xfrm>
            <a:off x="0" y="0"/>
            <a:ext cx="7559873" cy="10691961"/>
          </a:xfrm>
          <a:prstGeom prst="rect">
            <a:avLst/>
          </a:prstGeom>
          <a:ln/>
          <a:effectLst>
            <a:outerShdw sx="100000" sy="100000" kx="0" ky="0" algn="bl" rotWithShape="0" blurRad="666750" dist="285750" dir="5400000">
              <a:srgbClr val="000000">
                <a:alpha val="70000"/>
              </a:srgbClr>
            </a:outerShdw>
          </a:effectLst>
        </p:spPr>
      </p:sp>
      <p:sp>
        <p:nvSpPr>
          <p:cNvPr id="3" name="Shape 1"/>
          <p:cNvSpPr/>
          <p:nvPr/>
        </p:nvSpPr>
        <p:spPr>
          <a:xfrm>
            <a:off x="791914" y="1283047"/>
            <a:ext cx="5976045" cy="9525"/>
          </a:xfrm>
          <a:prstGeom prst="rect">
            <a:avLst/>
          </a:prstGeom>
          <a:solidFill>
            <a:srgbClr val="1B1C16">
              <a:alpha val="12000"/>
            </a:srgbClr>
          </a:solidFill>
          <a:ln/>
        </p:spPr>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1914" y="863947"/>
            <a:ext cx="235744" cy="247650"/>
          </a:xfrm>
          <a:prstGeom prst="rect">
            <a:avLst/>
          </a:prstGeom>
        </p:spPr>
      </p:pic>
      <p:sp>
        <p:nvSpPr>
          <p:cNvPr id="5" name="Text 2"/>
          <p:cNvSpPr/>
          <p:nvPr/>
        </p:nvSpPr>
        <p:spPr>
          <a:xfrm>
            <a:off x="1122908" y="872579"/>
            <a:ext cx="1095673" cy="268486"/>
          </a:xfrm>
          <a:prstGeom prst="rect">
            <a:avLst/>
          </a:prstGeom>
          <a:noFill/>
          <a:ln/>
        </p:spPr>
        <p:txBody>
          <a:bodyPr wrap="square" lIns="25400" tIns="25400" rIns="25400" bIns="25400" rtlCol="0" anchor="t">
            <a:normAutofit/>
          </a:bodyPr>
          <a:lstStyle/>
          <a:p>
            <a:pPr algn="l" indent="0" marL="0">
              <a:lnSpc>
                <a:spcPct val="110000"/>
              </a:lnSpc>
              <a:buNone/>
            </a:pPr>
            <a:r>
              <a:rPr lang="en-US" sz="1650" dirty="0">
                <a:solidFill>
                  <a:srgbClr val="1B1C16"/>
                </a:solidFill>
                <a:latin typeface="Fraunces" pitchFamily="34" charset="0"/>
                <a:ea typeface="Fraunces" pitchFamily="34" charset="-122"/>
                <a:cs typeface="Fraunces" pitchFamily="34" charset="-120"/>
              </a:rPr>
              <a:t>Prop</a:t>
            </a:r>
            <a:pPr algn="l" indent="0" marL="0">
              <a:lnSpc>
                <a:spcPct val="110000"/>
              </a:lnSpc>
              <a:buNone/>
            </a:pPr>
            <a:r>
              <a:rPr lang="en-US" sz="1650" i="1" dirty="0">
                <a:solidFill>
                  <a:srgbClr val="B6873A"/>
                </a:solidFill>
                <a:latin typeface="Fraunces" pitchFamily="34" charset="0"/>
                <a:ea typeface="Fraunces" pitchFamily="34" charset="-122"/>
                <a:cs typeface="Fraunces" pitchFamily="34" charset="-120"/>
              </a:rPr>
              <a:t>ential</a:t>
            </a:r>
            <a:endParaRPr lang="en-US" sz="1650" dirty="0"/>
          </a:p>
        </p:txBody>
      </p:sp>
      <p:sp>
        <p:nvSpPr>
          <p:cNvPr id="6" name="Text 3"/>
          <p:cNvSpPr/>
          <p:nvPr/>
        </p:nvSpPr>
        <p:spPr>
          <a:xfrm>
            <a:off x="4780211" y="944910"/>
            <a:ext cx="2186523" cy="161925"/>
          </a:xfrm>
          <a:prstGeom prst="rect">
            <a:avLst/>
          </a:prstGeom>
          <a:noFill/>
          <a:ln/>
        </p:spPr>
        <p:txBody>
          <a:bodyPr wrap="square" lIns="25400" tIns="25400" rIns="25400" bIns="25400" rtlCol="0" anchor="t">
            <a:normAutofit/>
          </a:bodyPr>
          <a:lstStyle/>
          <a:p>
            <a:pPr algn="l" indent="0" marL="0">
              <a:buNone/>
            </a:pPr>
            <a:r>
              <a:rPr lang="en-US" sz="788" spc="126" kern="0" dirty="0">
                <a:solidFill>
                  <a:srgbClr val="5C5A50"/>
                </a:solidFill>
                <a:latin typeface="Courier New" pitchFamily="34" charset="0"/>
                <a:ea typeface="Courier New" pitchFamily="34" charset="-122"/>
                <a:cs typeface="Courier New" pitchFamily="34" charset="-120"/>
              </a:rPr>
              <a:t>03 · THE PARTNER PROPOSITION</a:t>
            </a:r>
            <a:endParaRPr lang="en-US" sz="788" dirty="0"/>
          </a:p>
        </p:txBody>
      </p:sp>
      <p:sp>
        <p:nvSpPr>
          <p:cNvPr id="7" name="Text 4"/>
          <p:cNvSpPr/>
          <p:nvPr/>
        </p:nvSpPr>
        <p:spPr>
          <a:xfrm>
            <a:off x="791914" y="1578322"/>
            <a:ext cx="6573649" cy="161925"/>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B6873A"/>
                </a:solidFill>
                <a:latin typeface="Courier New" pitchFamily="34" charset="0"/>
                <a:ea typeface="Courier New" pitchFamily="34" charset="-122"/>
                <a:cs typeface="Courier New" pitchFamily="34" charset="-120"/>
              </a:rPr>
              <a:t>FOR BROKERS</a:t>
            </a:r>
            <a:endParaRPr lang="en-US" sz="825" dirty="0"/>
          </a:p>
        </p:txBody>
      </p:sp>
      <p:sp>
        <p:nvSpPr>
          <p:cNvPr id="8" name="Text 5"/>
          <p:cNvSpPr/>
          <p:nvPr/>
        </p:nvSpPr>
        <p:spPr>
          <a:xfrm>
            <a:off x="791914" y="1816447"/>
            <a:ext cx="6573649" cy="415230"/>
          </a:xfrm>
          <a:prstGeom prst="rect">
            <a:avLst/>
          </a:prstGeom>
          <a:noFill/>
          <a:ln/>
        </p:spPr>
        <p:txBody>
          <a:bodyPr wrap="none" lIns="25400" tIns="25400" rIns="25400" bIns="25400" rtlCol="0" anchor="t">
            <a:normAutofit/>
          </a:bodyPr>
          <a:lstStyle/>
          <a:p>
            <a:pPr algn="l" indent="0" marL="0">
              <a:lnSpc>
                <a:spcPct val="110000"/>
              </a:lnSpc>
              <a:buNone/>
            </a:pPr>
            <a:r>
              <a:rPr lang="en-US" sz="2700" dirty="0">
                <a:solidFill>
                  <a:srgbClr val="1B1C16"/>
                </a:solidFill>
                <a:latin typeface="Fraunces" pitchFamily="34" charset="0"/>
                <a:ea typeface="Fraunces" pitchFamily="34" charset="-122"/>
                <a:cs typeface="Fraunces" pitchFamily="34" charset="-120"/>
              </a:rPr>
              <a:t>A flat commission, </a:t>
            </a:r>
            <a:pPr algn="l" indent="0" marL="0">
              <a:lnSpc>
                <a:spcPct val="110000"/>
              </a:lnSpc>
              <a:buNone/>
            </a:pPr>
            <a:r>
              <a:rPr lang="en-US" sz="2700" dirty="0">
                <a:solidFill>
                  <a:srgbClr val="B6873A"/>
                </a:solidFill>
                <a:latin typeface="Fraunces" pitchFamily="34" charset="0"/>
                <a:ea typeface="Fraunces" pitchFamily="34" charset="-122"/>
                <a:cs typeface="Fraunces" pitchFamily="34" charset="-120"/>
              </a:rPr>
              <a:t>with no claw-back.</a:t>
            </a:r>
            <a:endParaRPr lang="en-US" sz="2700" dirty="0"/>
          </a:p>
        </p:txBody>
      </p:sp>
      <p:sp>
        <p:nvSpPr>
          <p:cNvPr id="9" name="Shape 6"/>
          <p:cNvSpPr/>
          <p:nvPr/>
        </p:nvSpPr>
        <p:spPr>
          <a:xfrm>
            <a:off x="791914" y="2326928"/>
            <a:ext cx="5976045" cy="1291233"/>
          </a:xfrm>
          <a:prstGeom prst="roundRect">
            <a:avLst>
              <a:gd name="adj" fmla="val 7377"/>
            </a:avLst>
          </a:prstGeom>
          <a:solidFill>
            <a:srgbClr val="B6873A">
              <a:alpha val="5000"/>
            </a:srgbClr>
          </a:solidFill>
          <a:ln/>
        </p:spPr>
      </p:sp>
      <p:sp>
        <p:nvSpPr>
          <p:cNvPr id="10" name="Shape 7"/>
          <p:cNvSpPr/>
          <p:nvPr/>
        </p:nvSpPr>
        <p:spPr>
          <a:xfrm>
            <a:off x="791914" y="3608636"/>
            <a:ext cx="5976045" cy="9525"/>
          </a:xfrm>
          <a:prstGeom prst="rect">
            <a:avLst/>
          </a:prstGeom>
          <a:solidFill>
            <a:srgbClr val="B6873A">
              <a:alpha val="40000"/>
            </a:srgbClr>
          </a:solidFill>
          <a:ln/>
        </p:spPr>
      </p:sp>
      <p:sp>
        <p:nvSpPr>
          <p:cNvPr id="11" name="Shape 8"/>
          <p:cNvSpPr/>
          <p:nvPr/>
        </p:nvSpPr>
        <p:spPr>
          <a:xfrm>
            <a:off x="791914" y="2326928"/>
            <a:ext cx="5976045" cy="9525"/>
          </a:xfrm>
          <a:prstGeom prst="rect">
            <a:avLst/>
          </a:prstGeom>
          <a:solidFill>
            <a:srgbClr val="B6873A">
              <a:alpha val="40000"/>
            </a:srgbClr>
          </a:solidFill>
          <a:ln/>
        </p:spPr>
      </p:sp>
      <p:sp>
        <p:nvSpPr>
          <p:cNvPr id="12" name="Shape 9"/>
          <p:cNvSpPr/>
          <p:nvPr/>
        </p:nvSpPr>
        <p:spPr>
          <a:xfrm>
            <a:off x="791914" y="2326928"/>
            <a:ext cx="28575" cy="1291233"/>
          </a:xfrm>
          <a:prstGeom prst="rect">
            <a:avLst/>
          </a:prstGeom>
          <a:solidFill>
            <a:srgbClr val="B6873A"/>
          </a:solidFill>
          <a:ln/>
        </p:spPr>
      </p:sp>
      <p:sp>
        <p:nvSpPr>
          <p:cNvPr id="13" name="Shape 10"/>
          <p:cNvSpPr/>
          <p:nvPr/>
        </p:nvSpPr>
        <p:spPr>
          <a:xfrm>
            <a:off x="6758434" y="2326928"/>
            <a:ext cx="9525" cy="1291233"/>
          </a:xfrm>
          <a:prstGeom prst="rect">
            <a:avLst/>
          </a:prstGeom>
          <a:solidFill>
            <a:srgbClr val="B6873A">
              <a:alpha val="40000"/>
            </a:srgbClr>
          </a:solidFill>
          <a:ln/>
        </p:spPr>
      </p:sp>
      <p:sp>
        <p:nvSpPr>
          <p:cNvPr id="14" name="Text 11"/>
          <p:cNvSpPr/>
          <p:nvPr/>
        </p:nvSpPr>
        <p:spPr>
          <a:xfrm>
            <a:off x="1010989" y="2507903"/>
            <a:ext cx="6112639" cy="352425"/>
          </a:xfrm>
          <a:prstGeom prst="rect">
            <a:avLst/>
          </a:prstGeom>
          <a:noFill/>
          <a:ln/>
        </p:spPr>
        <p:txBody>
          <a:bodyPr wrap="square" lIns="25400" tIns="25400" rIns="25400" bIns="25400" rtlCol="0" anchor="t">
            <a:normAutofit/>
          </a:bodyPr>
          <a:lstStyle/>
          <a:p>
            <a:pPr algn="l" indent="0" marL="0">
              <a:lnSpc>
                <a:spcPct val="110000"/>
              </a:lnSpc>
              <a:buNone/>
            </a:pPr>
            <a:r>
              <a:rPr lang="en-US" sz="2250" spc="5" kern="0" dirty="0">
                <a:solidFill>
                  <a:srgbClr val="B6873A"/>
                </a:solidFill>
                <a:latin typeface="Fraunces" pitchFamily="34" charset="0"/>
                <a:ea typeface="Fraunces" pitchFamily="34" charset="-122"/>
                <a:cs typeface="Fraunces" pitchFamily="34" charset="-120"/>
              </a:rPr>
              <a:t>$</a:t>
            </a:r>
            <a:pPr algn="l" indent="0" marL="0">
              <a:lnSpc>
                <a:spcPct val="110000"/>
              </a:lnSpc>
              <a:buNone/>
            </a:pPr>
            <a:r>
              <a:rPr lang="en-US" sz="2250" spc="5" kern="0" dirty="0">
                <a:solidFill>
                  <a:srgbClr val="1B1C16"/>
                </a:solidFill>
                <a:latin typeface="Fraunces" pitchFamily="34" charset="0"/>
                <a:ea typeface="Fraunces" pitchFamily="34" charset="-122"/>
                <a:cs typeface="Fraunces" pitchFamily="34" charset="-120"/>
              </a:rPr>
              <a:t>495 </a:t>
            </a:r>
            <a:pPr algn="l" indent="0" marL="0">
              <a:lnSpc>
                <a:spcPct val="110000"/>
              </a:lnSpc>
              <a:buNone/>
            </a:pPr>
            <a:r>
              <a:rPr lang="en-US" sz="1125" spc="5" kern="0" dirty="0">
                <a:solidFill>
                  <a:srgbClr val="5C5A50"/>
                </a:solidFill>
                <a:latin typeface="Fraunces" pitchFamily="34" charset="0"/>
                <a:ea typeface="Fraunces" pitchFamily="34" charset="-122"/>
                <a:cs typeface="Fraunces" pitchFamily="34" charset="-120"/>
              </a:rPr>
              <a:t>per settlement</a:t>
            </a:r>
            <a:endParaRPr lang="en-US" sz="2250" dirty="0"/>
          </a:p>
        </p:txBody>
      </p:sp>
      <p:sp>
        <p:nvSpPr>
          <p:cNvPr id="15" name="Text 12"/>
          <p:cNvSpPr/>
          <p:nvPr/>
        </p:nvSpPr>
        <p:spPr>
          <a:xfrm>
            <a:off x="1010989" y="2917478"/>
            <a:ext cx="5723653" cy="557808"/>
          </a:xfrm>
          <a:prstGeom prst="rect">
            <a:avLst/>
          </a:prstGeom>
          <a:noFill/>
          <a:ln/>
        </p:spPr>
        <p:txBody>
          <a:bodyPr wrap="square" lIns="25400" tIns="25400" rIns="25400" bIns="25400" rtlCol="0" anchor="t">
            <a:normAutofit/>
          </a:bodyPr>
          <a:lstStyle/>
          <a:p>
            <a:pPr algn="l" indent="0" marL="0">
              <a:lnSpc>
                <a:spcPct val="130000"/>
              </a:lnSpc>
              <a:buNone/>
            </a:pPr>
            <a:r>
              <a:rPr lang="en-US" sz="1050" spc="5" kern="0" dirty="0">
                <a:solidFill>
                  <a:srgbClr val="5C5A50"/>
                </a:solidFill>
                <a:latin typeface="Hanken Grotesk" pitchFamily="34" charset="0"/>
                <a:ea typeface="Hanken Grotesk" pitchFamily="34" charset="-122"/>
                <a:cs typeface="Hanken Grotesk" pitchFamily="34" charset="-120"/>
              </a:rPr>
              <a:t>A </a:t>
            </a:r>
            <a:pPr algn="l" indent="0" marL="0">
              <a:lnSpc>
                <a:spcPct val="130000"/>
              </a:lnSpc>
              <a:buNone/>
            </a:pPr>
            <a:r>
              <a:rPr lang="en-US" sz="1050" b="1" spc="5" kern="0" dirty="0">
                <a:solidFill>
                  <a:srgbClr val="1B1C16"/>
                </a:solidFill>
                <a:latin typeface="Hanken Grotesk" pitchFamily="34" charset="0"/>
                <a:ea typeface="Hanken Grotesk" pitchFamily="34" charset="-122"/>
                <a:cs typeface="Hanken Grotesk" pitchFamily="34" charset="-120"/>
              </a:rPr>
              <a:t>once-off $495 commission </a:t>
            </a:r>
            <a:pPr algn="l" indent="0" marL="0">
              <a:lnSpc>
                <a:spcPct val="130000"/>
              </a:lnSpc>
              <a:buNone/>
            </a:pPr>
            <a:r>
              <a:rPr lang="en-US" sz="1050" spc="5" kern="0" dirty="0">
                <a:solidFill>
                  <a:srgbClr val="5C5A50"/>
                </a:solidFill>
                <a:latin typeface="Hanken Grotesk" pitchFamily="34" charset="0"/>
                <a:ea typeface="Hanken Grotesk" pitchFamily="34" charset="-122"/>
                <a:cs typeface="Hanken Grotesk" pitchFamily="34" charset="-120"/>
              </a:rPr>
              <a:t>is paid for every loan that settles. </a:t>
            </a:r>
            <a:pPr algn="l" indent="0" marL="0">
              <a:lnSpc>
                <a:spcPct val="130000"/>
              </a:lnSpc>
              <a:buNone/>
            </a:pPr>
            <a:r>
              <a:rPr lang="en-US" sz="1050" b="1" spc="5" kern="0" dirty="0">
                <a:solidFill>
                  <a:srgbClr val="1B1C16"/>
                </a:solidFill>
                <a:latin typeface="Hanken Grotesk" pitchFamily="34" charset="0"/>
                <a:ea typeface="Hanken Grotesk" pitchFamily="34" charset="-122"/>
                <a:cs typeface="Hanken Grotesk" pitchFamily="34" charset="-120"/>
              </a:rPr>
              <a:t>It is paid after settlement and there is no claw-back, </a:t>
            </a:r>
            <a:pPr algn="l" indent="0" marL="0">
              <a:lnSpc>
                <a:spcPct val="130000"/>
              </a:lnSpc>
              <a:buNone/>
            </a:pPr>
            <a:r>
              <a:rPr lang="en-US" sz="1050" spc="5" kern="0" dirty="0">
                <a:solidFill>
                  <a:srgbClr val="5C5A50"/>
                </a:solidFill>
                <a:latin typeface="Hanken Grotesk" pitchFamily="34" charset="0"/>
                <a:ea typeface="Hanken Grotesk" pitchFamily="34" charset="-122"/>
                <a:cs typeface="Hanken Grotesk" pitchFamily="34" charset="-120"/>
              </a:rPr>
              <a:t>once a loan settles, the commission is yours, even if the loan is later repaid or refinanced.</a:t>
            </a:r>
            <a:endParaRPr lang="en-US" sz="1050" dirty="0"/>
          </a:p>
        </p:txBody>
      </p:sp>
      <p:sp>
        <p:nvSpPr>
          <p:cNvPr id="16" name="Shape 13"/>
          <p:cNvSpPr/>
          <p:nvPr/>
        </p:nvSpPr>
        <p:spPr>
          <a:xfrm>
            <a:off x="791914" y="3856286"/>
            <a:ext cx="438150" cy="438150"/>
          </a:xfrm>
          <a:prstGeom prst="ellipse">
            <a:avLst/>
          </a:prstGeom>
          <a:solidFill>
            <a:srgbClr val="F3EEE2"/>
          </a:solidFill>
          <a:ln w="9525">
            <a:solidFill>
              <a:srgbClr val="B6873A">
                <a:alpha val="60000"/>
              </a:srgbClr>
            </a:solidFill>
            <a:prstDash val="solid"/>
          </a:ln>
        </p:spPr>
      </p:sp>
      <p:sp>
        <p:nvSpPr>
          <p:cNvPr id="17" name="Text 14"/>
          <p:cNvSpPr/>
          <p:nvPr/>
        </p:nvSpPr>
        <p:spPr>
          <a:xfrm>
            <a:off x="763339" y="3865811"/>
            <a:ext cx="495300" cy="457200"/>
          </a:xfrm>
          <a:prstGeom prst="rect">
            <a:avLst/>
          </a:prstGeom>
          <a:noFill/>
          <a:ln/>
        </p:spPr>
        <p:txBody>
          <a:bodyPr wrap="square" lIns="25400" tIns="25400" rIns="25400" bIns="25400" rtlCol="0" anchor="ctr">
            <a:normAutofit/>
          </a:bodyPr>
          <a:lstStyle/>
          <a:p>
            <a:pPr algn="ctr" indent="0" marL="0">
              <a:buNone/>
            </a:pPr>
            <a:r>
              <a:rPr lang="en-US" sz="1125" spc="5" kern="0" dirty="0">
                <a:solidFill>
                  <a:srgbClr val="B6873A"/>
                </a:solidFill>
                <a:latin typeface="Courier New" pitchFamily="34" charset="0"/>
                <a:ea typeface="Courier New" pitchFamily="34" charset="-122"/>
                <a:cs typeface="Courier New" pitchFamily="34" charset="-120"/>
              </a:rPr>
              <a:t>1</a:t>
            </a:r>
            <a:endParaRPr lang="en-US" sz="1125" dirty="0"/>
          </a:p>
        </p:txBody>
      </p:sp>
      <p:sp>
        <p:nvSpPr>
          <p:cNvPr id="18" name="Text 15"/>
          <p:cNvSpPr/>
          <p:nvPr/>
        </p:nvSpPr>
        <p:spPr>
          <a:xfrm>
            <a:off x="1553914" y="3989636"/>
            <a:ext cx="2483168" cy="205680"/>
          </a:xfrm>
          <a:prstGeom prst="rect">
            <a:avLst/>
          </a:prstGeom>
          <a:noFill/>
          <a:ln/>
        </p:spPr>
        <p:txBody>
          <a:bodyPr wrap="square" lIns="25400" tIns="25400" rIns="25400" bIns="25400" rtlCol="0" anchor="t">
            <a:normAutofit/>
          </a:bodyPr>
          <a:lstStyle/>
          <a:p>
            <a:pPr algn="l" indent="0" marL="0">
              <a:lnSpc>
                <a:spcPct val="110000"/>
              </a:lnSpc>
              <a:buNone/>
            </a:pPr>
            <a:r>
              <a:rPr lang="en-US" sz="1200" spc="-18" kern="0" dirty="0">
                <a:solidFill>
                  <a:srgbClr val="1B1C16"/>
                </a:solidFill>
                <a:latin typeface="Fraunces" pitchFamily="34" charset="0"/>
                <a:ea typeface="Fraunces" pitchFamily="34" charset="-122"/>
                <a:cs typeface="Fraunces" pitchFamily="34" charset="-120"/>
              </a:rPr>
              <a:t>Refer your client</a:t>
            </a:r>
            <a:endParaRPr lang="en-US" sz="1200" dirty="0"/>
          </a:p>
        </p:txBody>
      </p:sp>
      <p:sp>
        <p:nvSpPr>
          <p:cNvPr id="19" name="Text 16"/>
          <p:cNvSpPr/>
          <p:nvPr/>
        </p:nvSpPr>
        <p:spPr>
          <a:xfrm>
            <a:off x="4058989" y="3989636"/>
            <a:ext cx="2790239" cy="335161"/>
          </a:xfrm>
          <a:prstGeom prst="rect">
            <a:avLst/>
          </a:prstGeom>
          <a:noFill/>
          <a:ln/>
        </p:spPr>
        <p:txBody>
          <a:bodyPr wrap="square" lIns="25400" tIns="25400" rIns="25400" bIns="25400" rtlCol="0" anchor="t">
            <a:normAutofit/>
          </a:bodyPr>
          <a:lstStyle/>
          <a:p>
            <a:pPr algn="l" indent="0" marL="0">
              <a:lnSpc>
                <a:spcPct val="130000"/>
              </a:lnSpc>
              <a:buNone/>
            </a:pPr>
            <a:r>
              <a:rPr lang="en-US" sz="900" spc="5" kern="0" dirty="0">
                <a:solidFill>
                  <a:srgbClr val="5C5A50"/>
                </a:solidFill>
                <a:latin typeface="Hanken Grotesk" pitchFamily="34" charset="0"/>
                <a:ea typeface="Hanken Grotesk" pitchFamily="34" charset="-122"/>
                <a:cs typeface="Hanken Grotesk" pitchFamily="34" charset="-120"/>
              </a:rPr>
              <a:t>Send them to Propential with your referral code so the deal is attributed to you.</a:t>
            </a:r>
            <a:endParaRPr lang="en-US" sz="900" dirty="0"/>
          </a:p>
        </p:txBody>
      </p:sp>
      <p:sp>
        <p:nvSpPr>
          <p:cNvPr id="20" name="Shape 17"/>
          <p:cNvSpPr/>
          <p:nvPr/>
        </p:nvSpPr>
        <p:spPr>
          <a:xfrm>
            <a:off x="791914" y="4675436"/>
            <a:ext cx="438150" cy="438150"/>
          </a:xfrm>
          <a:prstGeom prst="ellipse">
            <a:avLst/>
          </a:prstGeom>
          <a:solidFill>
            <a:srgbClr val="F3EEE2"/>
          </a:solidFill>
          <a:ln w="9525">
            <a:solidFill>
              <a:srgbClr val="B6873A">
                <a:alpha val="60000"/>
              </a:srgbClr>
            </a:solidFill>
            <a:prstDash val="solid"/>
          </a:ln>
        </p:spPr>
      </p:sp>
      <p:sp>
        <p:nvSpPr>
          <p:cNvPr id="21" name="Text 18"/>
          <p:cNvSpPr/>
          <p:nvPr/>
        </p:nvSpPr>
        <p:spPr>
          <a:xfrm>
            <a:off x="763339" y="4684961"/>
            <a:ext cx="495300" cy="457200"/>
          </a:xfrm>
          <a:prstGeom prst="rect">
            <a:avLst/>
          </a:prstGeom>
          <a:noFill/>
          <a:ln/>
        </p:spPr>
        <p:txBody>
          <a:bodyPr wrap="square" lIns="25400" tIns="25400" rIns="25400" bIns="25400" rtlCol="0" anchor="ctr">
            <a:normAutofit/>
          </a:bodyPr>
          <a:lstStyle/>
          <a:p>
            <a:pPr algn="ctr" indent="0" marL="0">
              <a:buNone/>
            </a:pPr>
            <a:r>
              <a:rPr lang="en-US" sz="1125" spc="5" kern="0" dirty="0">
                <a:solidFill>
                  <a:srgbClr val="B6873A"/>
                </a:solidFill>
                <a:latin typeface="Courier New" pitchFamily="34" charset="0"/>
                <a:ea typeface="Courier New" pitchFamily="34" charset="-122"/>
                <a:cs typeface="Courier New" pitchFamily="34" charset="-120"/>
              </a:rPr>
              <a:t>2</a:t>
            </a:r>
            <a:endParaRPr lang="en-US" sz="1125" dirty="0"/>
          </a:p>
        </p:txBody>
      </p:sp>
      <p:sp>
        <p:nvSpPr>
          <p:cNvPr id="22" name="Text 19"/>
          <p:cNvSpPr/>
          <p:nvPr/>
        </p:nvSpPr>
        <p:spPr>
          <a:xfrm>
            <a:off x="1553914" y="4808786"/>
            <a:ext cx="2483168" cy="205680"/>
          </a:xfrm>
          <a:prstGeom prst="rect">
            <a:avLst/>
          </a:prstGeom>
          <a:noFill/>
          <a:ln/>
        </p:spPr>
        <p:txBody>
          <a:bodyPr wrap="square" lIns="25400" tIns="25400" rIns="25400" bIns="25400" rtlCol="0" anchor="t">
            <a:normAutofit/>
          </a:bodyPr>
          <a:lstStyle/>
          <a:p>
            <a:pPr algn="l" indent="0" marL="0">
              <a:lnSpc>
                <a:spcPct val="110000"/>
              </a:lnSpc>
              <a:buNone/>
            </a:pPr>
            <a:r>
              <a:rPr lang="en-US" sz="1200" spc="-18" kern="0" dirty="0">
                <a:solidFill>
                  <a:srgbClr val="1B1C16"/>
                </a:solidFill>
                <a:latin typeface="Fraunces" pitchFamily="34" charset="0"/>
                <a:ea typeface="Fraunces" pitchFamily="34" charset="-122"/>
                <a:cs typeface="Fraunces" pitchFamily="34" charset="-120"/>
              </a:rPr>
              <a:t>We do the work</a:t>
            </a:r>
            <a:endParaRPr lang="en-US" sz="1200" dirty="0"/>
          </a:p>
        </p:txBody>
      </p:sp>
      <p:sp>
        <p:nvSpPr>
          <p:cNvPr id="23" name="Text 20"/>
          <p:cNvSpPr/>
          <p:nvPr/>
        </p:nvSpPr>
        <p:spPr>
          <a:xfrm>
            <a:off x="4058989" y="4808786"/>
            <a:ext cx="2790239" cy="335161"/>
          </a:xfrm>
          <a:prstGeom prst="rect">
            <a:avLst/>
          </a:prstGeom>
          <a:noFill/>
          <a:ln/>
        </p:spPr>
        <p:txBody>
          <a:bodyPr wrap="square" lIns="25400" tIns="25400" rIns="25400" bIns="25400" rtlCol="0" anchor="t">
            <a:normAutofit/>
          </a:bodyPr>
          <a:lstStyle/>
          <a:p>
            <a:pPr algn="l" indent="0" marL="0">
              <a:lnSpc>
                <a:spcPct val="130000"/>
              </a:lnSpc>
              <a:buNone/>
            </a:pPr>
            <a:r>
              <a:rPr lang="en-US" sz="900" spc="5" kern="0" dirty="0">
                <a:solidFill>
                  <a:srgbClr val="5C5A50"/>
                </a:solidFill>
                <a:latin typeface="Hanken Grotesk" pitchFamily="34" charset="0"/>
                <a:ea typeface="Hanken Grotesk" pitchFamily="34" charset="-122"/>
                <a:cs typeface="Hanken Grotesk" pitchFamily="34" charset="-120"/>
              </a:rPr>
              <a:t>We handle eligibility, application, valuation, responsible-lending checks and settlement.</a:t>
            </a:r>
            <a:endParaRPr lang="en-US" sz="900" dirty="0"/>
          </a:p>
        </p:txBody>
      </p:sp>
      <p:sp>
        <p:nvSpPr>
          <p:cNvPr id="24" name="Shape 21"/>
          <p:cNvSpPr/>
          <p:nvPr/>
        </p:nvSpPr>
        <p:spPr>
          <a:xfrm>
            <a:off x="791914" y="5494586"/>
            <a:ext cx="438150" cy="438150"/>
          </a:xfrm>
          <a:prstGeom prst="ellipse">
            <a:avLst/>
          </a:prstGeom>
          <a:solidFill>
            <a:srgbClr val="F3EEE2"/>
          </a:solidFill>
          <a:ln w="9525">
            <a:solidFill>
              <a:srgbClr val="B6873A">
                <a:alpha val="60000"/>
              </a:srgbClr>
            </a:solidFill>
            <a:prstDash val="solid"/>
          </a:ln>
        </p:spPr>
      </p:sp>
      <p:sp>
        <p:nvSpPr>
          <p:cNvPr id="25" name="Text 22"/>
          <p:cNvSpPr/>
          <p:nvPr/>
        </p:nvSpPr>
        <p:spPr>
          <a:xfrm>
            <a:off x="763339" y="5504111"/>
            <a:ext cx="495300" cy="457200"/>
          </a:xfrm>
          <a:prstGeom prst="rect">
            <a:avLst/>
          </a:prstGeom>
          <a:noFill/>
          <a:ln/>
        </p:spPr>
        <p:txBody>
          <a:bodyPr wrap="square" lIns="25400" tIns="25400" rIns="25400" bIns="25400" rtlCol="0" anchor="ctr">
            <a:normAutofit/>
          </a:bodyPr>
          <a:lstStyle/>
          <a:p>
            <a:pPr algn="ctr" indent="0" marL="0">
              <a:buNone/>
            </a:pPr>
            <a:r>
              <a:rPr lang="en-US" sz="1125" spc="5" kern="0" dirty="0">
                <a:solidFill>
                  <a:srgbClr val="B6873A"/>
                </a:solidFill>
                <a:latin typeface="Courier New" pitchFamily="34" charset="0"/>
                <a:ea typeface="Courier New" pitchFamily="34" charset="-122"/>
                <a:cs typeface="Courier New" pitchFamily="34" charset="-120"/>
              </a:rPr>
              <a:t>3</a:t>
            </a:r>
            <a:endParaRPr lang="en-US" sz="1125" dirty="0"/>
          </a:p>
        </p:txBody>
      </p:sp>
      <p:sp>
        <p:nvSpPr>
          <p:cNvPr id="26" name="Text 23"/>
          <p:cNvSpPr/>
          <p:nvPr/>
        </p:nvSpPr>
        <p:spPr>
          <a:xfrm>
            <a:off x="1553914" y="5627936"/>
            <a:ext cx="2483168" cy="205680"/>
          </a:xfrm>
          <a:prstGeom prst="rect">
            <a:avLst/>
          </a:prstGeom>
          <a:noFill/>
          <a:ln/>
        </p:spPr>
        <p:txBody>
          <a:bodyPr wrap="square" lIns="25400" tIns="25400" rIns="25400" bIns="25400" rtlCol="0" anchor="t">
            <a:normAutofit/>
          </a:bodyPr>
          <a:lstStyle/>
          <a:p>
            <a:pPr algn="l" indent="0" marL="0">
              <a:lnSpc>
                <a:spcPct val="110000"/>
              </a:lnSpc>
              <a:buNone/>
            </a:pPr>
            <a:r>
              <a:rPr lang="en-US" sz="1200" spc="-18" kern="0" dirty="0">
                <a:solidFill>
                  <a:srgbClr val="1B1C16"/>
                </a:solidFill>
                <a:latin typeface="Fraunces" pitchFamily="34" charset="0"/>
                <a:ea typeface="Fraunces" pitchFamily="34" charset="-122"/>
                <a:cs typeface="Fraunces" pitchFamily="34" charset="-120"/>
              </a:rPr>
              <a:t>You're paid $495</a:t>
            </a:r>
            <a:endParaRPr lang="en-US" sz="1200" dirty="0"/>
          </a:p>
        </p:txBody>
      </p:sp>
      <p:sp>
        <p:nvSpPr>
          <p:cNvPr id="27" name="Text 24"/>
          <p:cNvSpPr/>
          <p:nvPr/>
        </p:nvSpPr>
        <p:spPr>
          <a:xfrm>
            <a:off x="4058989" y="5627936"/>
            <a:ext cx="2790239" cy="335161"/>
          </a:xfrm>
          <a:prstGeom prst="rect">
            <a:avLst/>
          </a:prstGeom>
          <a:noFill/>
          <a:ln/>
        </p:spPr>
        <p:txBody>
          <a:bodyPr wrap="square" lIns="25400" tIns="25400" rIns="25400" bIns="25400" rtlCol="0" anchor="t">
            <a:normAutofit/>
          </a:bodyPr>
          <a:lstStyle/>
          <a:p>
            <a:pPr algn="l" indent="0" marL="0">
              <a:lnSpc>
                <a:spcPct val="130000"/>
              </a:lnSpc>
              <a:buNone/>
            </a:pPr>
            <a:r>
              <a:rPr lang="en-US" sz="900" spc="5" kern="0" dirty="0">
                <a:solidFill>
                  <a:srgbClr val="5C5A50"/>
                </a:solidFill>
                <a:latin typeface="Hanken Grotesk" pitchFamily="34" charset="0"/>
                <a:ea typeface="Hanken Grotesk" pitchFamily="34" charset="-122"/>
                <a:cs typeface="Hanken Grotesk" pitchFamily="34" charset="-120"/>
              </a:rPr>
              <a:t>Your once-off commission is paid after the loan settles. No claw-back.</a:t>
            </a:r>
            <a:endParaRPr lang="en-US" sz="900" dirty="0"/>
          </a:p>
        </p:txBody>
      </p:sp>
      <p:sp>
        <p:nvSpPr>
          <p:cNvPr id="28" name="Text 25"/>
          <p:cNvSpPr/>
          <p:nvPr/>
        </p:nvSpPr>
        <p:spPr>
          <a:xfrm>
            <a:off x="791914" y="6504236"/>
            <a:ext cx="6573649" cy="161925"/>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B6873A"/>
                </a:solidFill>
                <a:latin typeface="Courier New" pitchFamily="34" charset="0"/>
                <a:ea typeface="Courier New" pitchFamily="34" charset="-122"/>
                <a:cs typeface="Courier New" pitchFamily="34" charset="-120"/>
              </a:rPr>
              <a:t>FOR DISTRIBUTORS</a:t>
            </a:r>
            <a:endParaRPr lang="en-US" sz="825" dirty="0"/>
          </a:p>
        </p:txBody>
      </p:sp>
      <p:sp>
        <p:nvSpPr>
          <p:cNvPr id="29" name="Text 26"/>
          <p:cNvSpPr/>
          <p:nvPr/>
        </p:nvSpPr>
        <p:spPr>
          <a:xfrm>
            <a:off x="791914" y="6742361"/>
            <a:ext cx="6573649" cy="310455"/>
          </a:xfrm>
          <a:prstGeom prst="rect">
            <a:avLst/>
          </a:prstGeom>
          <a:noFill/>
          <a:ln/>
        </p:spPr>
        <p:txBody>
          <a:bodyPr wrap="square" lIns="25400" tIns="25400" rIns="25400" bIns="25400" rtlCol="0" anchor="t">
            <a:normAutofit/>
          </a:bodyPr>
          <a:lstStyle/>
          <a:p>
            <a:pPr algn="l" indent="0" marL="0">
              <a:lnSpc>
                <a:spcPct val="110000"/>
              </a:lnSpc>
              <a:buNone/>
            </a:pPr>
            <a:r>
              <a:rPr lang="en-US" sz="1950" spc="-29" kern="0" dirty="0">
                <a:solidFill>
                  <a:srgbClr val="1B1C16"/>
                </a:solidFill>
                <a:latin typeface="Fraunces" pitchFamily="34" charset="0"/>
                <a:ea typeface="Fraunces" pitchFamily="34" charset="-122"/>
                <a:cs typeface="Fraunces" pitchFamily="34" charset="-120"/>
              </a:rPr>
              <a:t>Support that sets your channel up to win.</a:t>
            </a:r>
            <a:endParaRPr lang="en-US" sz="1950" dirty="0"/>
          </a:p>
        </p:txBody>
      </p:sp>
      <p:sp>
        <p:nvSpPr>
          <p:cNvPr id="30" name="Shape 27"/>
          <p:cNvSpPr/>
          <p:nvPr/>
        </p:nvSpPr>
        <p:spPr>
          <a:xfrm>
            <a:off x="791914" y="7129016"/>
            <a:ext cx="2921347" cy="857845"/>
          </a:xfrm>
          <a:prstGeom prst="roundRect">
            <a:avLst>
              <a:gd name="adj" fmla="val 15545"/>
            </a:avLst>
          </a:prstGeom>
          <a:solidFill>
            <a:srgbClr val="FFFFFF"/>
          </a:solidFill>
          <a:ln w="9525">
            <a:solidFill>
              <a:srgbClr val="1B1C16">
                <a:alpha val="12000"/>
              </a:srgbClr>
            </a:solidFill>
            <a:prstDash val="solid"/>
          </a:ln>
        </p:spPr>
      </p:sp>
      <p:sp>
        <p:nvSpPr>
          <p:cNvPr id="31" name="Shape 28"/>
          <p:cNvSpPr/>
          <p:nvPr/>
        </p:nvSpPr>
        <p:spPr>
          <a:xfrm>
            <a:off x="972889" y="7309991"/>
            <a:ext cx="361950" cy="361950"/>
          </a:xfrm>
          <a:prstGeom prst="roundRect">
            <a:avLst>
              <a:gd name="adj" fmla="val 26316"/>
            </a:avLst>
          </a:prstGeom>
          <a:solidFill>
            <a:srgbClr val="B6873A">
              <a:alpha val="12000"/>
            </a:srgbClr>
          </a:solidFill>
          <a:ln w="9525">
            <a:solidFill>
              <a:srgbClr val="B6873A">
                <a:alpha val="40000"/>
              </a:srgbClr>
            </a:solidFill>
            <a:prstDash val="solid"/>
          </a:ln>
        </p:spPr>
      </p:sp>
      <p:pic>
        <p:nvPicPr>
          <p:cNvPr id="3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8139" y="7405241"/>
            <a:ext cx="171450" cy="171450"/>
          </a:xfrm>
          <a:prstGeom prst="rect">
            <a:avLst/>
          </a:prstGeom>
        </p:spPr>
      </p:pic>
      <p:sp>
        <p:nvSpPr>
          <p:cNvPr id="33" name="Text 29"/>
          <p:cNvSpPr/>
          <p:nvPr/>
        </p:nvSpPr>
        <p:spPr>
          <a:xfrm>
            <a:off x="1468189" y="7309991"/>
            <a:ext cx="2270507" cy="220861"/>
          </a:xfrm>
          <a:prstGeom prst="rect">
            <a:avLst/>
          </a:prstGeom>
          <a:noFill/>
          <a:ln/>
        </p:spPr>
        <p:txBody>
          <a:bodyPr wrap="square" lIns="25400" tIns="25400" rIns="25400" bIns="25400" rtlCol="0" anchor="b">
            <a:normAutofit/>
          </a:bodyPr>
          <a:lstStyle/>
          <a:p>
            <a:pPr algn="l" indent="0" marL="0">
              <a:lnSpc>
                <a:spcPct val="110000"/>
              </a:lnSpc>
              <a:buNone/>
            </a:pPr>
            <a:r>
              <a:rPr lang="en-US" sz="1200" spc="5" kern="0" dirty="0">
                <a:solidFill>
                  <a:srgbClr val="1B1C16"/>
                </a:solidFill>
                <a:latin typeface="Fraunces" pitchFamily="34" charset="0"/>
                <a:ea typeface="Fraunces" pitchFamily="34" charset="-122"/>
                <a:cs typeface="Fraunces" pitchFamily="34" charset="-120"/>
              </a:rPr>
              <a:t>On-brand collateral</a:t>
            </a:r>
            <a:endParaRPr lang="en-US" sz="1200" dirty="0"/>
          </a:p>
        </p:txBody>
      </p:sp>
      <p:sp>
        <p:nvSpPr>
          <p:cNvPr id="34" name="Text 30"/>
          <p:cNvSpPr/>
          <p:nvPr/>
        </p:nvSpPr>
        <p:spPr>
          <a:xfrm>
            <a:off x="1468189" y="7521327"/>
            <a:ext cx="2140297" cy="322659"/>
          </a:xfrm>
          <a:prstGeom prst="rect">
            <a:avLst/>
          </a:prstGeom>
          <a:noFill/>
          <a:ln/>
        </p:spPr>
        <p:txBody>
          <a:bodyPr wrap="square" lIns="25400" tIns="25400" rIns="25400" bIns="25400" rtlCol="0" anchor="t">
            <a:normAutofit/>
          </a:bodyPr>
          <a:lstStyle/>
          <a:p>
            <a:pPr algn="l" indent="0" marL="0">
              <a:lnSpc>
                <a:spcPct val="130000"/>
              </a:lnSpc>
              <a:buNone/>
            </a:pPr>
            <a:r>
              <a:rPr lang="en-US" sz="863" spc="5" kern="0" dirty="0">
                <a:solidFill>
                  <a:srgbClr val="5C5A50"/>
                </a:solidFill>
                <a:latin typeface="Hanken Grotesk" pitchFamily="34" charset="0"/>
                <a:ea typeface="Hanken Grotesk" pitchFamily="34" charset="-122"/>
                <a:cs typeface="Hanken Grotesk" pitchFamily="34" charset="-120"/>
              </a:rPr>
              <a:t>Marketing materials and a branded repayment calculator for your network.</a:t>
            </a:r>
            <a:endParaRPr lang="en-US" sz="863" dirty="0"/>
          </a:p>
        </p:txBody>
      </p:sp>
      <p:sp>
        <p:nvSpPr>
          <p:cNvPr id="35" name="Shape 31"/>
          <p:cNvSpPr/>
          <p:nvPr/>
        </p:nvSpPr>
        <p:spPr>
          <a:xfrm>
            <a:off x="3846612" y="7129016"/>
            <a:ext cx="2921347" cy="857845"/>
          </a:xfrm>
          <a:prstGeom prst="roundRect">
            <a:avLst>
              <a:gd name="adj" fmla="val 15545"/>
            </a:avLst>
          </a:prstGeom>
          <a:solidFill>
            <a:srgbClr val="FFFFFF"/>
          </a:solidFill>
          <a:ln w="9525">
            <a:solidFill>
              <a:srgbClr val="1B1C16">
                <a:alpha val="12000"/>
              </a:srgbClr>
            </a:solidFill>
            <a:prstDash val="solid"/>
          </a:ln>
        </p:spPr>
      </p:sp>
      <p:sp>
        <p:nvSpPr>
          <p:cNvPr id="36" name="Shape 32"/>
          <p:cNvSpPr/>
          <p:nvPr/>
        </p:nvSpPr>
        <p:spPr>
          <a:xfrm>
            <a:off x="4027587" y="7309991"/>
            <a:ext cx="361950" cy="361950"/>
          </a:xfrm>
          <a:prstGeom prst="roundRect">
            <a:avLst>
              <a:gd name="adj" fmla="val 26316"/>
            </a:avLst>
          </a:prstGeom>
          <a:solidFill>
            <a:srgbClr val="B6873A">
              <a:alpha val="12000"/>
            </a:srgbClr>
          </a:solidFill>
          <a:ln w="9525">
            <a:solidFill>
              <a:srgbClr val="B6873A">
                <a:alpha val="40000"/>
              </a:srgbClr>
            </a:solidFill>
            <a:prstDash val="solid"/>
          </a:ln>
        </p:spPr>
      </p:sp>
      <p:pic>
        <p:nvPicPr>
          <p:cNvPr id="3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122837" y="7405241"/>
            <a:ext cx="171450" cy="171450"/>
          </a:xfrm>
          <a:prstGeom prst="rect">
            <a:avLst/>
          </a:prstGeom>
        </p:spPr>
      </p:pic>
      <p:sp>
        <p:nvSpPr>
          <p:cNvPr id="38" name="Text 33"/>
          <p:cNvSpPr/>
          <p:nvPr/>
        </p:nvSpPr>
        <p:spPr>
          <a:xfrm>
            <a:off x="4522887" y="7309991"/>
            <a:ext cx="2270507" cy="220861"/>
          </a:xfrm>
          <a:prstGeom prst="rect">
            <a:avLst/>
          </a:prstGeom>
          <a:noFill/>
          <a:ln/>
        </p:spPr>
        <p:txBody>
          <a:bodyPr wrap="square" lIns="25400" tIns="25400" rIns="25400" bIns="25400" rtlCol="0" anchor="b">
            <a:normAutofit/>
          </a:bodyPr>
          <a:lstStyle/>
          <a:p>
            <a:pPr algn="l" indent="0" marL="0">
              <a:lnSpc>
                <a:spcPct val="110000"/>
              </a:lnSpc>
              <a:buNone/>
            </a:pPr>
            <a:r>
              <a:rPr lang="en-US" sz="1200" spc="5" kern="0" dirty="0">
                <a:solidFill>
                  <a:srgbClr val="1B1C16"/>
                </a:solidFill>
                <a:latin typeface="Fraunces" pitchFamily="34" charset="0"/>
                <a:ea typeface="Fraunces" pitchFamily="34" charset="-122"/>
                <a:cs typeface="Fraunces" pitchFamily="34" charset="-120"/>
              </a:rPr>
              <a:t>Confident placement</a:t>
            </a:r>
            <a:endParaRPr lang="en-US" sz="1200" dirty="0"/>
          </a:p>
        </p:txBody>
      </p:sp>
      <p:sp>
        <p:nvSpPr>
          <p:cNvPr id="39" name="Text 34"/>
          <p:cNvSpPr/>
          <p:nvPr/>
        </p:nvSpPr>
        <p:spPr>
          <a:xfrm>
            <a:off x="4522887" y="7521327"/>
            <a:ext cx="2140297" cy="322659"/>
          </a:xfrm>
          <a:prstGeom prst="rect">
            <a:avLst/>
          </a:prstGeom>
          <a:noFill/>
          <a:ln/>
        </p:spPr>
        <p:txBody>
          <a:bodyPr wrap="square" lIns="25400" tIns="25400" rIns="25400" bIns="25400" rtlCol="0" anchor="t">
            <a:normAutofit/>
          </a:bodyPr>
          <a:lstStyle/>
          <a:p>
            <a:pPr algn="l" indent="0" marL="0">
              <a:lnSpc>
                <a:spcPct val="130000"/>
              </a:lnSpc>
              <a:buNone/>
            </a:pPr>
            <a:r>
              <a:rPr lang="en-US" sz="863" spc="5" kern="0" dirty="0">
                <a:solidFill>
                  <a:srgbClr val="5C5A50"/>
                </a:solidFill>
                <a:latin typeface="Hanken Grotesk" pitchFamily="34" charset="0"/>
                <a:ea typeface="Hanken Grotesk" pitchFamily="34" charset="-122"/>
                <a:cs typeface="Hanken Grotesk" pitchFamily="34" charset="-120"/>
              </a:rPr>
              <a:t>Fast broker accreditation and training to place the product well.</a:t>
            </a:r>
            <a:endParaRPr lang="en-US" sz="863" dirty="0"/>
          </a:p>
        </p:txBody>
      </p:sp>
      <p:sp>
        <p:nvSpPr>
          <p:cNvPr id="40" name="Shape 35"/>
          <p:cNvSpPr/>
          <p:nvPr/>
        </p:nvSpPr>
        <p:spPr>
          <a:xfrm>
            <a:off x="791914" y="8120211"/>
            <a:ext cx="2921347" cy="857845"/>
          </a:xfrm>
          <a:prstGeom prst="roundRect">
            <a:avLst>
              <a:gd name="adj" fmla="val 15545"/>
            </a:avLst>
          </a:prstGeom>
          <a:solidFill>
            <a:srgbClr val="FFFFFF"/>
          </a:solidFill>
          <a:ln w="9525">
            <a:solidFill>
              <a:srgbClr val="1B1C16">
                <a:alpha val="12000"/>
              </a:srgbClr>
            </a:solidFill>
            <a:prstDash val="solid"/>
          </a:ln>
        </p:spPr>
      </p:sp>
      <p:sp>
        <p:nvSpPr>
          <p:cNvPr id="41" name="Shape 36"/>
          <p:cNvSpPr/>
          <p:nvPr/>
        </p:nvSpPr>
        <p:spPr>
          <a:xfrm>
            <a:off x="972889" y="8301186"/>
            <a:ext cx="361950" cy="361950"/>
          </a:xfrm>
          <a:prstGeom prst="roundRect">
            <a:avLst>
              <a:gd name="adj" fmla="val 26316"/>
            </a:avLst>
          </a:prstGeom>
          <a:solidFill>
            <a:srgbClr val="B6873A">
              <a:alpha val="12000"/>
            </a:srgbClr>
          </a:solidFill>
          <a:ln w="9525">
            <a:solidFill>
              <a:srgbClr val="B6873A">
                <a:alpha val="40000"/>
              </a:srgbClr>
            </a:solidFill>
            <a:prstDash val="solid"/>
          </a:ln>
        </p:spPr>
      </p:sp>
      <p:pic>
        <p:nvPicPr>
          <p:cNvPr id="4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68139" y="8396436"/>
            <a:ext cx="171450" cy="171450"/>
          </a:xfrm>
          <a:prstGeom prst="rect">
            <a:avLst/>
          </a:prstGeom>
        </p:spPr>
      </p:pic>
      <p:sp>
        <p:nvSpPr>
          <p:cNvPr id="43" name="Text 37"/>
          <p:cNvSpPr/>
          <p:nvPr/>
        </p:nvSpPr>
        <p:spPr>
          <a:xfrm>
            <a:off x="1468189" y="8301186"/>
            <a:ext cx="2270507" cy="220861"/>
          </a:xfrm>
          <a:prstGeom prst="rect">
            <a:avLst/>
          </a:prstGeom>
          <a:noFill/>
          <a:ln/>
        </p:spPr>
        <p:txBody>
          <a:bodyPr wrap="square" lIns="25400" tIns="25400" rIns="25400" bIns="25400" rtlCol="0" anchor="b">
            <a:normAutofit/>
          </a:bodyPr>
          <a:lstStyle/>
          <a:p>
            <a:pPr algn="l" indent="0" marL="0">
              <a:lnSpc>
                <a:spcPct val="110000"/>
              </a:lnSpc>
              <a:buNone/>
            </a:pPr>
            <a:r>
              <a:rPr lang="en-US" sz="1200" spc="5" kern="0" dirty="0">
                <a:solidFill>
                  <a:srgbClr val="1B1C16"/>
                </a:solidFill>
                <a:latin typeface="Fraunces" pitchFamily="34" charset="0"/>
                <a:ea typeface="Fraunces" pitchFamily="34" charset="-122"/>
                <a:cs typeface="Fraunces" pitchFamily="34" charset="-120"/>
              </a:rPr>
              <a:t>A real contact</a:t>
            </a:r>
            <a:endParaRPr lang="en-US" sz="1200" dirty="0"/>
          </a:p>
        </p:txBody>
      </p:sp>
      <p:sp>
        <p:nvSpPr>
          <p:cNvPr id="44" name="Text 38"/>
          <p:cNvSpPr/>
          <p:nvPr/>
        </p:nvSpPr>
        <p:spPr>
          <a:xfrm>
            <a:off x="1468189" y="8512522"/>
            <a:ext cx="2140297" cy="322659"/>
          </a:xfrm>
          <a:prstGeom prst="rect">
            <a:avLst/>
          </a:prstGeom>
          <a:noFill/>
          <a:ln/>
        </p:spPr>
        <p:txBody>
          <a:bodyPr wrap="square" lIns="25400" tIns="25400" rIns="25400" bIns="25400" rtlCol="0" anchor="t">
            <a:normAutofit/>
          </a:bodyPr>
          <a:lstStyle/>
          <a:p>
            <a:pPr algn="l" indent="0" marL="0">
              <a:lnSpc>
                <a:spcPct val="130000"/>
              </a:lnSpc>
              <a:buNone/>
            </a:pPr>
            <a:r>
              <a:rPr lang="en-US" sz="863" spc="5" kern="0" dirty="0">
                <a:solidFill>
                  <a:srgbClr val="5C5A50"/>
                </a:solidFill>
                <a:latin typeface="Hanken Grotesk" pitchFamily="34" charset="0"/>
                <a:ea typeface="Hanken Grotesk" pitchFamily="34" charset="-122"/>
                <a:cs typeface="Hanken Grotesk" pitchFamily="34" charset="-120"/>
              </a:rPr>
              <a:t>Partnership support through application and settlement.</a:t>
            </a:r>
            <a:endParaRPr lang="en-US" sz="863" dirty="0"/>
          </a:p>
        </p:txBody>
      </p:sp>
      <p:sp>
        <p:nvSpPr>
          <p:cNvPr id="45" name="Shape 39"/>
          <p:cNvSpPr/>
          <p:nvPr/>
        </p:nvSpPr>
        <p:spPr>
          <a:xfrm>
            <a:off x="3846612" y="8120211"/>
            <a:ext cx="2921347" cy="857845"/>
          </a:xfrm>
          <a:prstGeom prst="roundRect">
            <a:avLst>
              <a:gd name="adj" fmla="val 15545"/>
            </a:avLst>
          </a:prstGeom>
          <a:solidFill>
            <a:srgbClr val="FFFFFF"/>
          </a:solidFill>
          <a:ln w="9525">
            <a:solidFill>
              <a:srgbClr val="1B1C16">
                <a:alpha val="12000"/>
              </a:srgbClr>
            </a:solidFill>
            <a:prstDash val="solid"/>
          </a:ln>
        </p:spPr>
      </p:sp>
      <p:sp>
        <p:nvSpPr>
          <p:cNvPr id="46" name="Shape 40"/>
          <p:cNvSpPr/>
          <p:nvPr/>
        </p:nvSpPr>
        <p:spPr>
          <a:xfrm>
            <a:off x="4027587" y="8301186"/>
            <a:ext cx="361950" cy="361950"/>
          </a:xfrm>
          <a:prstGeom prst="roundRect">
            <a:avLst>
              <a:gd name="adj" fmla="val 26316"/>
            </a:avLst>
          </a:prstGeom>
          <a:solidFill>
            <a:srgbClr val="B6873A">
              <a:alpha val="12000"/>
            </a:srgbClr>
          </a:solidFill>
          <a:ln w="9525">
            <a:solidFill>
              <a:srgbClr val="B6873A">
                <a:alpha val="40000"/>
              </a:srgbClr>
            </a:solidFill>
            <a:prstDash val="solid"/>
          </a:ln>
        </p:spPr>
      </p:sp>
      <p:pic>
        <p:nvPicPr>
          <p:cNvPr id="4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122837" y="8396436"/>
            <a:ext cx="171450" cy="171450"/>
          </a:xfrm>
          <a:prstGeom prst="rect">
            <a:avLst/>
          </a:prstGeom>
        </p:spPr>
      </p:pic>
      <p:sp>
        <p:nvSpPr>
          <p:cNvPr id="48" name="Text 41"/>
          <p:cNvSpPr/>
          <p:nvPr/>
        </p:nvSpPr>
        <p:spPr>
          <a:xfrm>
            <a:off x="4522887" y="8301186"/>
            <a:ext cx="2270507" cy="220861"/>
          </a:xfrm>
          <a:prstGeom prst="rect">
            <a:avLst/>
          </a:prstGeom>
          <a:noFill/>
          <a:ln/>
        </p:spPr>
        <p:txBody>
          <a:bodyPr wrap="square" lIns="25400" tIns="25400" rIns="25400" bIns="25400" rtlCol="0" anchor="b">
            <a:normAutofit/>
          </a:bodyPr>
          <a:lstStyle/>
          <a:p>
            <a:pPr algn="l" indent="0" marL="0">
              <a:lnSpc>
                <a:spcPct val="110000"/>
              </a:lnSpc>
              <a:buNone/>
            </a:pPr>
            <a:r>
              <a:rPr lang="en-US" sz="1200" spc="5" kern="0" dirty="0">
                <a:solidFill>
                  <a:srgbClr val="1B1C16"/>
                </a:solidFill>
                <a:latin typeface="Fraunces" pitchFamily="34" charset="0"/>
                <a:ea typeface="Fraunces" pitchFamily="34" charset="-122"/>
                <a:cs typeface="Fraunces" pitchFamily="34" charset="-120"/>
              </a:rPr>
              <a:t>Full visibility</a:t>
            </a:r>
            <a:endParaRPr lang="en-US" sz="1200" dirty="0"/>
          </a:p>
        </p:txBody>
      </p:sp>
      <p:sp>
        <p:nvSpPr>
          <p:cNvPr id="49" name="Text 42"/>
          <p:cNvSpPr/>
          <p:nvPr/>
        </p:nvSpPr>
        <p:spPr>
          <a:xfrm>
            <a:off x="4522887" y="8512522"/>
            <a:ext cx="2140297" cy="322659"/>
          </a:xfrm>
          <a:prstGeom prst="rect">
            <a:avLst/>
          </a:prstGeom>
          <a:noFill/>
          <a:ln/>
        </p:spPr>
        <p:txBody>
          <a:bodyPr wrap="square" lIns="25400" tIns="25400" rIns="25400" bIns="25400" rtlCol="0" anchor="t">
            <a:normAutofit/>
          </a:bodyPr>
          <a:lstStyle/>
          <a:p>
            <a:pPr algn="l" indent="0" marL="0">
              <a:lnSpc>
                <a:spcPct val="130000"/>
              </a:lnSpc>
              <a:buNone/>
            </a:pPr>
            <a:r>
              <a:rPr lang="en-US" sz="863" spc="5" kern="0" dirty="0">
                <a:solidFill>
                  <a:srgbClr val="5C5A50"/>
                </a:solidFill>
                <a:latin typeface="Hanken Grotesk" pitchFamily="34" charset="0"/>
                <a:ea typeface="Hanken Grotesk" pitchFamily="34" charset="-122"/>
                <a:cs typeface="Hanken Grotesk" pitchFamily="34" charset="-120"/>
              </a:rPr>
              <a:t>Clear reporting on referrals, settlements and commission earned.</a:t>
            </a:r>
            <a:endParaRPr lang="en-US" sz="863" dirty="0"/>
          </a:p>
        </p:txBody>
      </p:sp>
      <p:sp>
        <p:nvSpPr>
          <p:cNvPr id="50" name="Text 43"/>
          <p:cNvSpPr/>
          <p:nvPr/>
        </p:nvSpPr>
        <p:spPr>
          <a:xfrm>
            <a:off x="791914" y="9111407"/>
            <a:ext cx="6151340" cy="384572"/>
          </a:xfrm>
          <a:prstGeom prst="rect">
            <a:avLst/>
          </a:prstGeom>
          <a:noFill/>
          <a:ln/>
        </p:spPr>
        <p:txBody>
          <a:bodyPr wrap="square" lIns="25400" tIns="25400" rIns="25400" bIns="25400" rtlCol="0" anchor="t">
            <a:normAutofit/>
          </a:bodyPr>
          <a:lstStyle/>
          <a:p>
            <a:pPr algn="l" indent="0" marL="0">
              <a:lnSpc>
                <a:spcPct val="130000"/>
              </a:lnSpc>
              <a:buNone/>
            </a:pPr>
            <a:r>
              <a:rPr lang="en-US" sz="1050" b="1" spc="5" kern="0" dirty="0">
                <a:solidFill>
                  <a:srgbClr val="1B1C16"/>
                </a:solidFill>
                <a:latin typeface="Hanken Grotesk" pitchFamily="34" charset="0"/>
                <a:ea typeface="Hanken Grotesk" pitchFamily="34" charset="-122"/>
                <a:cs typeface="Hanken Grotesk" pitchFamily="34" charset="-120"/>
              </a:rPr>
              <a:t>Commercial terms are tailored to your channel. </a:t>
            </a:r>
            <a:pPr algn="l" indent="0" marL="0">
              <a:lnSpc>
                <a:spcPct val="130000"/>
              </a:lnSpc>
              <a:buNone/>
            </a:pPr>
            <a:r>
              <a:rPr lang="en-US" sz="1050" spc="5" kern="0" dirty="0">
                <a:solidFill>
                  <a:srgbClr val="5C5A50"/>
                </a:solidFill>
                <a:latin typeface="Hanken Grotesk" pitchFamily="34" charset="0"/>
                <a:ea typeface="Hanken Grotesk" pitchFamily="34" charset="-122"/>
                <a:cs typeface="Hanken Grotesk" pitchFamily="34" charset="-120"/>
              </a:rPr>
              <a:t>We'll structure the arrangement to suit how your network operates. Let's work through the detail together.</a:t>
            </a:r>
            <a:endParaRPr lang="en-US" sz="1050" dirty="0"/>
          </a:p>
        </p:txBody>
      </p:sp>
      <p:sp>
        <p:nvSpPr>
          <p:cNvPr id="51" name="Shape 44"/>
          <p:cNvSpPr/>
          <p:nvPr/>
        </p:nvSpPr>
        <p:spPr>
          <a:xfrm>
            <a:off x="791914" y="9978479"/>
            <a:ext cx="5976045" cy="9525"/>
          </a:xfrm>
          <a:prstGeom prst="rect">
            <a:avLst/>
          </a:prstGeom>
          <a:solidFill>
            <a:srgbClr val="1B1C16">
              <a:alpha val="12000"/>
            </a:srgbClr>
          </a:solidFill>
          <a:ln/>
        </p:spPr>
      </p:sp>
      <p:sp>
        <p:nvSpPr>
          <p:cNvPr id="52" name="Text 45"/>
          <p:cNvSpPr/>
          <p:nvPr/>
        </p:nvSpPr>
        <p:spPr>
          <a:xfrm>
            <a:off x="791914" y="10083254"/>
            <a:ext cx="2393126" cy="142875"/>
          </a:xfrm>
          <a:prstGeom prst="rect">
            <a:avLst/>
          </a:prstGeom>
          <a:noFill/>
          <a:ln/>
        </p:spPr>
        <p:txBody>
          <a:bodyPr wrap="square" lIns="25400" tIns="25400" rIns="25400" bIns="25400" rtlCol="0" anchor="t">
            <a:normAutofit/>
          </a:bodyPr>
          <a:lstStyle/>
          <a:p>
            <a:pPr algn="l" indent="0" marL="0">
              <a:buNone/>
            </a:pPr>
            <a:r>
              <a:rPr lang="en-US" sz="713" spc="71" kern="0" dirty="0">
                <a:solidFill>
                  <a:srgbClr val="9A978C"/>
                </a:solidFill>
                <a:latin typeface="Courier New" pitchFamily="34" charset="0"/>
                <a:ea typeface="Courier New" pitchFamily="34" charset="-122"/>
                <a:cs typeface="Courier New" pitchFamily="34" charset="-120"/>
              </a:rPr>
              <a:t>PROPENTIAL · PARTNER INFORMATION PACK</a:t>
            </a:r>
            <a:endParaRPr lang="en-US" sz="713" dirty="0"/>
          </a:p>
        </p:txBody>
      </p:sp>
      <p:sp>
        <p:nvSpPr>
          <p:cNvPr id="53" name="Text 46"/>
          <p:cNvSpPr/>
          <p:nvPr/>
        </p:nvSpPr>
        <p:spPr>
          <a:xfrm>
            <a:off x="5062686" y="10083254"/>
            <a:ext cx="1875800" cy="142875"/>
          </a:xfrm>
          <a:prstGeom prst="rect">
            <a:avLst/>
          </a:prstGeom>
          <a:noFill/>
          <a:ln/>
        </p:spPr>
        <p:txBody>
          <a:bodyPr wrap="square" lIns="25400" tIns="25400" rIns="25400" bIns="25400" rtlCol="0" anchor="t">
            <a:normAutofit/>
          </a:bodyPr>
          <a:lstStyle/>
          <a:p>
            <a:pPr algn="l" indent="0" marL="0">
              <a:buNone/>
            </a:pPr>
            <a:r>
              <a:rPr lang="en-US" sz="713" spc="71" kern="0" dirty="0">
                <a:solidFill>
                  <a:srgbClr val="9A978C"/>
                </a:solidFill>
                <a:latin typeface="Courier New" pitchFamily="34" charset="0"/>
                <a:ea typeface="Courier New" pitchFamily="34" charset="-122"/>
                <a:cs typeface="Courier New" pitchFamily="34" charset="-120"/>
              </a:rPr>
              <a:t>COMMERCIAL-IN-CONFIDENCE · 04</a:t>
            </a:r>
            <a:endParaRPr lang="en-US" sz="713"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EEE2"/>
        </a:solidFill>
      </p:bgPr>
    </p:bg>
    <p:spTree>
      <p:nvGrpSpPr>
        <p:cNvPr id="1" name=""/>
        <p:cNvGrpSpPr/>
        <p:nvPr/>
      </p:nvGrpSpPr>
      <p:grpSpPr>
        <a:xfrm>
          <a:off x="0" y="0"/>
          <a:ext cx="0" cy="0"/>
          <a:chOff x="0" y="0"/>
          <a:chExt cx="0" cy="0"/>
        </a:xfrm>
      </p:grpSpPr>
      <p:sp>
        <p:nvSpPr>
          <p:cNvPr id="2" name="Shape 0"/>
          <p:cNvSpPr/>
          <p:nvPr/>
        </p:nvSpPr>
        <p:spPr>
          <a:xfrm>
            <a:off x="0" y="0"/>
            <a:ext cx="7559873" cy="10691961"/>
          </a:xfrm>
          <a:prstGeom prst="rect">
            <a:avLst/>
          </a:prstGeom>
          <a:ln/>
          <a:effectLst>
            <a:outerShdw sx="100000" sy="100000" kx="0" ky="0" algn="bl" rotWithShape="0" blurRad="666750" dist="285750" dir="5400000">
              <a:srgbClr val="000000">
                <a:alpha val="70000"/>
              </a:srgbClr>
            </a:outerShdw>
          </a:effectLst>
        </p:spPr>
      </p:sp>
      <p:sp>
        <p:nvSpPr>
          <p:cNvPr id="3" name="Shape 1"/>
          <p:cNvSpPr/>
          <p:nvPr/>
        </p:nvSpPr>
        <p:spPr>
          <a:xfrm>
            <a:off x="791914" y="1283047"/>
            <a:ext cx="5976045" cy="9525"/>
          </a:xfrm>
          <a:prstGeom prst="rect">
            <a:avLst/>
          </a:prstGeom>
          <a:solidFill>
            <a:srgbClr val="1B1C16">
              <a:alpha val="12000"/>
            </a:srgbClr>
          </a:solidFill>
          <a:ln/>
        </p:spPr>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1914" y="863947"/>
            <a:ext cx="235744" cy="247650"/>
          </a:xfrm>
          <a:prstGeom prst="rect">
            <a:avLst/>
          </a:prstGeom>
        </p:spPr>
      </p:pic>
      <p:sp>
        <p:nvSpPr>
          <p:cNvPr id="5" name="Text 2"/>
          <p:cNvSpPr/>
          <p:nvPr/>
        </p:nvSpPr>
        <p:spPr>
          <a:xfrm>
            <a:off x="1122908" y="872579"/>
            <a:ext cx="1095673" cy="268486"/>
          </a:xfrm>
          <a:prstGeom prst="rect">
            <a:avLst/>
          </a:prstGeom>
          <a:noFill/>
          <a:ln/>
        </p:spPr>
        <p:txBody>
          <a:bodyPr wrap="square" lIns="25400" tIns="25400" rIns="25400" bIns="25400" rtlCol="0" anchor="t">
            <a:normAutofit/>
          </a:bodyPr>
          <a:lstStyle/>
          <a:p>
            <a:pPr algn="l" indent="0" marL="0">
              <a:lnSpc>
                <a:spcPct val="110000"/>
              </a:lnSpc>
              <a:buNone/>
            </a:pPr>
            <a:r>
              <a:rPr lang="en-US" sz="1650" dirty="0">
                <a:solidFill>
                  <a:srgbClr val="1B1C16"/>
                </a:solidFill>
                <a:latin typeface="Fraunces" pitchFamily="34" charset="0"/>
                <a:ea typeface="Fraunces" pitchFamily="34" charset="-122"/>
                <a:cs typeface="Fraunces" pitchFamily="34" charset="-120"/>
              </a:rPr>
              <a:t>Prop</a:t>
            </a:r>
            <a:pPr algn="l" indent="0" marL="0">
              <a:lnSpc>
                <a:spcPct val="110000"/>
              </a:lnSpc>
              <a:buNone/>
            </a:pPr>
            <a:r>
              <a:rPr lang="en-US" sz="1650" i="1" dirty="0">
                <a:solidFill>
                  <a:srgbClr val="B6873A"/>
                </a:solidFill>
                <a:latin typeface="Fraunces" pitchFamily="34" charset="0"/>
                <a:ea typeface="Fraunces" pitchFamily="34" charset="-122"/>
                <a:cs typeface="Fraunces" pitchFamily="34" charset="-120"/>
              </a:rPr>
              <a:t>ential</a:t>
            </a:r>
            <a:endParaRPr lang="en-US" sz="1650" dirty="0"/>
          </a:p>
        </p:txBody>
      </p:sp>
      <p:sp>
        <p:nvSpPr>
          <p:cNvPr id="6" name="Text 3"/>
          <p:cNvSpPr/>
          <p:nvPr/>
        </p:nvSpPr>
        <p:spPr>
          <a:xfrm>
            <a:off x="5277148" y="944910"/>
            <a:ext cx="1639892" cy="161925"/>
          </a:xfrm>
          <a:prstGeom prst="rect">
            <a:avLst/>
          </a:prstGeom>
          <a:noFill/>
          <a:ln/>
        </p:spPr>
        <p:txBody>
          <a:bodyPr wrap="square" lIns="25400" tIns="25400" rIns="25400" bIns="25400" rtlCol="0" anchor="t">
            <a:normAutofit/>
          </a:bodyPr>
          <a:lstStyle/>
          <a:p>
            <a:pPr algn="l" indent="0" marL="0">
              <a:buNone/>
            </a:pPr>
            <a:r>
              <a:rPr lang="en-US" sz="788" spc="126" kern="0" dirty="0">
                <a:solidFill>
                  <a:srgbClr val="5C5A50"/>
                </a:solidFill>
                <a:latin typeface="Courier New" pitchFamily="34" charset="0"/>
                <a:ea typeface="Courier New" pitchFamily="34" charset="-122"/>
                <a:cs typeface="Courier New" pitchFamily="34" charset="-120"/>
              </a:rPr>
              <a:t>04 · COMPLIANCE &amp; FAQ</a:t>
            </a:r>
            <a:endParaRPr lang="en-US" sz="788" dirty="0"/>
          </a:p>
        </p:txBody>
      </p:sp>
      <p:sp>
        <p:nvSpPr>
          <p:cNvPr id="7" name="Text 4"/>
          <p:cNvSpPr/>
          <p:nvPr/>
        </p:nvSpPr>
        <p:spPr>
          <a:xfrm>
            <a:off x="791914" y="1578322"/>
            <a:ext cx="6573649" cy="161925"/>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B6873A"/>
                </a:solidFill>
                <a:latin typeface="Courier New" pitchFamily="34" charset="0"/>
                <a:ea typeface="Courier New" pitchFamily="34" charset="-122"/>
                <a:cs typeface="Courier New" pitchFamily="34" charset="-120"/>
              </a:rPr>
              <a:t>BUILT ON SOLID GROUND</a:t>
            </a:r>
            <a:endParaRPr lang="en-US" sz="825" dirty="0"/>
          </a:p>
        </p:txBody>
      </p:sp>
      <p:sp>
        <p:nvSpPr>
          <p:cNvPr id="8" name="Text 5"/>
          <p:cNvSpPr/>
          <p:nvPr/>
        </p:nvSpPr>
        <p:spPr>
          <a:xfrm>
            <a:off x="791914" y="1816447"/>
            <a:ext cx="6573649" cy="310455"/>
          </a:xfrm>
          <a:prstGeom prst="rect">
            <a:avLst/>
          </a:prstGeom>
          <a:noFill/>
          <a:ln/>
        </p:spPr>
        <p:txBody>
          <a:bodyPr wrap="square" lIns="25400" tIns="25400" rIns="25400" bIns="25400" rtlCol="0" anchor="t">
            <a:normAutofit/>
          </a:bodyPr>
          <a:lstStyle/>
          <a:p>
            <a:pPr algn="l" indent="0" marL="0">
              <a:lnSpc>
                <a:spcPct val="110000"/>
              </a:lnSpc>
              <a:buNone/>
            </a:pPr>
            <a:r>
              <a:rPr lang="en-US" sz="1950" spc="-29" kern="0" dirty="0">
                <a:solidFill>
                  <a:srgbClr val="1B1C16"/>
                </a:solidFill>
                <a:latin typeface="Fraunces" pitchFamily="34" charset="0"/>
                <a:ea typeface="Fraunces" pitchFamily="34" charset="-122"/>
                <a:cs typeface="Fraunces" pitchFamily="34" charset="-120"/>
              </a:rPr>
              <a:t>Licensed, responsible and clear with customers.</a:t>
            </a:r>
            <a:endParaRPr lang="en-US" sz="1950" dirty="0"/>
          </a:p>
        </p:txBody>
      </p:sp>
      <p:sp>
        <p:nvSpPr>
          <p:cNvPr id="9" name="Text 6"/>
          <p:cNvSpPr/>
          <p:nvPr/>
        </p:nvSpPr>
        <p:spPr>
          <a:xfrm>
            <a:off x="1039564" y="2203103"/>
            <a:ext cx="5907676" cy="359866"/>
          </a:xfrm>
          <a:prstGeom prst="rect">
            <a:avLst/>
          </a:prstGeom>
          <a:noFill/>
          <a:ln/>
        </p:spPr>
        <p:txBody>
          <a:bodyPr wrap="square" lIns="25400" tIns="25400" rIns="25400" bIns="25400" rtlCol="0" anchor="t">
            <a:normAutofit/>
          </a:bodyPr>
          <a:lstStyle/>
          <a:p>
            <a:pPr algn="l" indent="0" marL="0">
              <a:lnSpc>
                <a:spcPct val="130000"/>
              </a:lnSpc>
              <a:buNone/>
            </a:pPr>
            <a:r>
              <a:rPr lang="en-US" sz="975" b="1" spc="5" kern="0" dirty="0">
                <a:solidFill>
                  <a:srgbClr val="1B1C16"/>
                </a:solidFill>
                <a:latin typeface="Hanken Grotesk" pitchFamily="34" charset="0"/>
                <a:ea typeface="Hanken Grotesk" pitchFamily="34" charset="-122"/>
                <a:cs typeface="Hanken Grotesk" pitchFamily="34" charset="-120"/>
              </a:rPr>
              <a:t>Licensed credit provider. </a:t>
            </a:r>
            <a:pPr algn="l" indent="0" marL="0">
              <a:lnSpc>
                <a:spcPct val="130000"/>
              </a:lnSpc>
              <a:buNone/>
            </a:pPr>
            <a:r>
              <a:rPr lang="en-US" sz="975" spc="5" kern="0" dirty="0">
                <a:solidFill>
                  <a:srgbClr val="5C5A50"/>
                </a:solidFill>
                <a:latin typeface="Hanken Grotesk" pitchFamily="34" charset="0"/>
                <a:ea typeface="Hanken Grotesk" pitchFamily="34" charset="-122"/>
                <a:cs typeface="Hanken Grotesk" pitchFamily="34" charset="-120"/>
              </a:rPr>
              <a:t>MediPay Holdings Pty Limited holds Australian Credit Licence 474336 and lends under the National Credit Code.</a:t>
            </a:r>
            <a:endParaRPr lang="en-US" sz="975" dirty="0"/>
          </a:p>
        </p:txBody>
      </p:sp>
      <p:sp>
        <p:nvSpPr>
          <p:cNvPr id="10" name="Text 7"/>
          <p:cNvSpPr/>
          <p:nvPr/>
        </p:nvSpPr>
        <p:spPr>
          <a:xfrm>
            <a:off x="1039564" y="2629644"/>
            <a:ext cx="6325999" cy="198983"/>
          </a:xfrm>
          <a:prstGeom prst="rect">
            <a:avLst/>
          </a:prstGeom>
          <a:noFill/>
          <a:ln/>
        </p:spPr>
        <p:txBody>
          <a:bodyPr wrap="square" lIns="25400" tIns="25400" rIns="25400" bIns="25400" rtlCol="0" anchor="t">
            <a:normAutofit/>
          </a:bodyPr>
          <a:lstStyle/>
          <a:p>
            <a:pPr algn="l" indent="0" marL="0">
              <a:lnSpc>
                <a:spcPct val="130000"/>
              </a:lnSpc>
              <a:buNone/>
            </a:pPr>
            <a:r>
              <a:rPr lang="en-US" sz="975" b="1" spc="5" kern="0" dirty="0">
                <a:solidFill>
                  <a:srgbClr val="1B1C16"/>
                </a:solidFill>
                <a:latin typeface="Hanken Grotesk" pitchFamily="34" charset="0"/>
                <a:ea typeface="Hanken Grotesk" pitchFamily="34" charset="-122"/>
                <a:cs typeface="Hanken Grotesk" pitchFamily="34" charset="-120"/>
              </a:rPr>
              <a:t>Responsible lending. </a:t>
            </a:r>
            <a:pPr algn="l" indent="0" marL="0">
              <a:lnSpc>
                <a:spcPct val="130000"/>
              </a:lnSpc>
              <a:buNone/>
            </a:pPr>
            <a:r>
              <a:rPr lang="en-US" sz="975" spc="5" kern="0" dirty="0">
                <a:solidFill>
                  <a:srgbClr val="5C5A50"/>
                </a:solidFill>
                <a:latin typeface="Hanken Grotesk" pitchFamily="34" charset="0"/>
                <a:ea typeface="Hanken Grotesk" pitchFamily="34" charset="-122"/>
                <a:cs typeface="Hanken Grotesk" pitchFamily="34" charset="-120"/>
              </a:rPr>
              <a:t>Every application is assessed for suitability and the customer's capacity to repay.</a:t>
            </a:r>
            <a:endParaRPr lang="en-US" sz="975" dirty="0"/>
          </a:p>
        </p:txBody>
      </p:sp>
      <p:sp>
        <p:nvSpPr>
          <p:cNvPr id="11" name="Text 8"/>
          <p:cNvSpPr/>
          <p:nvPr/>
        </p:nvSpPr>
        <p:spPr>
          <a:xfrm>
            <a:off x="1039564" y="2895302"/>
            <a:ext cx="6325999" cy="198983"/>
          </a:xfrm>
          <a:prstGeom prst="rect">
            <a:avLst/>
          </a:prstGeom>
          <a:noFill/>
          <a:ln/>
        </p:spPr>
        <p:txBody>
          <a:bodyPr wrap="square" lIns="25400" tIns="25400" rIns="25400" bIns="25400" rtlCol="0" anchor="t">
            <a:normAutofit/>
          </a:bodyPr>
          <a:lstStyle/>
          <a:p>
            <a:pPr algn="l" indent="0" marL="0">
              <a:lnSpc>
                <a:spcPct val="130000"/>
              </a:lnSpc>
              <a:buNone/>
            </a:pPr>
            <a:r>
              <a:rPr lang="en-US" sz="975" b="1" spc="5" kern="0" dirty="0">
                <a:solidFill>
                  <a:srgbClr val="1B1C16"/>
                </a:solidFill>
                <a:latin typeface="Hanken Grotesk" pitchFamily="34" charset="0"/>
                <a:ea typeface="Hanken Grotesk" pitchFamily="34" charset="-122"/>
                <a:cs typeface="Hanken Grotesk" pitchFamily="34" charset="-120"/>
              </a:rPr>
              <a:t>Target Market Determination. </a:t>
            </a:r>
            <a:pPr algn="l" indent="0" marL="0">
              <a:lnSpc>
                <a:spcPct val="130000"/>
              </a:lnSpc>
              <a:buNone/>
            </a:pPr>
            <a:r>
              <a:rPr lang="en-US" sz="975" spc="5" kern="0" dirty="0">
                <a:solidFill>
                  <a:srgbClr val="5C5A50"/>
                </a:solidFill>
                <a:latin typeface="Hanken Grotesk" pitchFamily="34" charset="0"/>
                <a:ea typeface="Hanken Grotesk" pitchFamily="34" charset="-122"/>
                <a:cs typeface="Hanken Grotesk" pitchFamily="34" charset="-120"/>
              </a:rPr>
              <a:t>A published TMD defines who the product is designed for.</a:t>
            </a:r>
            <a:endParaRPr lang="en-US" sz="975" dirty="0"/>
          </a:p>
        </p:txBody>
      </p:sp>
      <p:sp>
        <p:nvSpPr>
          <p:cNvPr id="12" name="Text 9"/>
          <p:cNvSpPr/>
          <p:nvPr/>
        </p:nvSpPr>
        <p:spPr>
          <a:xfrm>
            <a:off x="1039564" y="3160961"/>
            <a:ext cx="6325999" cy="198983"/>
          </a:xfrm>
          <a:prstGeom prst="rect">
            <a:avLst/>
          </a:prstGeom>
          <a:noFill/>
          <a:ln/>
        </p:spPr>
        <p:txBody>
          <a:bodyPr wrap="square" lIns="25400" tIns="25400" rIns="25400" bIns="25400" rtlCol="0" anchor="t">
            <a:normAutofit/>
          </a:bodyPr>
          <a:lstStyle/>
          <a:p>
            <a:pPr algn="l" indent="0" marL="0">
              <a:lnSpc>
                <a:spcPct val="130000"/>
              </a:lnSpc>
              <a:buNone/>
            </a:pPr>
            <a:r>
              <a:rPr lang="en-US" sz="975" b="1" spc="5" kern="0" dirty="0">
                <a:solidFill>
                  <a:srgbClr val="1B1C16"/>
                </a:solidFill>
                <a:latin typeface="Hanken Grotesk" pitchFamily="34" charset="0"/>
                <a:ea typeface="Hanken Grotesk" pitchFamily="34" charset="-122"/>
                <a:cs typeface="Hanken Grotesk" pitchFamily="34" charset="-120"/>
              </a:rPr>
              <a:t>Hardship &amp; complaints. </a:t>
            </a:r>
            <a:pPr algn="l" indent="0" marL="0">
              <a:lnSpc>
                <a:spcPct val="130000"/>
              </a:lnSpc>
              <a:buNone/>
            </a:pPr>
            <a:r>
              <a:rPr lang="en-US" sz="975" spc="5" kern="0" dirty="0">
                <a:solidFill>
                  <a:srgbClr val="5C5A50"/>
                </a:solidFill>
                <a:latin typeface="Hanken Grotesk" pitchFamily="34" charset="0"/>
                <a:ea typeface="Hanken Grotesk" pitchFamily="34" charset="-122"/>
                <a:cs typeface="Hanken Grotesk" pitchFamily="34" charset="-120"/>
              </a:rPr>
              <a:t>Clear, published processes support customers who need them.</a:t>
            </a:r>
            <a:endParaRPr lang="en-US" sz="975" dirty="0"/>
          </a:p>
        </p:txBody>
      </p:sp>
      <p:sp>
        <p:nvSpPr>
          <p:cNvPr id="13" name="Text 10"/>
          <p:cNvSpPr/>
          <p:nvPr/>
        </p:nvSpPr>
        <p:spPr>
          <a:xfrm>
            <a:off x="1039564" y="3426619"/>
            <a:ext cx="6325999" cy="198983"/>
          </a:xfrm>
          <a:prstGeom prst="rect">
            <a:avLst/>
          </a:prstGeom>
          <a:noFill/>
          <a:ln/>
        </p:spPr>
        <p:txBody>
          <a:bodyPr wrap="square" lIns="25400" tIns="25400" rIns="25400" bIns="25400" rtlCol="0" anchor="t">
            <a:normAutofit/>
          </a:bodyPr>
          <a:lstStyle/>
          <a:p>
            <a:pPr algn="l" indent="0" marL="0">
              <a:lnSpc>
                <a:spcPct val="130000"/>
              </a:lnSpc>
              <a:buNone/>
            </a:pPr>
            <a:r>
              <a:rPr lang="en-US" sz="975" b="1" spc="5" kern="0" dirty="0">
                <a:solidFill>
                  <a:srgbClr val="1B1C16"/>
                </a:solidFill>
                <a:latin typeface="Hanken Grotesk" pitchFamily="34" charset="0"/>
                <a:ea typeface="Hanken Grotesk" pitchFamily="34" charset="-122"/>
                <a:cs typeface="Hanken Grotesk" pitchFamily="34" charset="-120"/>
              </a:rPr>
              <a:t>Privacy. </a:t>
            </a:r>
            <a:pPr algn="l" indent="0" marL="0">
              <a:lnSpc>
                <a:spcPct val="130000"/>
              </a:lnSpc>
              <a:buNone/>
            </a:pPr>
            <a:r>
              <a:rPr lang="en-US" sz="975" spc="5" kern="0" dirty="0">
                <a:solidFill>
                  <a:srgbClr val="5C5A50"/>
                </a:solidFill>
                <a:latin typeface="Hanken Grotesk" pitchFamily="34" charset="0"/>
                <a:ea typeface="Hanken Grotesk" pitchFamily="34" charset="-122"/>
                <a:cs typeface="Hanken Grotesk" pitchFamily="34" charset="-120"/>
              </a:rPr>
              <a:t>Customer information is handled in line with our published privacy policy.</a:t>
            </a:r>
            <a:endParaRPr lang="en-US" sz="975" dirty="0"/>
          </a:p>
        </p:txBody>
      </p:sp>
      <p:sp>
        <p:nvSpPr>
          <p:cNvPr id="14" name="Text 11"/>
          <p:cNvSpPr/>
          <p:nvPr/>
        </p:nvSpPr>
        <p:spPr>
          <a:xfrm>
            <a:off x="791914" y="3968502"/>
            <a:ext cx="6573649" cy="161925"/>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B6873A"/>
                </a:solidFill>
                <a:latin typeface="Courier New" pitchFamily="34" charset="0"/>
                <a:ea typeface="Courier New" pitchFamily="34" charset="-122"/>
                <a:cs typeface="Courier New" pitchFamily="34" charset="-120"/>
              </a:rPr>
              <a:t>FREQUENTLY ASKED</a:t>
            </a:r>
            <a:endParaRPr lang="en-US" sz="825" dirty="0"/>
          </a:p>
        </p:txBody>
      </p:sp>
      <p:sp>
        <p:nvSpPr>
          <p:cNvPr id="15" name="Shape 12"/>
          <p:cNvSpPr/>
          <p:nvPr/>
        </p:nvSpPr>
        <p:spPr>
          <a:xfrm>
            <a:off x="791914" y="4206627"/>
            <a:ext cx="5976045" cy="9525"/>
          </a:xfrm>
          <a:prstGeom prst="rect">
            <a:avLst/>
          </a:prstGeom>
          <a:solidFill>
            <a:srgbClr val="1B1C16">
              <a:alpha val="12000"/>
            </a:srgbClr>
          </a:solidFill>
          <a:ln/>
        </p:spPr>
      </p:sp>
      <p:sp>
        <p:nvSpPr>
          <p:cNvPr id="16" name="Text 13"/>
          <p:cNvSpPr/>
          <p:nvPr/>
        </p:nvSpPr>
        <p:spPr>
          <a:xfrm>
            <a:off x="791914" y="4349502"/>
            <a:ext cx="2663925" cy="352425"/>
          </a:xfrm>
          <a:prstGeom prst="rect">
            <a:avLst/>
          </a:prstGeom>
          <a:noFill/>
          <a:ln/>
        </p:spPr>
        <p:txBody>
          <a:bodyPr wrap="square" lIns="25400" tIns="25400" rIns="25400" bIns="25400" rtlCol="0" anchor="t">
            <a:normAutofit/>
          </a:bodyPr>
          <a:lstStyle/>
          <a:p>
            <a:pPr algn="l" indent="0" marL="0">
              <a:lnSpc>
                <a:spcPct val="110000"/>
              </a:lnSpc>
              <a:buNone/>
            </a:pPr>
            <a:r>
              <a:rPr lang="en-US" sz="1125" spc="-17" kern="0" dirty="0">
                <a:solidFill>
                  <a:srgbClr val="1B1C16"/>
                </a:solidFill>
                <a:latin typeface="Fraunces" pitchFamily="34" charset="0"/>
                <a:ea typeface="Fraunces" pitchFamily="34" charset="-122"/>
                <a:cs typeface="Fraunces" pitchFamily="34" charset="-120"/>
              </a:rPr>
              <a:t>Does this disturb the customer's existing home loan?</a:t>
            </a:r>
            <a:endParaRPr lang="en-US" sz="1125" dirty="0"/>
          </a:p>
        </p:txBody>
      </p:sp>
      <p:sp>
        <p:nvSpPr>
          <p:cNvPr id="17" name="Text 14"/>
          <p:cNvSpPr/>
          <p:nvPr/>
        </p:nvSpPr>
        <p:spPr>
          <a:xfrm>
            <a:off x="3606850" y="4349502"/>
            <a:ext cx="3255943" cy="502444"/>
          </a:xfrm>
          <a:prstGeom prst="rect">
            <a:avLst/>
          </a:prstGeom>
          <a:noFill/>
          <a:ln/>
        </p:spPr>
        <p:txBody>
          <a:bodyPr wrap="square" lIns="25400" tIns="25400" rIns="25400" bIns="25400" rtlCol="0" anchor="t">
            <a:normAutofit/>
          </a:bodyPr>
          <a:lstStyle/>
          <a:p>
            <a:pPr algn="l" indent="0" marL="0">
              <a:lnSpc>
                <a:spcPct val="130000"/>
              </a:lnSpc>
              <a:buNone/>
            </a:pPr>
            <a:r>
              <a:rPr lang="en-US" sz="938" spc="5" kern="0" dirty="0">
                <a:solidFill>
                  <a:srgbClr val="5C5A50"/>
                </a:solidFill>
                <a:latin typeface="Hanken Grotesk" pitchFamily="34" charset="0"/>
                <a:ea typeface="Hanken Grotesk" pitchFamily="34" charset="-122"/>
                <a:cs typeface="Hanken Grotesk" pitchFamily="34" charset="-120"/>
              </a:rPr>
              <a:t>No. Propential sits behind the existing mortgage via a caveat or second mortgage; there's no refinance of their current home loan.</a:t>
            </a:r>
            <a:endParaRPr lang="en-US" sz="938" dirty="0"/>
          </a:p>
        </p:txBody>
      </p:sp>
      <p:sp>
        <p:nvSpPr>
          <p:cNvPr id="18" name="Shape 15"/>
          <p:cNvSpPr/>
          <p:nvPr/>
        </p:nvSpPr>
        <p:spPr>
          <a:xfrm>
            <a:off x="791914" y="4947196"/>
            <a:ext cx="5976045" cy="9525"/>
          </a:xfrm>
          <a:prstGeom prst="rect">
            <a:avLst/>
          </a:prstGeom>
          <a:solidFill>
            <a:srgbClr val="1B1C16">
              <a:alpha val="12000"/>
            </a:srgbClr>
          </a:solidFill>
          <a:ln/>
        </p:spPr>
      </p:sp>
      <p:sp>
        <p:nvSpPr>
          <p:cNvPr id="19" name="Text 16"/>
          <p:cNvSpPr/>
          <p:nvPr/>
        </p:nvSpPr>
        <p:spPr>
          <a:xfrm>
            <a:off x="791914" y="5090071"/>
            <a:ext cx="2844969" cy="195263"/>
          </a:xfrm>
          <a:prstGeom prst="rect">
            <a:avLst/>
          </a:prstGeom>
          <a:noFill/>
          <a:ln/>
        </p:spPr>
        <p:txBody>
          <a:bodyPr wrap="square" lIns="25400" tIns="25400" rIns="25400" bIns="25400" rtlCol="0" anchor="t">
            <a:normAutofit/>
          </a:bodyPr>
          <a:lstStyle/>
          <a:p>
            <a:pPr algn="l" indent="0" marL="0">
              <a:lnSpc>
                <a:spcPct val="110000"/>
              </a:lnSpc>
              <a:buNone/>
            </a:pPr>
            <a:r>
              <a:rPr lang="en-US" sz="1125" spc="-17" kern="0" dirty="0">
                <a:solidFill>
                  <a:srgbClr val="1B1C16"/>
                </a:solidFill>
                <a:latin typeface="Fraunces" pitchFamily="34" charset="0"/>
                <a:ea typeface="Fraunces" pitchFamily="34" charset="-122"/>
                <a:cs typeface="Fraunces" pitchFamily="34" charset="-120"/>
              </a:rPr>
              <a:t>Is the rate risk-based?</a:t>
            </a:r>
            <a:endParaRPr lang="en-US" sz="1125" dirty="0"/>
          </a:p>
        </p:txBody>
      </p:sp>
      <p:sp>
        <p:nvSpPr>
          <p:cNvPr id="20" name="Text 17"/>
          <p:cNvSpPr/>
          <p:nvPr/>
        </p:nvSpPr>
        <p:spPr>
          <a:xfrm>
            <a:off x="3606850" y="5090071"/>
            <a:ext cx="3255943" cy="502444"/>
          </a:xfrm>
          <a:prstGeom prst="rect">
            <a:avLst/>
          </a:prstGeom>
          <a:noFill/>
          <a:ln/>
        </p:spPr>
        <p:txBody>
          <a:bodyPr wrap="square" lIns="25400" tIns="25400" rIns="25400" bIns="25400" rtlCol="0" anchor="t">
            <a:normAutofit/>
          </a:bodyPr>
          <a:lstStyle/>
          <a:p>
            <a:pPr algn="l" indent="0" marL="0">
              <a:lnSpc>
                <a:spcPct val="130000"/>
              </a:lnSpc>
              <a:buNone/>
            </a:pPr>
            <a:r>
              <a:rPr lang="en-US" sz="938" spc="5" kern="0" dirty="0">
                <a:solidFill>
                  <a:srgbClr val="5C5A50"/>
                </a:solidFill>
                <a:latin typeface="Hanken Grotesk" pitchFamily="34" charset="0"/>
                <a:ea typeface="Hanken Grotesk" pitchFamily="34" charset="-122"/>
                <a:cs typeface="Hanken Grotesk" pitchFamily="34" charset="-120"/>
              </a:rPr>
              <a:t>No. It is one clear rate of 17.95% p.a. for everyone. A comparison rate (21.3% p.a.) applies once fees are included, true only for the stated example.</a:t>
            </a:r>
            <a:endParaRPr lang="en-US" sz="938" dirty="0"/>
          </a:p>
        </p:txBody>
      </p:sp>
      <p:sp>
        <p:nvSpPr>
          <p:cNvPr id="21" name="Shape 18"/>
          <p:cNvSpPr/>
          <p:nvPr/>
        </p:nvSpPr>
        <p:spPr>
          <a:xfrm>
            <a:off x="791914" y="5687764"/>
            <a:ext cx="5976045" cy="9525"/>
          </a:xfrm>
          <a:prstGeom prst="rect">
            <a:avLst/>
          </a:prstGeom>
          <a:solidFill>
            <a:srgbClr val="1B1C16">
              <a:alpha val="12000"/>
            </a:srgbClr>
          </a:solidFill>
          <a:ln/>
        </p:spPr>
      </p:sp>
      <p:sp>
        <p:nvSpPr>
          <p:cNvPr id="22" name="Text 19"/>
          <p:cNvSpPr/>
          <p:nvPr/>
        </p:nvSpPr>
        <p:spPr>
          <a:xfrm>
            <a:off x="791914" y="5830639"/>
            <a:ext cx="2844969" cy="195263"/>
          </a:xfrm>
          <a:prstGeom prst="rect">
            <a:avLst/>
          </a:prstGeom>
          <a:noFill/>
          <a:ln/>
        </p:spPr>
        <p:txBody>
          <a:bodyPr wrap="square" lIns="25400" tIns="25400" rIns="25400" bIns="25400" rtlCol="0" anchor="t">
            <a:normAutofit/>
          </a:bodyPr>
          <a:lstStyle/>
          <a:p>
            <a:pPr algn="l" indent="0" marL="0">
              <a:lnSpc>
                <a:spcPct val="110000"/>
              </a:lnSpc>
              <a:buNone/>
            </a:pPr>
            <a:r>
              <a:rPr lang="en-US" sz="1125" spc="-17" kern="0" dirty="0">
                <a:solidFill>
                  <a:srgbClr val="1B1C16"/>
                </a:solidFill>
                <a:latin typeface="Fraunces" pitchFamily="34" charset="0"/>
                <a:ea typeface="Fraunces" pitchFamily="34" charset="-122"/>
                <a:cs typeface="Fraunces" pitchFamily="34" charset="-120"/>
              </a:rPr>
              <a:t>How much can a customer borrow?</a:t>
            </a:r>
            <a:endParaRPr lang="en-US" sz="1125" dirty="0"/>
          </a:p>
        </p:txBody>
      </p:sp>
      <p:sp>
        <p:nvSpPr>
          <p:cNvPr id="23" name="Text 20"/>
          <p:cNvSpPr/>
          <p:nvPr/>
        </p:nvSpPr>
        <p:spPr>
          <a:xfrm>
            <a:off x="3606850" y="5830639"/>
            <a:ext cx="3255943" cy="347663"/>
          </a:xfrm>
          <a:prstGeom prst="rect">
            <a:avLst/>
          </a:prstGeom>
          <a:noFill/>
          <a:ln/>
        </p:spPr>
        <p:txBody>
          <a:bodyPr wrap="square" lIns="25400" tIns="25400" rIns="25400" bIns="25400" rtlCol="0" anchor="t">
            <a:normAutofit/>
          </a:bodyPr>
          <a:lstStyle/>
          <a:p>
            <a:pPr algn="l" indent="0" marL="0">
              <a:lnSpc>
                <a:spcPct val="130000"/>
              </a:lnSpc>
              <a:buNone/>
            </a:pPr>
            <a:r>
              <a:rPr lang="en-US" sz="938" spc="5" kern="0" dirty="0">
                <a:solidFill>
                  <a:srgbClr val="5C5A50"/>
                </a:solidFill>
                <a:latin typeface="Hanken Grotesk" pitchFamily="34" charset="0"/>
                <a:ea typeface="Hanken Grotesk" pitchFamily="34" charset="-122"/>
                <a:cs typeface="Hanken Grotesk" pitchFamily="34" charset="-120"/>
              </a:rPr>
              <a:t>Between $5,000 and $175,000, subject to our credit assessment and their capacity to repay.</a:t>
            </a:r>
            <a:endParaRPr lang="en-US" sz="938" dirty="0"/>
          </a:p>
        </p:txBody>
      </p:sp>
      <p:sp>
        <p:nvSpPr>
          <p:cNvPr id="24" name="Shape 21"/>
          <p:cNvSpPr/>
          <p:nvPr/>
        </p:nvSpPr>
        <p:spPr>
          <a:xfrm>
            <a:off x="791914" y="6859339"/>
            <a:ext cx="5976045" cy="9525"/>
          </a:xfrm>
          <a:prstGeom prst="rect">
            <a:avLst/>
          </a:prstGeom>
          <a:solidFill>
            <a:srgbClr val="1B1C16">
              <a:alpha val="12000"/>
            </a:srgbClr>
          </a:solidFill>
          <a:ln/>
        </p:spPr>
      </p:sp>
      <p:sp>
        <p:nvSpPr>
          <p:cNvPr id="25" name="Shape 22"/>
          <p:cNvSpPr/>
          <p:nvPr/>
        </p:nvSpPr>
        <p:spPr>
          <a:xfrm>
            <a:off x="791914" y="6273552"/>
            <a:ext cx="5976045" cy="9525"/>
          </a:xfrm>
          <a:prstGeom prst="rect">
            <a:avLst/>
          </a:prstGeom>
          <a:solidFill>
            <a:srgbClr val="1B1C16">
              <a:alpha val="12000"/>
            </a:srgbClr>
          </a:solidFill>
          <a:ln/>
        </p:spPr>
      </p:sp>
      <p:sp>
        <p:nvSpPr>
          <p:cNvPr id="26" name="Text 23"/>
          <p:cNvSpPr/>
          <p:nvPr/>
        </p:nvSpPr>
        <p:spPr>
          <a:xfrm>
            <a:off x="791914" y="6416427"/>
            <a:ext cx="2844969" cy="195263"/>
          </a:xfrm>
          <a:prstGeom prst="rect">
            <a:avLst/>
          </a:prstGeom>
          <a:noFill/>
          <a:ln/>
        </p:spPr>
        <p:txBody>
          <a:bodyPr wrap="square" lIns="25400" tIns="25400" rIns="25400" bIns="25400" rtlCol="0" anchor="t">
            <a:normAutofit/>
          </a:bodyPr>
          <a:lstStyle/>
          <a:p>
            <a:pPr algn="l" indent="0" marL="0">
              <a:lnSpc>
                <a:spcPct val="110000"/>
              </a:lnSpc>
              <a:buNone/>
            </a:pPr>
            <a:r>
              <a:rPr lang="en-US" sz="1125" spc="-17" kern="0" dirty="0">
                <a:solidFill>
                  <a:srgbClr val="1B1C16"/>
                </a:solidFill>
                <a:latin typeface="Fraunces" pitchFamily="34" charset="0"/>
                <a:ea typeface="Fraunces" pitchFamily="34" charset="-122"/>
                <a:cs typeface="Fraunces" pitchFamily="34" charset="-120"/>
              </a:rPr>
              <a:t>When is broker commission paid?</a:t>
            </a:r>
            <a:endParaRPr lang="en-US" sz="1125" dirty="0"/>
          </a:p>
        </p:txBody>
      </p:sp>
      <p:sp>
        <p:nvSpPr>
          <p:cNvPr id="27" name="Text 24"/>
          <p:cNvSpPr/>
          <p:nvPr/>
        </p:nvSpPr>
        <p:spPr>
          <a:xfrm>
            <a:off x="3606850" y="6416427"/>
            <a:ext cx="3255943" cy="347663"/>
          </a:xfrm>
          <a:prstGeom prst="rect">
            <a:avLst/>
          </a:prstGeom>
          <a:noFill/>
          <a:ln/>
        </p:spPr>
        <p:txBody>
          <a:bodyPr wrap="square" lIns="25400" tIns="25400" rIns="25400" bIns="25400" rtlCol="0" anchor="t">
            <a:normAutofit/>
          </a:bodyPr>
          <a:lstStyle/>
          <a:p>
            <a:pPr algn="l" indent="0" marL="0">
              <a:lnSpc>
                <a:spcPct val="130000"/>
              </a:lnSpc>
              <a:buNone/>
            </a:pPr>
            <a:r>
              <a:rPr lang="en-US" sz="938" spc="5" kern="0" dirty="0">
                <a:solidFill>
                  <a:srgbClr val="5C5A50"/>
                </a:solidFill>
                <a:latin typeface="Hanken Grotesk" pitchFamily="34" charset="0"/>
                <a:ea typeface="Hanken Grotesk" pitchFamily="34" charset="-122"/>
                <a:cs typeface="Hanken Grotesk" pitchFamily="34" charset="-120"/>
              </a:rPr>
              <a:t>$495 per settlement, once-off, paid after the loan settles, with no claw-back.</a:t>
            </a:r>
            <a:endParaRPr lang="en-US" sz="938" dirty="0"/>
          </a:p>
        </p:txBody>
      </p:sp>
      <p:sp>
        <p:nvSpPr>
          <p:cNvPr id="28" name="Shape 25"/>
          <p:cNvSpPr/>
          <p:nvPr/>
        </p:nvSpPr>
        <p:spPr>
          <a:xfrm>
            <a:off x="791914" y="9978479"/>
            <a:ext cx="5976045" cy="9525"/>
          </a:xfrm>
          <a:prstGeom prst="rect">
            <a:avLst/>
          </a:prstGeom>
          <a:solidFill>
            <a:srgbClr val="1B1C16">
              <a:alpha val="12000"/>
            </a:srgbClr>
          </a:solidFill>
          <a:ln/>
        </p:spPr>
      </p:sp>
      <p:sp>
        <p:nvSpPr>
          <p:cNvPr id="29" name="Text 26"/>
          <p:cNvSpPr/>
          <p:nvPr/>
        </p:nvSpPr>
        <p:spPr>
          <a:xfrm>
            <a:off x="791914" y="10083254"/>
            <a:ext cx="2393126" cy="142875"/>
          </a:xfrm>
          <a:prstGeom prst="rect">
            <a:avLst/>
          </a:prstGeom>
          <a:noFill/>
          <a:ln/>
        </p:spPr>
        <p:txBody>
          <a:bodyPr wrap="square" lIns="25400" tIns="25400" rIns="25400" bIns="25400" rtlCol="0" anchor="t">
            <a:normAutofit/>
          </a:bodyPr>
          <a:lstStyle/>
          <a:p>
            <a:pPr algn="l" indent="0" marL="0">
              <a:buNone/>
            </a:pPr>
            <a:r>
              <a:rPr lang="en-US" sz="713" spc="71" kern="0" dirty="0">
                <a:solidFill>
                  <a:srgbClr val="9A978C"/>
                </a:solidFill>
                <a:latin typeface="Courier New" pitchFamily="34" charset="0"/>
                <a:ea typeface="Courier New" pitchFamily="34" charset="-122"/>
                <a:cs typeface="Courier New" pitchFamily="34" charset="-120"/>
              </a:rPr>
              <a:t>PROPENTIAL · PARTNER INFORMATION PACK</a:t>
            </a:r>
            <a:endParaRPr lang="en-US" sz="713" dirty="0"/>
          </a:p>
        </p:txBody>
      </p:sp>
      <p:sp>
        <p:nvSpPr>
          <p:cNvPr id="30" name="Text 27"/>
          <p:cNvSpPr/>
          <p:nvPr/>
        </p:nvSpPr>
        <p:spPr>
          <a:xfrm>
            <a:off x="5062686" y="10083254"/>
            <a:ext cx="1875800" cy="142875"/>
          </a:xfrm>
          <a:prstGeom prst="rect">
            <a:avLst/>
          </a:prstGeom>
          <a:noFill/>
          <a:ln/>
        </p:spPr>
        <p:txBody>
          <a:bodyPr wrap="square" lIns="25400" tIns="25400" rIns="25400" bIns="25400" rtlCol="0" anchor="t">
            <a:normAutofit/>
          </a:bodyPr>
          <a:lstStyle/>
          <a:p>
            <a:pPr algn="l" indent="0" marL="0">
              <a:buNone/>
            </a:pPr>
            <a:r>
              <a:rPr lang="en-US" sz="713" spc="71" kern="0" dirty="0">
                <a:solidFill>
                  <a:srgbClr val="9A978C"/>
                </a:solidFill>
                <a:latin typeface="Courier New" pitchFamily="34" charset="0"/>
                <a:ea typeface="Courier New" pitchFamily="34" charset="-122"/>
                <a:cs typeface="Courier New" pitchFamily="34" charset="-120"/>
              </a:rPr>
              <a:t>COMMERCIAL-IN-CONFIDENCE · 05</a:t>
            </a:r>
            <a:endParaRPr lang="en-US" sz="713"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70F"/>
        </a:solidFill>
      </p:bgPr>
    </p:bg>
    <p:spTree>
      <p:nvGrpSpPr>
        <p:cNvPr id="1" name=""/>
        <p:cNvGrpSpPr/>
        <p:nvPr/>
      </p:nvGrpSpPr>
      <p:grpSpPr>
        <a:xfrm>
          <a:off x="0" y="0"/>
          <a:ext cx="0" cy="0"/>
          <a:chOff x="0" y="0"/>
          <a:chExt cx="0" cy="0"/>
        </a:xfrm>
      </p:grpSpPr>
      <p:sp>
        <p:nvSpPr>
          <p:cNvPr id="2" name="Shape 0"/>
          <p:cNvSpPr/>
          <p:nvPr/>
        </p:nvSpPr>
        <p:spPr>
          <a:xfrm>
            <a:off x="0" y="0"/>
            <a:ext cx="7559873" cy="10691961"/>
          </a:xfrm>
          <a:prstGeom prst="rect">
            <a:avLst/>
          </a:prstGeom>
          <a:gradFill rotWithShape="1">
            <a:gsLst>
              <a:gs pos="0">
                <a:srgbClr val="D6B15E">
                  <a:alpha val="8000"/>
                </a:srgbClr>
              </a:gs>
              <a:gs pos="55000">
                <a:srgbClr val="D6B15E">
                  <a:alpha val="0"/>
                </a:srgbClr>
              </a:gs>
            </a:gsLst>
            <a:path path="circle">
              <a:fillToRect l="80000" t="12000" r="20000" b="88000"/>
            </a:path>
          </a:gradFill>
          <a:ln/>
          <a:effectLst>
            <a:outerShdw sx="100000" sy="100000" kx="0" ky="0" algn="bl" rotWithShape="0" blurRad="666750" dist="285750" dir="5400000">
              <a:srgbClr val="000000">
                <a:alpha val="70000"/>
              </a:srgbClr>
            </a:outerShdw>
          </a:effectLst>
        </p:spPr>
      </p:sp>
      <p:sp>
        <p:nvSpPr>
          <p:cNvPr id="3" name="Shape 1"/>
          <p:cNvSpPr/>
          <p:nvPr/>
        </p:nvSpPr>
        <p:spPr>
          <a:xfrm>
            <a:off x="791914" y="1283047"/>
            <a:ext cx="5976045" cy="9525"/>
          </a:xfrm>
          <a:prstGeom prst="rect">
            <a:avLst/>
          </a:prstGeom>
          <a:solidFill>
            <a:srgbClr val="F3EEE2">
              <a:alpha val="8000"/>
            </a:srgbClr>
          </a:solidFill>
          <a:ln/>
        </p:spPr>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1914" y="863947"/>
            <a:ext cx="235744" cy="247650"/>
          </a:xfrm>
          <a:prstGeom prst="rect">
            <a:avLst/>
          </a:prstGeom>
        </p:spPr>
      </p:pic>
      <p:sp>
        <p:nvSpPr>
          <p:cNvPr id="5" name="Text 2"/>
          <p:cNvSpPr/>
          <p:nvPr/>
        </p:nvSpPr>
        <p:spPr>
          <a:xfrm>
            <a:off x="1122908" y="872579"/>
            <a:ext cx="1095673" cy="268486"/>
          </a:xfrm>
          <a:prstGeom prst="rect">
            <a:avLst/>
          </a:prstGeom>
          <a:noFill/>
          <a:ln/>
        </p:spPr>
        <p:txBody>
          <a:bodyPr wrap="square" lIns="25400" tIns="25400" rIns="25400" bIns="25400" rtlCol="0" anchor="t">
            <a:normAutofit/>
          </a:bodyPr>
          <a:lstStyle/>
          <a:p>
            <a:pPr algn="l" indent="0" marL="0">
              <a:lnSpc>
                <a:spcPct val="110000"/>
              </a:lnSpc>
              <a:buNone/>
            </a:pPr>
            <a:r>
              <a:rPr lang="en-US" sz="1650" dirty="0">
                <a:solidFill>
                  <a:srgbClr val="F3EEE2"/>
                </a:solidFill>
                <a:latin typeface="Fraunces" pitchFamily="34" charset="0"/>
                <a:ea typeface="Fraunces" pitchFamily="34" charset="-122"/>
                <a:cs typeface="Fraunces" pitchFamily="34" charset="-120"/>
              </a:rPr>
              <a:t>Prop</a:t>
            </a:r>
            <a:pPr algn="l" indent="0" marL="0">
              <a:lnSpc>
                <a:spcPct val="110000"/>
              </a:lnSpc>
              <a:buNone/>
            </a:pPr>
            <a:r>
              <a:rPr lang="en-US" sz="1650" i="1" dirty="0">
                <a:solidFill>
                  <a:srgbClr val="B6873A"/>
                </a:solidFill>
                <a:latin typeface="Fraunces" pitchFamily="34" charset="0"/>
                <a:ea typeface="Fraunces" pitchFamily="34" charset="-122"/>
                <a:cs typeface="Fraunces" pitchFamily="34" charset="-120"/>
              </a:rPr>
              <a:t>ential</a:t>
            </a:r>
            <a:endParaRPr lang="en-US" sz="1650" dirty="0"/>
          </a:p>
        </p:txBody>
      </p:sp>
      <p:sp>
        <p:nvSpPr>
          <p:cNvPr id="6" name="Text 3"/>
          <p:cNvSpPr/>
          <p:nvPr/>
        </p:nvSpPr>
        <p:spPr>
          <a:xfrm>
            <a:off x="5703094" y="944910"/>
            <a:ext cx="1141065" cy="161925"/>
          </a:xfrm>
          <a:prstGeom prst="rect">
            <a:avLst/>
          </a:prstGeom>
          <a:noFill/>
          <a:ln/>
        </p:spPr>
        <p:txBody>
          <a:bodyPr wrap="square" lIns="25400" tIns="25400" rIns="25400" bIns="25400" rtlCol="0" anchor="t">
            <a:normAutofit/>
          </a:bodyPr>
          <a:lstStyle/>
          <a:p>
            <a:pPr algn="l" indent="0" marL="0">
              <a:buNone/>
            </a:pPr>
            <a:r>
              <a:rPr lang="en-US" sz="788" spc="126" kern="0" dirty="0">
                <a:solidFill>
                  <a:srgbClr val="A7A399"/>
                </a:solidFill>
                <a:latin typeface="Courier New" pitchFamily="34" charset="0"/>
                <a:ea typeface="Courier New" pitchFamily="34" charset="-122"/>
                <a:cs typeface="Courier New" pitchFamily="34" charset="-120"/>
              </a:rPr>
              <a:t>05 · LET'S TALK</a:t>
            </a:r>
            <a:endParaRPr lang="en-US" sz="788" dirty="0"/>
          </a:p>
        </p:txBody>
      </p:sp>
      <p:sp>
        <p:nvSpPr>
          <p:cNvPr id="7" name="Text 4"/>
          <p:cNvSpPr/>
          <p:nvPr/>
        </p:nvSpPr>
        <p:spPr>
          <a:xfrm>
            <a:off x="791914" y="1673572"/>
            <a:ext cx="6573649" cy="161925"/>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D6B15E"/>
                </a:solidFill>
                <a:latin typeface="Courier New" pitchFamily="34" charset="0"/>
                <a:ea typeface="Courier New" pitchFamily="34" charset="-122"/>
                <a:cs typeface="Courier New" pitchFamily="34" charset="-120"/>
              </a:rPr>
              <a:t>NEXT STEPS</a:t>
            </a:r>
            <a:endParaRPr lang="en-US" sz="825" dirty="0"/>
          </a:p>
        </p:txBody>
      </p:sp>
      <p:sp>
        <p:nvSpPr>
          <p:cNvPr id="8" name="Text 5"/>
          <p:cNvSpPr/>
          <p:nvPr/>
        </p:nvSpPr>
        <p:spPr>
          <a:xfrm>
            <a:off x="791914" y="1911697"/>
            <a:ext cx="6155326" cy="959941"/>
          </a:xfrm>
          <a:prstGeom prst="rect">
            <a:avLst/>
          </a:prstGeom>
          <a:noFill/>
          <a:ln/>
        </p:spPr>
        <p:txBody>
          <a:bodyPr wrap="square" lIns="25400" tIns="25400" rIns="25400" bIns="25400" rtlCol="0" anchor="t">
            <a:normAutofit/>
          </a:bodyPr>
          <a:lstStyle/>
          <a:p>
            <a:pPr algn="l" indent="0" marL="0">
              <a:lnSpc>
                <a:spcPct val="110000"/>
              </a:lnSpc>
              <a:buNone/>
            </a:pPr>
            <a:r>
              <a:rPr lang="en-US" sz="3300" dirty="0">
                <a:solidFill>
                  <a:srgbClr val="F3EEE2"/>
                </a:solidFill>
                <a:latin typeface="Fraunces" pitchFamily="34" charset="0"/>
                <a:ea typeface="Fraunces" pitchFamily="34" charset="-122"/>
                <a:cs typeface="Fraunces" pitchFamily="34" charset="-120"/>
              </a:rPr>
              <a:t>Let's find the right fit for your network.</a:t>
            </a:r>
            <a:endParaRPr lang="en-US" sz="3300" dirty="0"/>
          </a:p>
        </p:txBody>
      </p:sp>
      <p:sp>
        <p:nvSpPr>
          <p:cNvPr id="9" name="Text 6"/>
          <p:cNvSpPr/>
          <p:nvPr/>
        </p:nvSpPr>
        <p:spPr>
          <a:xfrm>
            <a:off x="791914" y="2985939"/>
            <a:ext cx="6151340" cy="384572"/>
          </a:xfrm>
          <a:prstGeom prst="rect">
            <a:avLst/>
          </a:prstGeom>
          <a:noFill/>
          <a:ln/>
        </p:spPr>
        <p:txBody>
          <a:bodyPr wrap="square" lIns="25400" tIns="25400" rIns="25400" bIns="25400" rtlCol="0" anchor="t">
            <a:normAutofit/>
          </a:bodyPr>
          <a:lstStyle/>
          <a:p>
            <a:pPr algn="l" indent="0" marL="0">
              <a:lnSpc>
                <a:spcPct val="130000"/>
              </a:lnSpc>
              <a:buNone/>
            </a:pPr>
            <a:r>
              <a:rPr lang="en-US" sz="1050" spc="5" kern="0" dirty="0">
                <a:solidFill>
                  <a:srgbClr val="A7A399"/>
                </a:solidFill>
                <a:latin typeface="Hanken Grotesk" pitchFamily="34" charset="0"/>
                <a:ea typeface="Hanken Grotesk" pitchFamily="34" charset="-122"/>
                <a:cs typeface="Hanken Grotesk" pitchFamily="34" charset="-120"/>
              </a:rPr>
              <a:t>Bring your questions to the meeting, we'll walk through the product, the support and the commercial terms and get you set up to refer or distribute.</a:t>
            </a:r>
            <a:endParaRPr lang="en-US" sz="1050" dirty="0"/>
          </a:p>
        </p:txBody>
      </p:sp>
      <p:sp>
        <p:nvSpPr>
          <p:cNvPr id="10" name="Shape 7"/>
          <p:cNvSpPr/>
          <p:nvPr/>
        </p:nvSpPr>
        <p:spPr>
          <a:xfrm>
            <a:off x="791914" y="3618161"/>
            <a:ext cx="2864197" cy="988665"/>
          </a:xfrm>
          <a:prstGeom prst="roundRect">
            <a:avLst>
              <a:gd name="adj" fmla="val 11561"/>
            </a:avLst>
          </a:prstGeom>
          <a:solidFill>
            <a:srgbClr val="F3EEE2">
              <a:alpha val="4000"/>
            </a:srgbClr>
          </a:solidFill>
          <a:ln w="9525">
            <a:solidFill>
              <a:srgbClr val="F3EEE2">
                <a:alpha val="8000"/>
              </a:srgbClr>
            </a:solidFill>
            <a:prstDash val="solid"/>
          </a:ln>
        </p:spPr>
      </p:sp>
      <p:sp>
        <p:nvSpPr>
          <p:cNvPr id="11" name="Text 8"/>
          <p:cNvSpPr/>
          <p:nvPr/>
        </p:nvSpPr>
        <p:spPr>
          <a:xfrm>
            <a:off x="972889" y="3846761"/>
            <a:ext cx="395287" cy="152400"/>
          </a:xfrm>
          <a:prstGeom prst="rect">
            <a:avLst/>
          </a:prstGeom>
          <a:noFill/>
          <a:ln/>
        </p:spPr>
        <p:txBody>
          <a:bodyPr wrap="square" lIns="25400" tIns="25400" rIns="25400" bIns="25400" rtlCol="0" anchor="t">
            <a:normAutofit/>
          </a:bodyPr>
          <a:lstStyle/>
          <a:p>
            <a:pPr algn="l" indent="0" marL="0">
              <a:buNone/>
            </a:pPr>
            <a:r>
              <a:rPr lang="en-US" sz="750" spc="90" kern="0" dirty="0">
                <a:solidFill>
                  <a:srgbClr val="D6B15E"/>
                </a:solidFill>
                <a:latin typeface="Courier New" pitchFamily="34" charset="0"/>
                <a:ea typeface="Courier New" pitchFamily="34" charset="-122"/>
                <a:cs typeface="Courier New" pitchFamily="34" charset="-120"/>
              </a:rPr>
              <a:t>EMAIL</a:t>
            </a:r>
            <a:endParaRPr lang="en-US" sz="750" dirty="0"/>
          </a:p>
        </p:txBody>
      </p:sp>
      <p:sp>
        <p:nvSpPr>
          <p:cNvPr id="12" name="Text 9"/>
          <p:cNvSpPr/>
          <p:nvPr/>
        </p:nvSpPr>
        <p:spPr>
          <a:xfrm>
            <a:off x="972889" y="4027736"/>
            <a:ext cx="2752472" cy="226665"/>
          </a:xfrm>
          <a:prstGeom prst="rect">
            <a:avLst/>
          </a:prstGeom>
          <a:noFill/>
          <a:ln/>
        </p:spPr>
        <p:txBody>
          <a:bodyPr wrap="square" lIns="25400" tIns="25400" rIns="25400" bIns="25400" rtlCol="0" anchor="t">
            <a:normAutofit/>
          </a:bodyPr>
          <a:lstStyle/>
          <a:p>
            <a:pPr algn="l" indent="0" marL="0">
              <a:lnSpc>
                <a:spcPct val="110000"/>
              </a:lnSpc>
              <a:buNone/>
            </a:pPr>
            <a:r>
              <a:rPr lang="en-US" sz="1350" spc="5" kern="0" dirty="0">
                <a:solidFill>
                  <a:srgbClr val="F3EEE2"/>
                </a:solidFill>
                <a:latin typeface="Fraunces" pitchFamily="34" charset="0"/>
                <a:ea typeface="Fraunces" pitchFamily="34" charset="-122"/>
                <a:cs typeface="Fraunces" pitchFamily="34" charset="-120"/>
              </a:rPr>
              <a:t>partners@propential.com.au</a:t>
            </a:r>
            <a:endParaRPr lang="en-US" sz="1350" dirty="0"/>
          </a:p>
        </p:txBody>
      </p:sp>
      <p:sp>
        <p:nvSpPr>
          <p:cNvPr id="13" name="Text 10"/>
          <p:cNvSpPr/>
          <p:nvPr/>
        </p:nvSpPr>
        <p:spPr>
          <a:xfrm>
            <a:off x="972889" y="4273451"/>
            <a:ext cx="1840766" cy="180975"/>
          </a:xfrm>
          <a:prstGeom prst="rect">
            <a:avLst/>
          </a:prstGeom>
          <a:noFill/>
          <a:ln/>
        </p:spPr>
        <p:txBody>
          <a:bodyPr wrap="square" lIns="25400" tIns="25400" rIns="25400" bIns="25400" rtlCol="0" anchor="t">
            <a:normAutofit/>
          </a:bodyPr>
          <a:lstStyle/>
          <a:p>
            <a:pPr algn="l" indent="0" marL="0">
              <a:lnSpc>
                <a:spcPct val="130000"/>
              </a:lnSpc>
              <a:buNone/>
            </a:pPr>
            <a:r>
              <a:rPr lang="en-US" sz="863" spc="5" kern="0" dirty="0">
                <a:solidFill>
                  <a:srgbClr val="A7A399"/>
                </a:solidFill>
                <a:latin typeface="Hanken Grotesk" pitchFamily="34" charset="0"/>
                <a:ea typeface="Hanken Grotesk" pitchFamily="34" charset="-122"/>
                <a:cs typeface="Hanken Grotesk" pitchFamily="34" charset="-120"/>
              </a:rPr>
              <a:t>We reply within one business day.</a:t>
            </a:r>
            <a:endParaRPr lang="en-US" sz="863" dirty="0"/>
          </a:p>
        </p:txBody>
      </p:sp>
      <p:sp>
        <p:nvSpPr>
          <p:cNvPr id="14" name="Shape 11"/>
          <p:cNvSpPr/>
          <p:nvPr/>
        </p:nvSpPr>
        <p:spPr>
          <a:xfrm>
            <a:off x="3903762" y="3618161"/>
            <a:ext cx="2864197" cy="988665"/>
          </a:xfrm>
          <a:prstGeom prst="roundRect">
            <a:avLst>
              <a:gd name="adj" fmla="val 11561"/>
            </a:avLst>
          </a:prstGeom>
          <a:solidFill>
            <a:srgbClr val="F3EEE2">
              <a:alpha val="4000"/>
            </a:srgbClr>
          </a:solidFill>
          <a:ln w="9525">
            <a:solidFill>
              <a:srgbClr val="F3EEE2">
                <a:alpha val="8000"/>
              </a:srgbClr>
            </a:solidFill>
            <a:prstDash val="solid"/>
          </a:ln>
        </p:spPr>
      </p:sp>
      <p:sp>
        <p:nvSpPr>
          <p:cNvPr id="15" name="Text 12"/>
          <p:cNvSpPr/>
          <p:nvPr/>
        </p:nvSpPr>
        <p:spPr>
          <a:xfrm>
            <a:off x="4084737" y="3846761"/>
            <a:ext cx="395287" cy="152400"/>
          </a:xfrm>
          <a:prstGeom prst="rect">
            <a:avLst/>
          </a:prstGeom>
          <a:noFill/>
          <a:ln/>
        </p:spPr>
        <p:txBody>
          <a:bodyPr wrap="square" lIns="25400" tIns="25400" rIns="25400" bIns="25400" rtlCol="0" anchor="t">
            <a:normAutofit/>
          </a:bodyPr>
          <a:lstStyle/>
          <a:p>
            <a:pPr algn="l" indent="0" marL="0">
              <a:buNone/>
            </a:pPr>
            <a:r>
              <a:rPr lang="en-US" sz="750" spc="90" kern="0" dirty="0">
                <a:solidFill>
                  <a:srgbClr val="D6B15E"/>
                </a:solidFill>
                <a:latin typeface="Courier New" pitchFamily="34" charset="0"/>
                <a:ea typeface="Courier New" pitchFamily="34" charset="-122"/>
                <a:cs typeface="Courier New" pitchFamily="34" charset="-120"/>
              </a:rPr>
              <a:t>PHONE</a:t>
            </a:r>
            <a:endParaRPr lang="en-US" sz="750" dirty="0"/>
          </a:p>
        </p:txBody>
      </p:sp>
      <p:sp>
        <p:nvSpPr>
          <p:cNvPr id="16" name="Text 13"/>
          <p:cNvSpPr/>
          <p:nvPr/>
        </p:nvSpPr>
        <p:spPr>
          <a:xfrm>
            <a:off x="4084737" y="4027736"/>
            <a:ext cx="2752472" cy="226665"/>
          </a:xfrm>
          <a:prstGeom prst="rect">
            <a:avLst/>
          </a:prstGeom>
          <a:noFill/>
          <a:ln/>
        </p:spPr>
        <p:txBody>
          <a:bodyPr wrap="square" lIns="25400" tIns="25400" rIns="25400" bIns="25400" rtlCol="0" anchor="t">
            <a:normAutofit/>
          </a:bodyPr>
          <a:lstStyle/>
          <a:p>
            <a:pPr algn="l" indent="0" marL="0">
              <a:lnSpc>
                <a:spcPct val="110000"/>
              </a:lnSpc>
              <a:buNone/>
            </a:pPr>
            <a:r>
              <a:rPr lang="en-US" sz="1350" spc="5" kern="0" dirty="0">
                <a:solidFill>
                  <a:srgbClr val="F3EEE2"/>
                </a:solidFill>
                <a:latin typeface="Fraunces" pitchFamily="34" charset="0"/>
                <a:ea typeface="Fraunces" pitchFamily="34" charset="-122"/>
                <a:cs typeface="Fraunces" pitchFamily="34" charset="-120"/>
              </a:rPr>
              <a:t>1800 012 795</a:t>
            </a:r>
            <a:endParaRPr lang="en-US" sz="1350" dirty="0"/>
          </a:p>
        </p:txBody>
      </p:sp>
      <p:sp>
        <p:nvSpPr>
          <p:cNvPr id="17" name="Shape 14"/>
          <p:cNvSpPr/>
          <p:nvPr/>
        </p:nvSpPr>
        <p:spPr>
          <a:xfrm>
            <a:off x="791914" y="4835426"/>
            <a:ext cx="1314450" cy="1314450"/>
          </a:xfrm>
          <a:prstGeom prst="roundRect">
            <a:avLst>
              <a:gd name="adj" fmla="val 10145"/>
            </a:avLst>
          </a:prstGeom>
          <a:solidFill>
            <a:srgbClr val="FFFFFF"/>
          </a:solidFill>
          <a:ln/>
        </p:spPr>
      </p:sp>
      <p:pic>
        <p:nvPicPr>
          <p:cNvPr id="18" name="Image 1" descr="preencoded.png">    </p:cNvPr>
          <p:cNvPicPr>
            <a:picLocks noChangeAspect="1"/>
          </p:cNvPicPr>
          <p:nvPr/>
        </p:nvPicPr>
        <p:blipFill>
          <a:blip r:embed="rId3"/>
          <a:stretch>
            <a:fillRect/>
          </a:stretch>
        </p:blipFill>
        <p:spPr>
          <a:xfrm>
            <a:off x="896689" y="4940201"/>
            <a:ext cx="1104900" cy="1104900"/>
          </a:xfrm>
          <a:prstGeom prst="rect">
            <a:avLst/>
          </a:prstGeom>
        </p:spPr>
      </p:pic>
      <p:sp>
        <p:nvSpPr>
          <p:cNvPr id="19" name="Text 15"/>
          <p:cNvSpPr/>
          <p:nvPr/>
        </p:nvSpPr>
        <p:spPr>
          <a:xfrm>
            <a:off x="2296864" y="5211663"/>
            <a:ext cx="2719566" cy="152400"/>
          </a:xfrm>
          <a:prstGeom prst="rect">
            <a:avLst/>
          </a:prstGeom>
          <a:noFill/>
          <a:ln/>
        </p:spPr>
        <p:txBody>
          <a:bodyPr wrap="square" lIns="25400" tIns="25400" rIns="25400" bIns="25400" rtlCol="0" anchor="t">
            <a:normAutofit/>
          </a:bodyPr>
          <a:lstStyle/>
          <a:p>
            <a:pPr algn="l" indent="0" marL="0">
              <a:buNone/>
            </a:pPr>
            <a:r>
              <a:rPr lang="en-US" sz="750" spc="90" kern="0" dirty="0">
                <a:solidFill>
                  <a:srgbClr val="D6B15E"/>
                </a:solidFill>
                <a:latin typeface="Courier New" pitchFamily="34" charset="0"/>
                <a:ea typeface="Courier New" pitchFamily="34" charset="-122"/>
                <a:cs typeface="Courier New" pitchFamily="34" charset="-120"/>
              </a:rPr>
              <a:t>VISIT THE SITE</a:t>
            </a:r>
            <a:endParaRPr lang="en-US" sz="750" dirty="0"/>
          </a:p>
        </p:txBody>
      </p:sp>
      <p:sp>
        <p:nvSpPr>
          <p:cNvPr id="20" name="Text 16">
            <a:hlinkClick r:id="rId4" tooltip=""/>
          </p:cNvPr>
          <p:cNvSpPr/>
          <p:nvPr/>
        </p:nvSpPr>
        <p:spPr>
          <a:xfrm>
            <a:off x="2296864" y="5364063"/>
            <a:ext cx="2719566" cy="257175"/>
          </a:xfrm>
          <a:prstGeom prst="rect">
            <a:avLst/>
          </a:prstGeom>
          <a:noFill/>
          <a:ln/>
        </p:spPr>
        <p:txBody>
          <a:bodyPr wrap="square" lIns="25400" tIns="25400" rIns="25400" bIns="25400" rtlCol="0" anchor="t">
            <a:normAutofit/>
          </a:bodyPr>
          <a:lstStyle/>
          <a:p>
            <a:pPr algn="l" indent="0" marL="0">
              <a:buNone/>
            </a:pPr>
            <a:r>
              <a:rPr lang="en-US" sz="1350" u="sng" spc="5" kern="0" dirty="0">
                <a:solidFill>
                  <a:srgbClr val="F3EEE2"/>
                </a:solidFill>
                <a:latin typeface="Fraunces" pitchFamily="34" charset="0"/>
                <a:ea typeface="Fraunces" pitchFamily="34" charset="-122"/>
                <a:cs typeface="Fraunces" pitchFamily="34" charset="-120"/>
                <a:hlinkClick r:id="rId4" invalidUrl="" action="" tgtFrame="" tooltip="" history="1" highlightClick="0" endSnd="0">
                  <a:extLst>
                    <a:ext uri="{A12FA001-AC4F-418D-AE19-62706E023703}">
                      <ahyp:hlinkClr xmlns:ahyp="http://schemas.microsoft.com/office/drawing/2018/hyperlinkcolor" val="tx"/>
                    </a:ext>
                  </a:extLst>
                </a:hlinkClick>
              </a:rPr>
              <a:t>propential.com.au</a:t>
            </a:r>
            <a:endParaRPr lang="en-US" sz="1350" dirty="0"/>
          </a:p>
        </p:txBody>
      </p:sp>
      <p:sp>
        <p:nvSpPr>
          <p:cNvPr id="21" name="Text 17"/>
          <p:cNvSpPr/>
          <p:nvPr/>
        </p:nvSpPr>
        <p:spPr>
          <a:xfrm>
            <a:off x="2296864" y="5621238"/>
            <a:ext cx="2719566" cy="180975"/>
          </a:xfrm>
          <a:prstGeom prst="rect">
            <a:avLst/>
          </a:prstGeom>
          <a:noFill/>
          <a:ln/>
        </p:spPr>
        <p:txBody>
          <a:bodyPr wrap="square" lIns="25400" tIns="25400" rIns="25400" bIns="25400" rtlCol="0" anchor="t">
            <a:normAutofit/>
          </a:bodyPr>
          <a:lstStyle/>
          <a:p>
            <a:pPr algn="l" indent="0" marL="0">
              <a:lnSpc>
                <a:spcPct val="130000"/>
              </a:lnSpc>
              <a:buNone/>
            </a:pPr>
            <a:r>
              <a:rPr lang="en-US" sz="863" spc="5" kern="0" dirty="0">
                <a:solidFill>
                  <a:srgbClr val="A7A399"/>
                </a:solidFill>
                <a:latin typeface="Hanken Grotesk" pitchFamily="34" charset="0"/>
                <a:ea typeface="Hanken Grotesk" pitchFamily="34" charset="-122"/>
                <a:cs typeface="Hanken Grotesk" pitchFamily="34" charset="-120"/>
              </a:rPr>
              <a:t>Scan to explore the product, calculator and FAQs.</a:t>
            </a:r>
            <a:endParaRPr lang="en-US" sz="863" dirty="0"/>
          </a:p>
        </p:txBody>
      </p:sp>
      <p:sp>
        <p:nvSpPr>
          <p:cNvPr id="22" name="Text 18"/>
          <p:cNvSpPr/>
          <p:nvPr/>
        </p:nvSpPr>
        <p:spPr>
          <a:xfrm>
            <a:off x="791914" y="6588026"/>
            <a:ext cx="6155326" cy="947589"/>
          </a:xfrm>
          <a:prstGeom prst="rect">
            <a:avLst/>
          </a:prstGeom>
          <a:noFill/>
          <a:ln/>
        </p:spPr>
        <p:txBody>
          <a:bodyPr wrap="square" lIns="25400" tIns="25400" rIns="25400" bIns="25400" rtlCol="0" anchor="t">
            <a:normAutofit/>
          </a:bodyPr>
          <a:lstStyle/>
          <a:p>
            <a:pPr algn="l" indent="0" marL="0">
              <a:lnSpc>
                <a:spcPct val="130000"/>
              </a:lnSpc>
              <a:buNone/>
            </a:pPr>
            <a:r>
              <a:rPr lang="en-US" sz="788" spc="5" kern="0" dirty="0">
                <a:solidFill>
                  <a:srgbClr val="5C5A50"/>
                </a:solidFill>
                <a:latin typeface="Hanken Grotesk" pitchFamily="34" charset="0"/>
                <a:ea typeface="Hanken Grotesk" pitchFamily="34" charset="-122"/>
                <a:cs typeface="Hanken Grotesk" pitchFamily="34" charset="-120"/>
              </a:rPr>
              <a:t>Important information. This pack is provided to prospective distribution and referral partners for general information only and is commercial-in-confidence. It is not an offer of credit, a quote, or an approval and it does not constitute financial or credit advice. All figures are indicative and subject to change, credit assessment and final documentation. The comparison rate shown (21.3% p.a.) is indicative, based on a $30,000 loan over 5 years; a comparison rate is true only for the example given and different amounts, terms or fees may produce a different comparison rate. Loans are provided by MediPay Holdings Pty Limited, Australian Credit Licence 474336, under the Propential brand. Lending criteria, terms, conditions, fees and charges apply. Partner commercial terms are subject to a separate written agreement.</a:t>
            </a:r>
            <a:endParaRPr lang="en-US" sz="788" dirty="0"/>
          </a:p>
        </p:txBody>
      </p:sp>
      <p:sp>
        <p:nvSpPr>
          <p:cNvPr id="23" name="Shape 19"/>
          <p:cNvSpPr/>
          <p:nvPr/>
        </p:nvSpPr>
        <p:spPr>
          <a:xfrm>
            <a:off x="791914" y="9978479"/>
            <a:ext cx="5976045" cy="9525"/>
          </a:xfrm>
          <a:prstGeom prst="rect">
            <a:avLst/>
          </a:prstGeom>
          <a:solidFill>
            <a:srgbClr val="F3EEE2">
              <a:alpha val="8000"/>
            </a:srgbClr>
          </a:solidFill>
          <a:ln/>
        </p:spPr>
      </p:sp>
      <p:sp>
        <p:nvSpPr>
          <p:cNvPr id="24" name="Text 20"/>
          <p:cNvSpPr/>
          <p:nvPr/>
        </p:nvSpPr>
        <p:spPr>
          <a:xfrm>
            <a:off x="791914" y="10083254"/>
            <a:ext cx="3492773" cy="142875"/>
          </a:xfrm>
          <a:prstGeom prst="rect">
            <a:avLst/>
          </a:prstGeom>
          <a:noFill/>
          <a:ln/>
        </p:spPr>
        <p:txBody>
          <a:bodyPr wrap="square" lIns="25400" tIns="25400" rIns="25400" bIns="25400" rtlCol="0" anchor="t">
            <a:normAutofit/>
          </a:bodyPr>
          <a:lstStyle/>
          <a:p>
            <a:pPr algn="l" indent="0" marL="0">
              <a:buNone/>
            </a:pPr>
            <a:r>
              <a:rPr lang="en-US" sz="713" spc="71" kern="0" dirty="0">
                <a:solidFill>
                  <a:srgbClr val="6F6C63"/>
                </a:solidFill>
                <a:latin typeface="Courier New" pitchFamily="34" charset="0"/>
                <a:ea typeface="Courier New" pitchFamily="34" charset="-122"/>
                <a:cs typeface="Courier New" pitchFamily="34" charset="-120"/>
              </a:rPr>
              <a:t>PROPENTIAL · MEDIPAY HOLDINGS PTY LIMITED · ACL 474336</a:t>
            </a:r>
            <a:endParaRPr lang="en-US" sz="713" dirty="0"/>
          </a:p>
        </p:txBody>
      </p:sp>
      <p:sp>
        <p:nvSpPr>
          <p:cNvPr id="25" name="Text 21"/>
          <p:cNvSpPr/>
          <p:nvPr/>
        </p:nvSpPr>
        <p:spPr>
          <a:xfrm>
            <a:off x="5062686" y="10083254"/>
            <a:ext cx="1875800" cy="142875"/>
          </a:xfrm>
          <a:prstGeom prst="rect">
            <a:avLst/>
          </a:prstGeom>
          <a:noFill/>
          <a:ln/>
        </p:spPr>
        <p:txBody>
          <a:bodyPr wrap="square" lIns="25400" tIns="25400" rIns="25400" bIns="25400" rtlCol="0" anchor="t">
            <a:normAutofit/>
          </a:bodyPr>
          <a:lstStyle/>
          <a:p>
            <a:pPr algn="l" indent="0" marL="0">
              <a:buNone/>
            </a:pPr>
            <a:r>
              <a:rPr lang="en-US" sz="713" spc="71" kern="0" dirty="0">
                <a:solidFill>
                  <a:srgbClr val="6F6C63"/>
                </a:solidFill>
                <a:latin typeface="Courier New" pitchFamily="34" charset="0"/>
                <a:ea typeface="Courier New" pitchFamily="34" charset="-122"/>
                <a:cs typeface="Courier New" pitchFamily="34" charset="-120"/>
              </a:rPr>
              <a:t>COMMERCIAL-IN-CONFIDENCE · 06</a:t>
            </a:r>
            <a:endParaRPr lang="en-US" sz="713"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2026-06-22T03:51:21Z</dcterms:created>
  <dcterms:modified xsi:type="dcterms:W3CDTF">2026-06-22T03:51:21Z</dcterms:modified>
</cp:coreProperties>
</file>