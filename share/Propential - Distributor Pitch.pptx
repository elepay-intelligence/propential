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jpe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2547" r="2547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907">
                  <a:alpha val="92000"/>
                </a:srgbClr>
              </a:gs>
              <a:gs pos="38000">
                <a:srgbClr val="080907">
                  <a:alpha val="62000"/>
                </a:srgbClr>
              </a:gs>
              <a:gs pos="72000">
                <a:srgbClr val="080907">
                  <a:alpha val="12000"/>
                </a:srgbClr>
              </a:gs>
              <a:gs pos="100000">
                <a:srgbClr val="080907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909638"/>
            <a:ext cx="362843" cy="38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39193" y="921990"/>
            <a:ext cx="1712744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Prop</a:t>
            </a:r>
            <a:pPr algn="l" indent="0" marL="0">
              <a:lnSpc>
                <a:spcPct val="110000"/>
              </a:lnSpc>
              <a:buNone/>
            </a:pPr>
            <a:r>
              <a:rPr lang="en-US" sz="2550" i="1" dirty="0">
                <a:solidFill>
                  <a:srgbClr val="D6B15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ential</a:t>
            </a:r>
            <a:endParaRPr lang="en-US" sz="2550" dirty="0"/>
          </a:p>
        </p:txBody>
      </p:sp>
      <p:sp>
        <p:nvSpPr>
          <p:cNvPr id="7" name="Shape 3"/>
          <p:cNvSpPr/>
          <p:nvPr/>
        </p:nvSpPr>
        <p:spPr>
          <a:xfrm>
            <a:off x="13585627" y="857250"/>
            <a:ext cx="3559373" cy="485775"/>
          </a:xfrm>
          <a:prstGeom prst="roundRect">
            <a:avLst>
              <a:gd name="adj" fmla="val 50000"/>
            </a:avLst>
          </a:prstGeom>
          <a:solidFill>
            <a:srgbClr val="080907">
              <a:alpha val="6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13842802" y="990600"/>
            <a:ext cx="31518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ECD5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DISTRIBUTION PARTNERSHIP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43000" y="6091238"/>
            <a:ext cx="12165330" cy="255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Distribute a product </a:t>
            </a:r>
            <a:pPr algn="l" indent="0" marL="0">
              <a:lnSpc>
                <a:spcPct val="110000"/>
              </a:lnSpc>
              <a:buNone/>
            </a:pPr>
            <a:r>
              <a:rPr lang="en-US" sz="9000" dirty="0">
                <a:gradFill rotWithShape="1">
                  <a:gsLst>
                    <a:gs pos="0">
                      <a:srgbClr val="F0DA97">
                        <a:alpha val="100000"/>
                      </a:srgbClr>
                    </a:gs>
                    <a:gs pos="60000">
                      <a:srgbClr val="D6B15E">
                        <a:alpha val="100000"/>
                      </a:srgbClr>
                    </a:gs>
                    <a:gs pos="100000">
                      <a:srgbClr val="C0913F">
                        <a:alpha val="100000"/>
                      </a:srgbClr>
                    </a:gs>
                  </a:gsLst>
                  <a:lin ang="5400000" scaled="0"/>
                </a:gradFill>
                <a:latin typeface="Fraunces" pitchFamily="34" charset="0"/>
                <a:ea typeface="Fraunces" pitchFamily="34" charset="-122"/>
                <a:cs typeface="Fraunces" pitchFamily="34" charset="-120"/>
              </a:rPr>
              <a:t>people actually want.</a:t>
            </a:r>
            <a:endParaRPr lang="en-US" sz="9000" dirty="0"/>
          </a:p>
        </p:txBody>
      </p:sp>
      <p:sp>
        <p:nvSpPr>
          <p:cNvPr id="10" name="Text 6"/>
          <p:cNvSpPr/>
          <p:nvPr/>
        </p:nvSpPr>
        <p:spPr>
          <a:xfrm>
            <a:off x="1143000" y="9120188"/>
            <a:ext cx="79629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EAE5D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Simple, </a:t>
            </a:r>
            <a:pPr algn="l" indent="0" marL="0">
              <a:lnSpc>
                <a:spcPct val="130000"/>
              </a:lnSpc>
              <a:buNone/>
            </a:pPr>
            <a:r>
              <a:rPr lang="en-US" sz="1875" b="1" spc="5" kern="0" dirty="0">
                <a:solidFill>
                  <a:srgbClr val="D6B15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compliant </a:t>
            </a:r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EAE5D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and built for your clients.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5663565" y="9553575"/>
            <a:ext cx="16295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709553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200654"/>
            <a:ext cx="10383606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People are improving the home they have, </a:t>
            </a:r>
            <a:pPr algn="l" indent="0" marL="0">
              <a:lnSpc>
                <a:spcPct val="110000"/>
              </a:lnSpc>
              <a:buNone/>
            </a:pPr>
            <a:r>
              <a:rPr lang="en-US" sz="6300" i="1" dirty="0">
                <a:solidFill>
                  <a:srgbClr val="D6B15E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not moving.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5503861"/>
            <a:ext cx="5194250" cy="2095500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589836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503861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5503861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27725" y="5503861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5818186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DEMAND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457325" y="6265861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457325" y="6427786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Owners want to invest in the place they already own and need finance that fits.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546800" y="5503861"/>
            <a:ext cx="5194250" cy="2095500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46800" y="7589836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46800" y="5503861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6800" y="5503861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31526" y="5503861"/>
            <a:ext cx="9525" cy="2095500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861125" y="5818186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GAP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61125" y="6265861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61125" y="6427786"/>
            <a:ext cx="470256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75" spc="5" kern="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Refinancing is heavy; unsecured lending is small and expensive for real projects.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1950601" y="5503861"/>
            <a:ext cx="5194250" cy="2095500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2" name="Text 20"/>
          <p:cNvSpPr/>
          <p:nvPr/>
        </p:nvSpPr>
        <p:spPr>
          <a:xfrm>
            <a:off x="12264926" y="5818186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5C47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OFFER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2264926" y="6265861"/>
            <a:ext cx="4565600" cy="9525"/>
          </a:xfrm>
          <a:prstGeom prst="rect">
            <a:avLst/>
          </a:prstGeom>
          <a:solidFill>
            <a:srgbClr val="221A08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264926" y="6427786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clean, property-secured product, easy to put in front of your clients.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78499"/>
            <a:ext cx="78581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MEET PROPENTIAL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550004"/>
            <a:ext cx="7358063" cy="1892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25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clear product, secured by a home the customer </a:t>
            </a:r>
            <a:pPr algn="l" indent="0" marL="0">
              <a:lnSpc>
                <a:spcPct val="110000"/>
              </a:lnSpc>
              <a:buNone/>
            </a:pPr>
            <a:r>
              <a:rPr lang="en-US" sz="4425" dirty="0">
                <a:solidFill>
                  <a:srgbClr val="D6B15E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already owns.</a:t>
            </a:r>
            <a:endParaRPr lang="en-US" sz="4425" dirty="0"/>
          </a:p>
        </p:txBody>
      </p:sp>
      <p:sp>
        <p:nvSpPr>
          <p:cNvPr id="5" name="Text 3"/>
          <p:cNvSpPr/>
          <p:nvPr/>
        </p:nvSpPr>
        <p:spPr>
          <a:xfrm>
            <a:off x="1143000" y="5679796"/>
            <a:ext cx="6043422" cy="158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>
                    <a:alpha val="93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fixed-term loan secured against the customer's property, by caveat or second mortgage (in QLD &amp; NT only). They borrow a set amount, repay principal &amp; interest over a fixed term and put it toward improving their home. One rate. No risk-based pricing.</a:t>
            </a:r>
            <a:endParaRPr lang="en-US" sz="187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26996" r="26996" t="0" b="0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269468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PRODUCT AT A GLANCE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703419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product. Easy to explain, easy to place.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3880890"/>
            <a:ext cx="3032671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466011"/>
            <a:ext cx="303267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880890"/>
            <a:ext cx="3032671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66146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4195215"/>
            <a:ext cx="26444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LOAN SIZE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57325" y="4509540"/>
            <a:ext cx="248022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$5k–$175k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1457325" y="5862090"/>
            <a:ext cx="240402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6024015"/>
            <a:ext cx="248022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Secured, fixed-term.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457325" y="6485977"/>
            <a:ext cx="240402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57325" y="6647902"/>
            <a:ext cx="2480221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6F6C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With no early payment fees.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5221" y="3880890"/>
            <a:ext cx="3032820" cy="3594646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4699546" y="4195215"/>
            <a:ext cx="26445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5C47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CLEAR 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99546" y="4911673"/>
            <a:ext cx="155971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900" spc="5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17.95%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4699546" y="5494484"/>
            <a:ext cx="2644586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5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p.a.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699546" y="5862090"/>
            <a:ext cx="2404170" cy="9525"/>
          </a:xfrm>
          <a:prstGeom prst="rect">
            <a:avLst/>
          </a:prstGeom>
          <a:solidFill>
            <a:srgbClr val="221A08">
              <a:alpha val="1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99546" y="6024015"/>
            <a:ext cx="248037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same rate for everyone.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7627590" y="3880890"/>
            <a:ext cx="3032671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7590" y="7466011"/>
            <a:ext cx="303267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627590" y="3880890"/>
            <a:ext cx="3032671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7590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650736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941915" y="4195215"/>
            <a:ext cx="26444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41915" y="4827734"/>
            <a:ext cx="119940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1–10</a:t>
            </a:r>
            <a:endParaRPr lang="en-US" sz="4500" dirty="0"/>
          </a:p>
        </p:txBody>
      </p:sp>
      <p:sp>
        <p:nvSpPr>
          <p:cNvPr id="29" name="Text 27"/>
          <p:cNvSpPr/>
          <p:nvPr/>
        </p:nvSpPr>
        <p:spPr>
          <a:xfrm>
            <a:off x="7941915" y="5494484"/>
            <a:ext cx="264442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yrs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941915" y="5862090"/>
            <a:ext cx="240402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941915" y="6024015"/>
            <a:ext cx="2480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Up to 7 yrs ≤$50k; up to 10 yrs above.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0869811" y="3880890"/>
            <a:ext cx="3032820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869811" y="7466011"/>
            <a:ext cx="303282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69811" y="3880890"/>
            <a:ext cx="303282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869811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3893105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184136" y="4195215"/>
            <a:ext cx="26445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REPAYMENTS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184136" y="4921198"/>
            <a:ext cx="199236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25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Fortnightly</a:t>
            </a:r>
            <a:endParaRPr lang="en-US" sz="2925" dirty="0"/>
          </a:p>
        </p:txBody>
      </p:sp>
      <p:sp>
        <p:nvSpPr>
          <p:cNvPr id="39" name="Text 37"/>
          <p:cNvSpPr/>
          <p:nvPr/>
        </p:nvSpPr>
        <p:spPr>
          <a:xfrm>
            <a:off x="11184136" y="5329732"/>
            <a:ext cx="197331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25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 monthly</a:t>
            </a:r>
            <a:endParaRPr lang="en-US" sz="2925" dirty="0"/>
          </a:p>
        </p:txBody>
      </p:sp>
      <p:sp>
        <p:nvSpPr>
          <p:cNvPr id="40" name="Shape 38"/>
          <p:cNvSpPr/>
          <p:nvPr/>
        </p:nvSpPr>
        <p:spPr>
          <a:xfrm>
            <a:off x="11184136" y="5862090"/>
            <a:ext cx="240417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1184136" y="6024015"/>
            <a:ext cx="24803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Principal &amp; interest.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4112180" y="3880890"/>
            <a:ext cx="3032671" cy="3594646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43" name="Shape 41"/>
          <p:cNvSpPr/>
          <p:nvPr/>
        </p:nvSpPr>
        <p:spPr>
          <a:xfrm>
            <a:off x="14112180" y="7466011"/>
            <a:ext cx="303267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4112180" y="3880890"/>
            <a:ext cx="3032671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45" name="Shape 43"/>
          <p:cNvSpPr/>
          <p:nvPr/>
        </p:nvSpPr>
        <p:spPr>
          <a:xfrm>
            <a:off x="14112180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7135326" y="3880890"/>
            <a:ext cx="9525" cy="3594646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4426505" y="4195215"/>
            <a:ext cx="26444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4426505" y="4921198"/>
            <a:ext cx="169024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25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Caveat or</a:t>
            </a:r>
            <a:endParaRPr lang="en-US" sz="2925" dirty="0"/>
          </a:p>
        </p:txBody>
      </p:sp>
      <p:sp>
        <p:nvSpPr>
          <p:cNvPr id="49" name="Text 47"/>
          <p:cNvSpPr/>
          <p:nvPr/>
        </p:nvSpPr>
        <p:spPr>
          <a:xfrm>
            <a:off x="14426505" y="5329732"/>
            <a:ext cx="24570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25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2nd mortgage</a:t>
            </a:r>
            <a:endParaRPr lang="en-US" sz="2925" dirty="0"/>
          </a:p>
        </p:txBody>
      </p:sp>
      <p:sp>
        <p:nvSpPr>
          <p:cNvPr id="50" name="Shape 48"/>
          <p:cNvSpPr/>
          <p:nvPr/>
        </p:nvSpPr>
        <p:spPr>
          <a:xfrm>
            <a:off x="14426505" y="5862090"/>
            <a:ext cx="240402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4426505" y="6024015"/>
            <a:ext cx="2480221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Existing home loan untouched.</a:t>
            </a:r>
            <a:endParaRPr lang="en-US" sz="1875" dirty="0"/>
          </a:p>
        </p:txBody>
      </p:sp>
      <p:sp>
        <p:nvSpPr>
          <p:cNvPr id="52" name="Shape 50"/>
          <p:cNvSpPr/>
          <p:nvPr/>
        </p:nvSpPr>
        <p:spPr>
          <a:xfrm>
            <a:off x="14426505" y="6795540"/>
            <a:ext cx="2404021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426505" y="6957465"/>
            <a:ext cx="2480221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6F6C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(NT &amp; QLD)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143000" y="7760104"/>
            <a:ext cx="176022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Comparison rate 21.3% p.a., based on a $30,000 5-year secured loan.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001250" y="3189519"/>
            <a:ext cx="78581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IT FUNDS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001250" y="3661565"/>
            <a:ext cx="6847903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125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Any project that improves the property and adds value.</a:t>
            </a:r>
            <a:endParaRPr lang="en-US" sz="4125" dirty="0"/>
          </a:p>
        </p:txBody>
      </p:sp>
      <p:sp>
        <p:nvSpPr>
          <p:cNvPr id="5" name="Shape 3"/>
          <p:cNvSpPr/>
          <p:nvPr/>
        </p:nvSpPr>
        <p:spPr>
          <a:xfrm>
            <a:off x="10001250" y="5109598"/>
            <a:ext cx="1787277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39375" y="5242948"/>
            <a:ext cx="138722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INTERIORS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1921877" y="5109598"/>
            <a:ext cx="2651522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0002" y="5242948"/>
            <a:ext cx="22548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KITCHENS &amp; BATHS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706749" y="5109598"/>
            <a:ext cx="1293614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44874" y="5242948"/>
            <a:ext cx="89356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POOLS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01250" y="5728723"/>
            <a:ext cx="1540520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39375" y="5862073"/>
            <a:ext cx="11404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FENCING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675120" y="5728723"/>
            <a:ext cx="2034183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13245" y="5862073"/>
            <a:ext cx="163413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LANDSCAPING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842653" y="5728723"/>
            <a:ext cx="1540520" cy="485775"/>
          </a:xfrm>
          <a:prstGeom prst="roundRect">
            <a:avLst>
              <a:gd name="adj" fmla="val 50000"/>
            </a:avLst>
          </a:prstGeom>
          <a:solidFill>
            <a:srgbClr val="16170F"/>
          </a:solidFill>
          <a:ln w="9525">
            <a:solidFill>
              <a:srgbClr val="D6B15E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0778" y="5862073"/>
            <a:ext cx="11404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F3EEE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ROOFING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01250" y="6518102"/>
            <a:ext cx="604342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>
                    <a:alpha val="85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fixed-term, secured loan, not a line of credit and not for construction.</a:t>
            </a:r>
            <a:endParaRPr lang="en-US" sz="187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26710" r="26710" t="0" b="0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663586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END-CUSTOMERS CHOOSE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116584"/>
            <a:ext cx="176022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product that's easy to say yes to.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3425465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2825" b="12825"/>
          <a:stretch/>
        </p:blipFill>
        <p:spPr>
          <a:xfrm>
            <a:off x="1143000" y="3425465"/>
            <a:ext cx="3843338" cy="28575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90650" y="7721240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390650" y="6740165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Home loan untouched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90650" y="7864115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Sits behind their existing mortgage, with no refinance and no disturbance.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95888" y="3425465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2825" b="12825"/>
          <a:stretch/>
        </p:blipFill>
        <p:spPr>
          <a:xfrm>
            <a:off x="5195888" y="3425465"/>
            <a:ext cx="3843338" cy="2857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43538" y="7721240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443538" y="6740165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clear rate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443538" y="7864115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17.95% p.a. for everyone, transparent, with nothing to negotiate.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9248775" y="3425465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0250" b="20250"/>
          <a:stretch/>
        </p:blipFill>
        <p:spPr>
          <a:xfrm>
            <a:off x="9248775" y="3425465"/>
            <a:ext cx="3843338" cy="2857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496425" y="7721240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9496425" y="6740165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real end date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9496425" y="7864115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Fixed term, principal &amp; interest, so it's paid off, not perpetual.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3301663" y="3425465"/>
            <a:ext cx="3843338" cy="5219700"/>
          </a:xfrm>
          <a:prstGeom prst="roundRect">
            <a:avLst>
              <a:gd name="adj" fmla="val 4461"/>
            </a:avLst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5167" r="5167" t="0" b="0"/>
          <a:stretch/>
        </p:blipFill>
        <p:spPr>
          <a:xfrm>
            <a:off x="13301663" y="3425465"/>
            <a:ext cx="3843338" cy="28575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3549313" y="7721240"/>
            <a:ext cx="3348038" cy="9525"/>
          </a:xfrm>
          <a:prstGeom prst="rect">
            <a:avLst/>
          </a:prstGeom>
          <a:solidFill>
            <a:srgbClr val="1B1C16">
              <a:alpha val="16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13549313" y="6740165"/>
            <a:ext cx="3448479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spc="-45" kern="0" dirty="0">
                <a:solidFill>
                  <a:srgbClr val="1B1C16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Quick to settle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13549313" y="7864115"/>
            <a:ext cx="344847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spc="5" kern="0" dirty="0">
                <a:solidFill>
                  <a:srgbClr val="5C5A5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An eligibility check with no credit-file impact, then a fast assessment.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881303"/>
            <a:ext cx="885348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PRODUCT YOUR CHANNEL CAN STAND BEHIND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352810"/>
            <a:ext cx="8290084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725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Premium where it counts. Plain-spoken everywhere else.</a:t>
            </a:r>
            <a:endParaRPr lang="en-US" sz="4725" dirty="0"/>
          </a:p>
        </p:txBody>
      </p:sp>
      <p:sp>
        <p:nvSpPr>
          <p:cNvPr id="5" name="Shape 3"/>
          <p:cNvSpPr/>
          <p:nvPr/>
        </p:nvSpPr>
        <p:spPr>
          <a:xfrm>
            <a:off x="1143000" y="5158010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" y="5253260"/>
            <a:ext cx="1905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3550" y="5162773"/>
            <a:ext cx="82038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premium brand that lifts yours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143000" y="5786660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" y="5881910"/>
            <a:ext cx="1905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3550" y="5791423"/>
            <a:ext cx="82038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rate, no risk-based surprises to manage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1143000" y="6415310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8250" y="6510560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33550" y="6420073"/>
            <a:ext cx="82038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Clear, honest customer communication</a:t>
            </a:r>
            <a:endParaRPr lang="en-US" sz="2250" dirty="0"/>
          </a:p>
        </p:txBody>
      </p:sp>
      <p:sp>
        <p:nvSpPr>
          <p:cNvPr id="14" name="Shape 9"/>
          <p:cNvSpPr/>
          <p:nvPr/>
        </p:nvSpPr>
        <p:spPr>
          <a:xfrm>
            <a:off x="1143000" y="7043960"/>
            <a:ext cx="381000" cy="381000"/>
          </a:xfrm>
          <a:prstGeom prst="ellipse">
            <a:avLst/>
          </a:prstGeom>
          <a:solidFill>
            <a:srgbClr val="D6B15E">
              <a:alpha val="12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8250" y="7139210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3550" y="7048723"/>
            <a:ext cx="82038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50" spc="-34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Compliant by design, not as an afterthought</a:t>
            </a:r>
            <a:endParaRPr lang="en-US" sz="2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rcRect l="26899" r="26899" t="0" b="0"/>
          <a:stretch/>
        </p:blipFill>
        <p:spPr>
          <a:xfrm>
            <a:off x="10048875" y="0"/>
            <a:ext cx="8239125" cy="10287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644511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PARTNERS GET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097099"/>
            <a:ext cx="17602200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 set your channel up to win.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143000" y="4671987"/>
            <a:ext cx="3843338" cy="2990254"/>
          </a:xfrm>
          <a:prstGeom prst="roundRect">
            <a:avLst>
              <a:gd name="adj" fmla="val 5097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9225" y="5005362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7" name="Text 5"/>
          <p:cNvSpPr/>
          <p:nvPr/>
        </p:nvSpPr>
        <p:spPr>
          <a:xfrm>
            <a:off x="1381125" y="5005362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9225" y="5691162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Ready-made assets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9225" y="6140623"/>
            <a:ext cx="33896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On-brand marketing collateral and a branded repayment calculator for your network.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95888" y="4671987"/>
            <a:ext cx="3843338" cy="2990254"/>
          </a:xfrm>
          <a:prstGeom prst="roundRect">
            <a:avLst>
              <a:gd name="adj" fmla="val 5097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72113" y="5005362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5434013" y="5005362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72113" y="5691162"/>
            <a:ext cx="3389614" cy="708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Accreditation &amp; training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72113" y="6475784"/>
            <a:ext cx="33896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Fast broker accreditation and the training to place the product with confidence.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48775" y="4671987"/>
            <a:ext cx="3843338" cy="2990254"/>
          </a:xfrm>
          <a:prstGeom prst="roundRect">
            <a:avLst>
              <a:gd name="adj" fmla="val 5097"/>
            </a:avLst>
          </a:prstGeom>
          <a:gradFill rotWithShape="1">
            <a:gsLst>
              <a:gs pos="0">
                <a:srgbClr val="D6B15E">
                  <a:alpha val="12000"/>
                </a:srgbClr>
              </a:gs>
              <a:gs pos="55000">
                <a:srgbClr val="D6B15E">
                  <a:alpha val="0"/>
                </a:srgbClr>
              </a:gs>
            </a:gsLst>
            <a:path path="circle">
              <a:fillToRect l="100000" t="0" r="0" b="100000"/>
            </a:path>
          </a:gradFill>
          <a:ln w="9525">
            <a:solidFill>
              <a:srgbClr val="D6B15E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25000" y="5005362"/>
            <a:ext cx="476250" cy="476250"/>
          </a:xfrm>
          <a:prstGeom prst="ellipse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486900" y="5005362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221A0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525000" y="5691162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Dedicated support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525000" y="6140623"/>
            <a:ext cx="306095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business and clients get on-call and on-demand Australian based support.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01663" y="4671987"/>
            <a:ext cx="3843338" cy="2990254"/>
          </a:xfrm>
          <a:prstGeom prst="roundRect">
            <a:avLst>
              <a:gd name="adj" fmla="val 5097"/>
            </a:avLst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13577888" y="5005362"/>
            <a:ext cx="476250" cy="476250"/>
          </a:xfrm>
          <a:prstGeom prst="ellipse">
            <a:avLst/>
          </a:prstGeom>
          <a:solidFill>
            <a:srgbClr val="221A08"/>
          </a:solidFill>
          <a:ln/>
        </p:spPr>
      </p:sp>
      <p:sp>
        <p:nvSpPr>
          <p:cNvPr id="22" name="Text 20"/>
          <p:cNvSpPr/>
          <p:nvPr/>
        </p:nvSpPr>
        <p:spPr>
          <a:xfrm>
            <a:off x="13539788" y="5005362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spc="5" kern="0" dirty="0">
                <a:solidFill>
                  <a:srgbClr val="ECD5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577888" y="5691162"/>
            <a:ext cx="3619976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Transparent reporting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577888" y="6140623"/>
            <a:ext cx="33896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Clear visibility of referrals and settlements across your channel.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2318882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ON SOLID GROUND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752289"/>
            <a:ext cx="9728125" cy="1421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licensed lender your brand is safe beside.</a:t>
            </a:r>
            <a:endParaRPr lang="en-US" sz="4950" dirty="0"/>
          </a:p>
        </p:txBody>
      </p:sp>
      <p:sp>
        <p:nvSpPr>
          <p:cNvPr id="5" name="Shape 3"/>
          <p:cNvSpPr/>
          <p:nvPr/>
        </p:nvSpPr>
        <p:spPr>
          <a:xfrm>
            <a:off x="1143000" y="4620296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620296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6813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4934621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LENDER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57325" y="5248946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MediPay Holdings Pty Limited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457325" y="6601496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6763421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licensed credit provider behind Propential.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195888" y="4620296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15" name="Shape 13"/>
          <p:cNvSpPr/>
          <p:nvPr/>
        </p:nvSpPr>
        <p:spPr>
          <a:xfrm>
            <a:off x="5195888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95888" y="4620296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95888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29700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10213" y="4934621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AUSTRALIAN CREDIT LICENCE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510213" y="5248946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474336</a:t>
            </a:r>
            <a:endParaRPr lang="en-US" sz="4500" dirty="0"/>
          </a:p>
        </p:txBody>
      </p:sp>
      <p:sp>
        <p:nvSpPr>
          <p:cNvPr id="21" name="Shape 19"/>
          <p:cNvSpPr/>
          <p:nvPr/>
        </p:nvSpPr>
        <p:spPr>
          <a:xfrm>
            <a:off x="5510213" y="6601496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510213" y="6763421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Lending under the National Credit Code.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248775" y="4620296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8775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48775" y="4620296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26" name="Shape 24"/>
          <p:cNvSpPr/>
          <p:nvPr/>
        </p:nvSpPr>
        <p:spPr>
          <a:xfrm>
            <a:off x="9248775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082588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4934621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RESPONSIBLE LENDING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563100" y="5248946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Assessed every time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9563100" y="6601496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6763421"/>
            <a:ext cx="331112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Suitability and capacity to repay on every application.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13301663" y="4620296"/>
            <a:ext cx="3843338" cy="3367088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33" name="Shape 31"/>
          <p:cNvSpPr/>
          <p:nvPr/>
        </p:nvSpPr>
        <p:spPr>
          <a:xfrm>
            <a:off x="13301663" y="7977858"/>
            <a:ext cx="384333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301663" y="4620296"/>
            <a:ext cx="3843338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35" name="Shape 33"/>
          <p:cNvSpPr/>
          <p:nvPr/>
        </p:nvSpPr>
        <p:spPr>
          <a:xfrm>
            <a:off x="13301663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7135475" y="4620296"/>
            <a:ext cx="9525" cy="3367088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3615988" y="4934621"/>
            <a:ext cx="35361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 CARE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3615988" y="5248946"/>
            <a:ext cx="331112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Hardship &amp; complaints</a:t>
            </a:r>
            <a:endParaRPr lang="en-US" sz="2550" dirty="0"/>
          </a:p>
        </p:txBody>
      </p:sp>
      <p:sp>
        <p:nvSpPr>
          <p:cNvPr id="39" name="Shape 37"/>
          <p:cNvSpPr/>
          <p:nvPr/>
        </p:nvSpPr>
        <p:spPr>
          <a:xfrm>
            <a:off x="13615988" y="6601496"/>
            <a:ext cx="3214688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3615988" y="6763421"/>
            <a:ext cx="331112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Clear processes, plus a published Target Market Determination.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70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481394"/>
            <a:ext cx="17602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COMMERCIAL MODEL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2933983"/>
            <a:ext cx="11617419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Structured around </a:t>
            </a:r>
            <a:pPr algn="l" indent="0" marL="0">
              <a:lnSpc>
                <a:spcPct val="110000"/>
              </a:lnSpc>
              <a:buNone/>
            </a:pPr>
            <a:r>
              <a:rPr lang="en-US" sz="6300" i="1" dirty="0">
                <a:solidFill>
                  <a:srgbClr val="D6B15E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</a:t>
            </a:r>
            <a:pPr algn="l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channel.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143000" y="4032619"/>
            <a:ext cx="176022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spc="5" kern="0" dirty="0">
                <a:solidFill>
                  <a:srgbClr val="FFFFFF">
                    <a:alpha val="93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structure the commercial terms together on the call.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767830"/>
            <a:ext cx="5194250" cy="3057525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7815830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767830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767830"/>
            <a:ext cx="9525" cy="3057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27725" y="4767830"/>
            <a:ext cx="9525" cy="3057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457325" y="5082155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PARTNERSHIP TERMS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57325" y="5396480"/>
            <a:ext cx="470256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Tailored</a:t>
            </a:r>
            <a:endParaRPr lang="en-US" sz="3750" dirty="0"/>
          </a:p>
        </p:txBody>
      </p:sp>
      <p:sp>
        <p:nvSpPr>
          <p:cNvPr id="13" name="Shape 11"/>
          <p:cNvSpPr/>
          <p:nvPr/>
        </p:nvSpPr>
        <p:spPr>
          <a:xfrm>
            <a:off x="1457325" y="6749030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57325" y="6910955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structure the commercial arrangement to suit how your channel works.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6546800" y="4767830"/>
            <a:ext cx="5194250" cy="3057525"/>
          </a:xfrm>
          <a:prstGeom prst="rect">
            <a:avLst/>
          </a:prstGeom>
          <a:solidFill>
            <a:srgbClr val="15160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6800" y="7815830"/>
            <a:ext cx="519425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46800" y="4767830"/>
            <a:ext cx="5194250" cy="28575"/>
          </a:xfrm>
          <a:prstGeom prst="rect">
            <a:avLst/>
          </a:prstGeom>
          <a:solidFill>
            <a:srgbClr val="D6B1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6800" y="4767830"/>
            <a:ext cx="9525" cy="3057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31526" y="4767830"/>
            <a:ext cx="9525" cy="3057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61125" y="5082155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DEDICATED SUPPORT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61125" y="5396480"/>
            <a:ext cx="470256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On-call</a:t>
            </a:r>
            <a:endParaRPr lang="en-US" sz="3750" dirty="0"/>
          </a:p>
        </p:txBody>
      </p:sp>
      <p:sp>
        <p:nvSpPr>
          <p:cNvPr id="22" name="Shape 20"/>
          <p:cNvSpPr/>
          <p:nvPr/>
        </p:nvSpPr>
        <p:spPr>
          <a:xfrm>
            <a:off x="6861125" y="6749030"/>
            <a:ext cx="4565600" cy="9525"/>
          </a:xfrm>
          <a:prstGeom prst="rect">
            <a:avLst/>
          </a:prstGeom>
          <a:solidFill>
            <a:srgbClr val="F3EEE2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61125" y="6910955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Australian based support through application and settlement.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1950601" y="4767830"/>
            <a:ext cx="5194250" cy="3057525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5" name="Text 23"/>
          <p:cNvSpPr/>
          <p:nvPr/>
        </p:nvSpPr>
        <p:spPr>
          <a:xfrm>
            <a:off x="12264926" y="5082155"/>
            <a:ext cx="5022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5C47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YOU SCALE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2264926" y="5396480"/>
            <a:ext cx="4702568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750" spc="5" kern="0" dirty="0">
                <a:solidFill>
                  <a:srgbClr val="221A0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Grows with you</a:t>
            </a:r>
            <a:endParaRPr lang="en-US" sz="3750" dirty="0"/>
          </a:p>
        </p:txBody>
      </p:sp>
      <p:sp>
        <p:nvSpPr>
          <p:cNvPr id="27" name="Shape 25"/>
          <p:cNvSpPr/>
          <p:nvPr/>
        </p:nvSpPr>
        <p:spPr>
          <a:xfrm>
            <a:off x="12264926" y="6749030"/>
            <a:ext cx="4565600" cy="9525"/>
          </a:xfrm>
          <a:prstGeom prst="rect">
            <a:avLst/>
          </a:prstGeom>
          <a:solidFill>
            <a:srgbClr val="221A08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264926" y="6910955"/>
            <a:ext cx="4702568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3C2F1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Economics that reward volume as your network places more.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215">
                  <a:alpha val="100000"/>
                </a:srgbClr>
              </a:gs>
              <a:gs pos="55000">
                <a:srgbClr val="16170F">
                  <a:alpha val="100000"/>
                </a:srgbClr>
              </a:gs>
            </a:gsLst>
            <a:path path="circle">
              <a:fillToRect l="85000" t="8000" r="15000" b="92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497961" cy="10287000"/>
          </a:xfrm>
          <a:prstGeom prst="rect">
            <a:avLst/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857250" y="4081147"/>
            <a:ext cx="63618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5C4718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PARTNER WITH PROPENTIAL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50" y="4476583"/>
            <a:ext cx="5307616" cy="177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dirty="0">
                <a:solidFill>
                  <a:srgbClr val="221A08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product, a brand and a partner you </a:t>
            </a:r>
            <a:pPr algn="l" indent="0" marL="0">
              <a:lnSpc>
                <a:spcPct val="105000"/>
              </a:lnSpc>
              <a:buNone/>
            </a:pPr>
            <a:r>
              <a:rPr lang="en-US" sz="4350" dirty="0">
                <a:solidFill>
                  <a:srgbClr val="5C4718">
                    <a:alpha val="97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 rely on.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7497961" y="0"/>
            <a:ext cx="10790039" cy="10287000"/>
          </a:xfrm>
          <a:prstGeom prst="rect">
            <a:avLst/>
          </a:prstGeom>
          <a:solidFill>
            <a:srgbClr val="121309"/>
          </a:solidFill>
          <a:ln/>
        </p:spPr>
      </p:sp>
      <p:sp>
        <p:nvSpPr>
          <p:cNvPr id="7" name="Shape 5"/>
          <p:cNvSpPr/>
          <p:nvPr/>
        </p:nvSpPr>
        <p:spPr>
          <a:xfrm>
            <a:off x="8545711" y="3450562"/>
            <a:ext cx="19050" cy="664666"/>
          </a:xfrm>
          <a:prstGeom prst="rect">
            <a:avLst/>
          </a:prstGeom>
          <a:solidFill>
            <a:srgbClr val="D6B15E">
              <a:alpha val="9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755261" y="3450562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product in real demand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55261" y="3842873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Improvement finance for owners who'd rather improve than move.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545711" y="4371943"/>
            <a:ext cx="19050" cy="664666"/>
          </a:xfrm>
          <a:prstGeom prst="rect">
            <a:avLst/>
          </a:prstGeom>
          <a:solidFill>
            <a:srgbClr val="D6B15E">
              <a:alpha val="93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755261" y="4371943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Simple, transparent terms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755261" y="4764254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rate, clear fees, nothing complicated to teach your channel.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545711" y="5300778"/>
            <a:ext cx="19050" cy="664666"/>
          </a:xfrm>
          <a:prstGeom prst="rect">
            <a:avLst/>
          </a:prstGeom>
          <a:solidFill>
            <a:srgbClr val="D6B15E">
              <a:alpha val="8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55261" y="5300778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Compliance built in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755261" y="5693089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Licensed, responsibly lent, with care processes published.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545711" y="6245236"/>
            <a:ext cx="19050" cy="664666"/>
          </a:xfrm>
          <a:prstGeom prst="rect">
            <a:avLst/>
          </a:prstGeom>
          <a:solidFill>
            <a:srgbClr val="D6B15E">
              <a:alpha val="7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755261" y="6245236"/>
            <a:ext cx="9333488" cy="373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spc="-36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Support that scales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55261" y="6637547"/>
            <a:ext cx="933348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5" kern="0" dirty="0">
                <a:solidFill>
                  <a:srgbClr val="A7A399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Assets, training and reporting that grow with your network.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9553575"/>
            <a:ext cx="50242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DISTRIBUTION PARTNERSHIP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91A11">
                  <a:alpha val="100000"/>
                </a:srgbClr>
              </a:gs>
              <a:gs pos="100000">
                <a:srgbClr val="131409">
                  <a:alpha val="100000"/>
                </a:srgbClr>
              </a:gs>
            </a:gsLst>
            <a:lin ang="5160000" scaled="0"/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14570" r="1457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80907">
                  <a:alpha val="55000"/>
                </a:srgbClr>
              </a:gs>
              <a:gs pos="72000">
                <a:srgbClr val="080907">
                  <a:alpha val="86000"/>
                </a:srgbClr>
              </a:gs>
            </a:gsLst>
            <a:path path="circle">
              <a:fillToRect l="50000" t="45000" r="50000" b="55000"/>
            </a:path>
          </a:gradFill>
          <a:ln/>
        </p:spPr>
      </p:sp>
      <p:sp>
        <p:nvSpPr>
          <p:cNvPr id="5" name="Text 2"/>
          <p:cNvSpPr/>
          <p:nvPr/>
        </p:nvSpPr>
        <p:spPr>
          <a:xfrm>
            <a:off x="7056194" y="2378111"/>
            <a:ext cx="4175611" cy="257175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9525" dir="5400000">
              <a:srgbClr val="000000">
                <a:alpha val="34518"/>
              </a:srgbClr>
            </a:outerShdw>
          </a:effectLst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297" kern="0" dirty="0">
                <a:solidFill>
                  <a:srgbClr val="D6B15E">
                    <a:alpha val="99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LET'S BUILD THE PARTNERSHIP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322774" y="2831110"/>
            <a:ext cx="11642303" cy="918121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9525" dir="5400000">
              <a:srgbClr val="000000">
                <a:alpha val="28942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300" dirty="0">
                <a:solidFill>
                  <a:srgbClr val="F3EEE2">
                    <a:alpha val="96000"/>
                  </a:srgbClr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Bring Propential to your network.</a:t>
            </a:r>
            <a:endParaRPr lang="en-US" sz="6300" dirty="0"/>
          </a:p>
        </p:txBody>
      </p:sp>
      <p:sp>
        <p:nvSpPr>
          <p:cNvPr id="7" name="Text 4"/>
          <p:cNvSpPr/>
          <p:nvPr/>
        </p:nvSpPr>
        <p:spPr>
          <a:xfrm>
            <a:off x="5984939" y="3939968"/>
            <a:ext cx="6318123" cy="657225"/>
          </a:xfrm>
          <a:prstGeom prst="rect">
            <a:avLst/>
          </a:prstGeom>
          <a:noFill/>
          <a:ln/>
          <a:effectLst>
            <a:outerShdw sx="100000" sy="100000" kx="0" ky="0" algn="bl" rotWithShape="0" blurRad="95250" dist="9525" dir="5400000">
              <a:srgbClr val="000000">
                <a:alpha val="32386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75" spc="5" kern="0" dirty="0">
                <a:solidFill>
                  <a:srgbClr val="F3EEE2">
                    <a:alpha val="93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talk through fit, support and commercial terms, and get your channel ready to place.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4605040" y="5186557"/>
            <a:ext cx="4424660" cy="1143000"/>
          </a:xfrm>
          <a:prstGeom prst="roundRect">
            <a:avLst>
              <a:gd name="adj" fmla="val 15000"/>
            </a:avLst>
          </a:prstGeom>
          <a:solidFill>
            <a:srgbClr val="F3EEE2">
              <a:alpha val="4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1968" y="5443732"/>
            <a:ext cx="7106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D6B1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729564" y="5758057"/>
            <a:ext cx="41756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partners@propential.com.au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258300" y="5186557"/>
            <a:ext cx="4424660" cy="1143000"/>
          </a:xfrm>
          <a:prstGeom prst="roundRect">
            <a:avLst>
              <a:gd name="adj" fmla="val 15000"/>
            </a:avLst>
          </a:prstGeom>
          <a:solidFill>
            <a:srgbClr val="F3EEE2">
              <a:alpha val="4000"/>
            </a:srgbClr>
          </a:solidFill>
          <a:ln w="9525">
            <a:solidFill>
              <a:srgbClr val="D6B15E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15229" y="5443732"/>
            <a:ext cx="7106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D6B15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PHONE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513911" y="5758057"/>
            <a:ext cx="19132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50" spc="5" kern="0" dirty="0">
                <a:solidFill>
                  <a:srgbClr val="F3EEE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1800 012 795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7710227" y="6631477"/>
            <a:ext cx="2867397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spc="5" kern="0" dirty="0">
                <a:solidFill>
                  <a:srgbClr val="A7A399">
                    <a:alpha val="71000"/>
                  </a:srgbClr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reply within one business day.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522666" y="7292422"/>
            <a:ext cx="3242518" cy="69145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CD58C">
                  <a:alpha val="100000"/>
                </a:srgbClr>
              </a:gs>
              <a:gs pos="52000">
                <a:srgbClr val="D6B15E">
                  <a:alpha val="100000"/>
                </a:srgbClr>
              </a:gs>
              <a:gs pos="100000">
                <a:srgbClr val="B6873A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16" name="Text 13"/>
          <p:cNvSpPr/>
          <p:nvPr/>
        </p:nvSpPr>
        <p:spPr>
          <a:xfrm>
            <a:off x="7855029" y="7501972"/>
            <a:ext cx="257779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50" b="1" spc="5" kern="0" dirty="0">
                <a:solidFill>
                  <a:srgbClr val="221A0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Book a partnership call →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43000" y="9553575"/>
            <a:ext cx="73326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6F6C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PROPENTIAL · MEDIPAY HOLDINGS PTY LIMITED · ACL 474336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6898094" y="9553575"/>
            <a:ext cx="3231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62" kern="0" dirty="0">
                <a:solidFill>
                  <a:srgbClr val="A7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2026-06-22T03:50:53Z</dcterms:created>
  <dcterms:modified xsi:type="dcterms:W3CDTF">2026-06-22T03:50:53Z</dcterms:modified>
</cp:coreProperties>
</file>