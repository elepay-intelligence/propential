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4570" r="1457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907">
                  <a:alpha val="92000"/>
                </a:srgbClr>
              </a:gs>
              <a:gs pos="38000">
                <a:srgbClr val="080907">
                  <a:alpha val="62000"/>
                </a:srgbClr>
              </a:gs>
              <a:gs pos="72000">
                <a:srgbClr val="080907">
                  <a:alpha val="12000"/>
                </a:srgbClr>
              </a:gs>
              <a:gs pos="100000">
                <a:srgbClr val="080907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909638"/>
            <a:ext cx="362843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9193" y="921990"/>
            <a:ext cx="1712744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Prop</a:t>
            </a:r>
            <a:pPr algn="l" indent="0" marL="0">
              <a:lnSpc>
                <a:spcPct val="110000"/>
              </a:lnSpc>
              <a:buNone/>
            </a:pPr>
            <a:r>
              <a:rPr lang="en-US" sz="2550" i="1" dirty="0">
                <a:solidFill>
                  <a:srgbClr val="D6B15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ential</a:t>
            </a:r>
            <a:endParaRPr lang="en-US" sz="2550" dirty="0"/>
          </a:p>
        </p:txBody>
      </p:sp>
      <p:sp>
        <p:nvSpPr>
          <p:cNvPr id="7" name="Shape 3"/>
          <p:cNvSpPr/>
          <p:nvPr/>
        </p:nvSpPr>
        <p:spPr>
          <a:xfrm>
            <a:off x="13839379" y="857250"/>
            <a:ext cx="3305621" cy="485775"/>
          </a:xfrm>
          <a:prstGeom prst="roundRect">
            <a:avLst>
              <a:gd name="adj" fmla="val 50000"/>
            </a:avLst>
          </a:prstGeom>
          <a:solidFill>
            <a:srgbClr val="080907">
              <a:alpha val="62000"/>
            </a:srgbClr>
          </a:solidFill>
          <a:ln w="9525">
            <a:solidFill>
              <a:srgbClr val="D6B15E">
                <a:alpha val="22000"/>
              </a:srgbClr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4096554" y="990600"/>
            <a:ext cx="28904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CD5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ACCREDITED BROKERS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43000" y="5791200"/>
            <a:ext cx="1216533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Refer in minutes. </a:t>
            </a:r>
            <a:pPr algn="l" indent="0" marL="0">
              <a:lnSpc>
                <a:spcPct val="110000"/>
              </a:lnSpc>
              <a:buNone/>
            </a:pPr>
            <a:r>
              <a:rPr lang="en-US" sz="9000" dirty="0">
                <a:gradFill rotWithShape="1">
                  <a:gsLst>
                    <a:gs pos="0">
                      <a:srgbClr val="F0DA97">
                        <a:alpha val="100000"/>
                      </a:srgbClr>
                    </a:gs>
                    <a:gs pos="60000">
                      <a:srgbClr val="D6B15E">
                        <a:alpha val="100000"/>
                      </a:srgbClr>
                    </a:gs>
                    <a:gs pos="100000">
                      <a:srgbClr val="C0913F">
                        <a:alpha val="100000"/>
                      </a:srgbClr>
                    </a:gs>
                  </a:gsLst>
                  <a:lin ang="5400000" scaled="0"/>
                </a:gradFill>
                <a:latin typeface="Fraunces" pitchFamily="34" charset="0"/>
                <a:ea typeface="Fraunces" pitchFamily="34" charset="-122"/>
                <a:cs typeface="Fraunces" pitchFamily="34" charset="-120"/>
              </a:rPr>
              <a:t>Settle in days.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1143000" y="8810625"/>
            <a:ext cx="74561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EAE5D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property-secured improvement loan, </a:t>
            </a:r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ECD58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 $495 in your pocket per settlement.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663565" y="9553575"/>
            <a:ext cx="16295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709551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200650"/>
            <a:ext cx="16482060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clients own the asset. They just can't unlock it </a:t>
            </a:r>
            <a:pPr algn="l" indent="0" marL="0">
              <a:lnSpc>
                <a:spcPct val="110000"/>
              </a:lnSpc>
              <a:buNone/>
            </a:pPr>
            <a:r>
              <a:rPr lang="en-US" sz="6300" i="1" dirty="0">
                <a:solidFill>
                  <a:srgbClr val="D6B15E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cleanly.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5503854"/>
            <a:ext cx="5194250" cy="2095500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589829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503854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503854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27725" y="5503854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5818179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REFINANCING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57325" y="6265854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57325" y="6427779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Slow, costly and disturbs a home loan they're happy with.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546800" y="5503854"/>
            <a:ext cx="5194250" cy="2095500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46800" y="7589829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00" y="5503854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6800" y="5503854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31526" y="5503854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61125" y="5818179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UNSECURED LOANS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61125" y="6265854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61125" y="6427779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Small limits and high rates for the size of project they have in mind.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950601" y="5503854"/>
            <a:ext cx="5194250" cy="2095500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2264926" y="5818179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5C47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264926" y="6265854"/>
            <a:ext cx="4565600" cy="9525"/>
          </a:xfrm>
          <a:prstGeom prst="rect">
            <a:avLst/>
          </a:prstGeom>
          <a:solidFill>
            <a:srgbClr val="221A08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264926" y="6427779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property-secured improvement loan that sits exactly in the gap.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42536"/>
            <a:ext cx="86334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MEET PROPENTIAL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4014172"/>
            <a:ext cx="8084058" cy="1274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25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clear product, secured by the home </a:t>
            </a:r>
            <a:pPr algn="l" indent="0" marL="0">
              <a:lnSpc>
                <a:spcPct val="110000"/>
              </a:lnSpc>
              <a:buNone/>
            </a:pPr>
            <a:r>
              <a:rPr lang="en-US" sz="4425" dirty="0">
                <a:solidFill>
                  <a:srgbClr val="B6873A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they already own.</a:t>
            </a:r>
            <a:endParaRPr lang="en-US" sz="4425" dirty="0"/>
          </a:p>
        </p:txBody>
      </p:sp>
      <p:sp>
        <p:nvSpPr>
          <p:cNvPr id="5" name="Text 3"/>
          <p:cNvSpPr/>
          <p:nvPr/>
        </p:nvSpPr>
        <p:spPr>
          <a:xfrm>
            <a:off x="1143000" y="5526100"/>
            <a:ext cx="725995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>
                    <a:alpha val="93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Propential is a fixed-term loan secured against a property your client owns, taken by caveat or second mortgage (NT and QLD only). They borrow a set amount, repay it with principal &amp; interest, and put it toward improving the place they live.</a:t>
            </a:r>
            <a:endParaRPr lang="en-US" sz="18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28769" r="28769" t="0" b="0"/>
          <a:stretch/>
        </p:blipFill>
        <p:spPr>
          <a:xfrm>
            <a:off x="9848850" y="0"/>
            <a:ext cx="8439150" cy="1028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306221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 AT A GLANCE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739756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Simple to explain. Easy to recommend.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3916524"/>
            <a:ext cx="2990850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501644"/>
            <a:ext cx="29908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916524"/>
            <a:ext cx="29908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24325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4230849"/>
            <a:ext cx="25984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4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LOAN SIZE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457325" y="4564224"/>
            <a:ext cx="24384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$5k–$175k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1457325" y="5916774"/>
            <a:ext cx="23622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6078699"/>
            <a:ext cx="24384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Secured, fixed-term.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57325" y="6540661"/>
            <a:ext cx="23622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" y="6702586"/>
            <a:ext cx="24384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6F6C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no early payment fees.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916524"/>
            <a:ext cx="2990850" cy="3594646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4657725" y="4230849"/>
            <a:ext cx="25984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5C47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CLEAR 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57725" y="4863368"/>
            <a:ext cx="176420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17.95%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4657725" y="5530118"/>
            <a:ext cx="259842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5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p.a.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657725" y="5897724"/>
            <a:ext cx="2362200" cy="9525"/>
          </a:xfrm>
          <a:prstGeom prst="rect">
            <a:avLst/>
          </a:prstGeom>
          <a:solidFill>
            <a:srgbClr val="221A08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57725" y="6059649"/>
            <a:ext cx="24384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rate for everyone.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7543800" y="3916524"/>
            <a:ext cx="2990850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7501644"/>
            <a:ext cx="29908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3916524"/>
            <a:ext cx="29908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0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25125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858125" y="4230849"/>
            <a:ext cx="25984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58125" y="4863368"/>
            <a:ext cx="119940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1–10</a:t>
            </a:r>
            <a:endParaRPr lang="en-US" sz="4500" dirty="0"/>
          </a:p>
        </p:txBody>
      </p:sp>
      <p:sp>
        <p:nvSpPr>
          <p:cNvPr id="29" name="Text 27"/>
          <p:cNvSpPr/>
          <p:nvPr/>
        </p:nvSpPr>
        <p:spPr>
          <a:xfrm>
            <a:off x="7858125" y="5530118"/>
            <a:ext cx="259842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yrs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858125" y="5897724"/>
            <a:ext cx="23622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858125" y="6059649"/>
            <a:ext cx="24384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to 7 yrs ≤$50k; up to 10 yrs above.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744200" y="3916524"/>
            <a:ext cx="2990850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44200" y="7501644"/>
            <a:ext cx="29908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744200" y="3916524"/>
            <a:ext cx="29908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44200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3725525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058525" y="4230849"/>
            <a:ext cx="25984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REPAYMENTS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058525" y="4894027"/>
            <a:ext cx="21328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Fortnightly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11058525" y="5333963"/>
            <a:ext cx="21121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 monthly</a:t>
            </a:r>
            <a:endParaRPr lang="en-US" sz="3150" dirty="0"/>
          </a:p>
        </p:txBody>
      </p:sp>
      <p:sp>
        <p:nvSpPr>
          <p:cNvPr id="40" name="Shape 38"/>
          <p:cNvSpPr/>
          <p:nvPr/>
        </p:nvSpPr>
        <p:spPr>
          <a:xfrm>
            <a:off x="11058525" y="5897724"/>
            <a:ext cx="23622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058525" y="6059649"/>
            <a:ext cx="24384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Principal &amp; interest.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3944600" y="3916524"/>
            <a:ext cx="3200400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43" name="Shape 41"/>
          <p:cNvSpPr/>
          <p:nvPr/>
        </p:nvSpPr>
        <p:spPr>
          <a:xfrm>
            <a:off x="13944600" y="7501644"/>
            <a:ext cx="32004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944600" y="3916524"/>
            <a:ext cx="320040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45" name="Shape 43"/>
          <p:cNvSpPr/>
          <p:nvPr/>
        </p:nvSpPr>
        <p:spPr>
          <a:xfrm>
            <a:off x="13944600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7135475" y="3916524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4258925" y="4230849"/>
            <a:ext cx="28289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4258925" y="4894027"/>
            <a:ext cx="18085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Caveat or</a:t>
            </a:r>
            <a:endParaRPr lang="en-US" sz="3150" dirty="0"/>
          </a:p>
        </p:txBody>
      </p:sp>
      <p:sp>
        <p:nvSpPr>
          <p:cNvPr id="49" name="Text 47"/>
          <p:cNvSpPr/>
          <p:nvPr/>
        </p:nvSpPr>
        <p:spPr>
          <a:xfrm>
            <a:off x="14258925" y="5333963"/>
            <a:ext cx="26321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2nd mortgage</a:t>
            </a:r>
            <a:endParaRPr lang="en-US" sz="3150" dirty="0"/>
          </a:p>
        </p:txBody>
      </p:sp>
      <p:sp>
        <p:nvSpPr>
          <p:cNvPr id="50" name="Shape 48"/>
          <p:cNvSpPr/>
          <p:nvPr/>
        </p:nvSpPr>
        <p:spPr>
          <a:xfrm>
            <a:off x="14258925" y="5897724"/>
            <a:ext cx="25717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4258925" y="6059649"/>
            <a:ext cx="264890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Existing home loan untouched.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4258925" y="6831174"/>
            <a:ext cx="25717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258925" y="6993099"/>
            <a:ext cx="2648903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6F6C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(NT &amp; QLD)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143000" y="7794383"/>
            <a:ext cx="1760220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6F6C63">
                    <a:alpha val="86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Comparison rate 21.3% p.a., based on a $30,000 5-year secured loan.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001250" y="3147110"/>
            <a:ext cx="78581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FUNDS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001250" y="3618616"/>
            <a:ext cx="7358063" cy="12742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25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Any project that improves the property and adds value.</a:t>
            </a:r>
            <a:endParaRPr lang="en-US" sz="4425" dirty="0"/>
          </a:p>
        </p:txBody>
      </p:sp>
      <p:sp>
        <p:nvSpPr>
          <p:cNvPr id="5" name="Shape 3"/>
          <p:cNvSpPr/>
          <p:nvPr/>
        </p:nvSpPr>
        <p:spPr>
          <a:xfrm>
            <a:off x="10001250" y="5149376"/>
            <a:ext cx="1787277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39375" y="5282726"/>
            <a:ext cx="138722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INTERIORS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921877" y="5149376"/>
            <a:ext cx="2651522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0002" y="5282726"/>
            <a:ext cx="22548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KITCHENS &amp; BATHS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706749" y="5149376"/>
            <a:ext cx="1293614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44874" y="5282726"/>
            <a:ext cx="8935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POOLS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01250" y="5768501"/>
            <a:ext cx="1540520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39375" y="5901851"/>
            <a:ext cx="11404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FENCING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675120" y="5768501"/>
            <a:ext cx="2034183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13245" y="5901851"/>
            <a:ext cx="16341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LANDSCAPING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842653" y="5768501"/>
            <a:ext cx="1540520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0778" y="5901851"/>
            <a:ext cx="11404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ROOFING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01250" y="6556127"/>
            <a:ext cx="604342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>
                    <a:alpha val="87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It's a fixed-term, secured loan, not a line of credit and not for construction.</a:t>
            </a:r>
            <a:endParaRPr lang="en-US" sz="187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26710" r="26710" t="0" b="0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663587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YOUR CLIENTS SAY YES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116587"/>
            <a:ext cx="176022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reasons it's an easy </a:t>
            </a:r>
            <a:pPr algn="l" indent="0" marL="0">
              <a:lnSpc>
                <a:spcPct val="110000"/>
              </a:lnSpc>
              <a:buNone/>
            </a:pPr>
            <a:r>
              <a:rPr lang="en-US" sz="6300" i="1" dirty="0">
                <a:solidFill>
                  <a:srgbClr val="D6B15E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yes.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3425470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825" b="12825"/>
          <a:stretch/>
        </p:blipFill>
        <p:spPr>
          <a:xfrm>
            <a:off x="1143000" y="3425470"/>
            <a:ext cx="3843338" cy="2857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90650" y="7721245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90650" y="6740170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Their home loan stays put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90650" y="7864120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Sits behind their existing mortgage, with no refinance and no disturbance.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95888" y="3425470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2825" b="12825"/>
          <a:stretch/>
        </p:blipFill>
        <p:spPr>
          <a:xfrm>
            <a:off x="5195888" y="3425470"/>
            <a:ext cx="3843338" cy="2857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43538" y="7721245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443538" y="6740170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clear rate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443538" y="7864120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17.95% p.a. for everyone, with no risk-based surprises to explain.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248775" y="3425470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0250" b="20250"/>
          <a:stretch/>
        </p:blipFill>
        <p:spPr>
          <a:xfrm>
            <a:off x="9248775" y="3425470"/>
            <a:ext cx="3843338" cy="2857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496425" y="7721245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9496425" y="6740170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real end date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9496425" y="7864120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Fixed term with principal &amp; interest, so it's paid off, not perpetual.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3301663" y="3425470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5167" r="5167" t="0" b="0"/>
          <a:stretch/>
        </p:blipFill>
        <p:spPr>
          <a:xfrm>
            <a:off x="13301663" y="3425470"/>
            <a:ext cx="3843338" cy="28575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3549313" y="7721245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13549313" y="6740170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Quick to settle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13549313" y="7864120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eligibility check with no credit-file impact, then a fast assessment.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497961" cy="10287000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57250" y="4022509"/>
            <a:ext cx="63618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5C4718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COMMISSION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4379847"/>
            <a:ext cx="636180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750" spc="5" kern="0" dirty="0">
                <a:solidFill>
                  <a:srgbClr val="5C4718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</a:t>
            </a:r>
            <a:pPr algn="l" indent="0" marL="0">
              <a:lnSpc>
                <a:spcPct val="90000"/>
              </a:lnSpc>
              <a:buNone/>
            </a:pPr>
            <a:r>
              <a:rPr lang="en-US" sz="13500" spc="5" kern="0" dirty="0">
                <a:solidFill>
                  <a:srgbClr val="221A08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495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857250" y="5999097"/>
            <a:ext cx="63618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5" kern="0" dirty="0">
                <a:solidFill>
                  <a:srgbClr val="3C2F12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settlement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7497961" y="0"/>
            <a:ext cx="10790039" cy="10287000"/>
          </a:xfrm>
          <a:prstGeom prst="rect">
            <a:avLst/>
          </a:prstGeom>
          <a:solidFill>
            <a:srgbClr val="121309"/>
          </a:solidFill>
          <a:ln/>
        </p:spPr>
      </p:sp>
      <p:sp>
        <p:nvSpPr>
          <p:cNvPr id="8" name="Text 6"/>
          <p:cNvSpPr/>
          <p:nvPr/>
        </p:nvSpPr>
        <p:spPr>
          <a:xfrm>
            <a:off x="8545711" y="3380020"/>
            <a:ext cx="9563993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fee worth </a:t>
            </a:r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gradFill rotWithShape="1">
                  <a:gsLst>
                    <a:gs pos="0">
                      <a:srgbClr val="F0DA97">
                        <a:alpha val="97000"/>
                      </a:srgbClr>
                    </a:gs>
                    <a:gs pos="60000">
                      <a:srgbClr val="D6B15E">
                        <a:alpha val="97000"/>
                      </a:srgbClr>
                    </a:gs>
                    <a:gs pos="100000">
                      <a:srgbClr val="C0913F">
                        <a:alpha val="97000"/>
                      </a:srgbClr>
                    </a:gs>
                  </a:gsLst>
                  <a:lin ang="5400000" scaled="0"/>
                </a:gra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referring for.</a:t>
            </a:r>
            <a:endParaRPr lang="en-US" sz="4950" dirty="0"/>
          </a:p>
        </p:txBody>
      </p:sp>
      <p:sp>
        <p:nvSpPr>
          <p:cNvPr id="9" name="Shape 7"/>
          <p:cNvSpPr/>
          <p:nvPr/>
        </p:nvSpPr>
        <p:spPr>
          <a:xfrm>
            <a:off x="8545711" y="4442491"/>
            <a:ext cx="19050" cy="664666"/>
          </a:xfrm>
          <a:prstGeom prst="rect">
            <a:avLst/>
          </a:prstGeom>
          <a:solidFill>
            <a:srgbClr val="D6B15E">
              <a:alpha val="9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55261" y="4442491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Once-off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55261" y="4834802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flat fee per settled loan, with nothing tiered to track.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545711" y="5371328"/>
            <a:ext cx="19050" cy="664666"/>
          </a:xfrm>
          <a:prstGeom prst="rect">
            <a:avLst/>
          </a:prstGeom>
          <a:solidFill>
            <a:srgbClr val="D6B15E">
              <a:alpha val="8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55261" y="5371328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 claw-back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55261" y="5763639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Once it's settled, it's yours, even if the loan is later repaid or refinanced.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545711" y="6315793"/>
            <a:ext cx="19050" cy="664666"/>
          </a:xfrm>
          <a:prstGeom prst="rect">
            <a:avLst/>
          </a:prstGeom>
          <a:solidFill>
            <a:srgbClr val="D6B15E">
              <a:alpha val="7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755261" y="6315793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Paid after settlement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55261" y="6708104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 waiting on milestones; paid once the loan settles.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812088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REFERRING WORKS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264673"/>
            <a:ext cx="176022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steps. You stay in the loop.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4839555"/>
            <a:ext cx="3843338" cy="2655094"/>
          </a:xfrm>
          <a:prstGeom prst="roundRect">
            <a:avLst>
              <a:gd name="adj" fmla="val 5740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9225" y="5172931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381125" y="51729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9225" y="5858731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Refer your client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9225" y="6308192"/>
            <a:ext cx="33896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Send them to Propential with your referral code; that's what ties the deal to you.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95888" y="4839555"/>
            <a:ext cx="3843338" cy="2655094"/>
          </a:xfrm>
          <a:prstGeom prst="roundRect">
            <a:avLst>
              <a:gd name="adj" fmla="val 5740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72113" y="5172931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5434013" y="51729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72113" y="5858731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They check eligibility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72113" y="6308192"/>
            <a:ext cx="3389614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instant eligibility check with no impact on their credit file.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48775" y="4839555"/>
            <a:ext cx="3843338" cy="2655094"/>
          </a:xfrm>
          <a:prstGeom prst="roundRect">
            <a:avLst>
              <a:gd name="adj" fmla="val 5740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25000" y="5172931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486900" y="51729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25000" y="5858731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assess &amp; settle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25000" y="6308192"/>
            <a:ext cx="33896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handle the application, valuation, responsible-lending checks and settlement.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01663" y="4839555"/>
            <a:ext cx="3843338" cy="2655094"/>
          </a:xfrm>
          <a:prstGeom prst="roundRect">
            <a:avLst>
              <a:gd name="adj" fmla="val 5740"/>
            </a:avLst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13577888" y="5172931"/>
            <a:ext cx="476250" cy="476250"/>
          </a:xfrm>
          <a:prstGeom prst="ellipse">
            <a:avLst/>
          </a:prstGeom>
          <a:solidFill>
            <a:srgbClr val="221A08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9788" y="51729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ECD5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577888" y="5858731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You're paid $495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577888" y="6308192"/>
            <a:ext cx="3389614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commission is paid once the loan settles. No claw-back.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318882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ON SOLID GROUND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752289"/>
            <a:ext cx="9728125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licensed lender your name is safe beside.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4620295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620295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6813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4934620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57325" y="5248945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MediPay Holdings Pty Limited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457325" y="6601495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6763420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licensed credit provider behind Propential.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195888" y="4620295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15" name="Shape 13"/>
          <p:cNvSpPr/>
          <p:nvPr/>
        </p:nvSpPr>
        <p:spPr>
          <a:xfrm>
            <a:off x="5195888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95888" y="4620295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95888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29700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10213" y="4934620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AUSTRALIAN CREDIT LICENCE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10213" y="5248945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474336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5510213" y="6601495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10213" y="6763420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Lending under the National Credit Code.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48775" y="4620295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8775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48775" y="4620295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26" name="Shape 24"/>
          <p:cNvSpPr/>
          <p:nvPr/>
        </p:nvSpPr>
        <p:spPr>
          <a:xfrm>
            <a:off x="9248775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082588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4934620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RESPONSIBLE LENDING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63100" y="5248945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Assessed every time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9563100" y="6601495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6763420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Suitability and capacity to repay on every application.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3301663" y="4620295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33" name="Shape 31"/>
          <p:cNvSpPr/>
          <p:nvPr/>
        </p:nvSpPr>
        <p:spPr>
          <a:xfrm>
            <a:off x="13301663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301663" y="4620295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35" name="Shape 33"/>
          <p:cNvSpPr/>
          <p:nvPr/>
        </p:nvSpPr>
        <p:spPr>
          <a:xfrm>
            <a:off x="13301663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135475" y="4620295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615988" y="4934620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CARE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3615988" y="5248945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Hardship &amp; complaints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3615988" y="6601495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3615988" y="6763420"/>
            <a:ext cx="331112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Clear processes, plus a published Target Market Determination.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811798"/>
            <a:ext cx="78581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PARTNER WITH PROPENTIAL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283301"/>
            <a:ext cx="7358063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clean product and a fee worth referring for.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5170352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" y="5265602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3550" y="5175115"/>
            <a:ext cx="7208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$495 per settlement, no claw-back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143000" y="5818052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" y="5913302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3550" y="5822815"/>
            <a:ext cx="7208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Simple to refer; we do the heavy lifting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1143000" y="6465752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8250" y="6561002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3550" y="6470515"/>
            <a:ext cx="7208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premium brand that reflects well on you</a:t>
            </a:r>
            <a:endParaRPr lang="en-US" sz="2250" dirty="0"/>
          </a:p>
        </p:txBody>
      </p:sp>
      <p:sp>
        <p:nvSpPr>
          <p:cNvPr id="14" name="Shape 9"/>
          <p:cNvSpPr/>
          <p:nvPr/>
        </p:nvSpPr>
        <p:spPr>
          <a:xfrm>
            <a:off x="1143000" y="7113452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8250" y="7208702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3550" y="7118215"/>
            <a:ext cx="7208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product your clients actually want</a:t>
            </a:r>
            <a:endParaRPr lang="en-US" sz="2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rcRect l="24362" r="24362" t="0" b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9553575"/>
            <a:ext cx="42094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BROKER PARTNERSHIP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2547" r="2547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907">
                  <a:alpha val="55000"/>
                </a:srgbClr>
              </a:gs>
              <a:gs pos="72000">
                <a:srgbClr val="080907">
                  <a:alpha val="86000"/>
                </a:srgbClr>
              </a:gs>
            </a:gsLst>
            <a:path path="circle">
              <a:fillToRect l="50000" t="45000" r="50000" b="55000"/>
            </a:path>
          </a:gradFill>
          <a:ln/>
        </p:spPr>
      </p:sp>
      <p:sp>
        <p:nvSpPr>
          <p:cNvPr id="5" name="Text 2"/>
          <p:cNvSpPr/>
          <p:nvPr/>
        </p:nvSpPr>
        <p:spPr>
          <a:xfrm>
            <a:off x="6205560" y="2367995"/>
            <a:ext cx="5876732" cy="257175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9525" dir="5400000">
              <a:srgbClr val="000000">
                <a:alpha val="34602"/>
              </a:srgbClr>
            </a:outerShdw>
          </a:effectLst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BECOME AN ACCREDITED PROPENTIAL BROKER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03777" y="2820452"/>
            <a:ext cx="9280446" cy="918121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9525" dir="5400000">
              <a:srgbClr val="000000">
                <a:alpha val="29079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Let's get you set up to refer.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6259640" y="3947443"/>
            <a:ext cx="5768721" cy="657225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9525" dir="5400000">
              <a:srgbClr val="000000">
                <a:alpha val="32676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F3EEE2">
                    <a:alpha val="93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Accreditation takes minutes. Your first $495 could be a settlement away.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4605040" y="5192271"/>
            <a:ext cx="4424660" cy="1143000"/>
          </a:xfrm>
          <a:prstGeom prst="roundRect">
            <a:avLst>
              <a:gd name="adj" fmla="val 15000"/>
            </a:avLst>
          </a:prstGeom>
          <a:solidFill>
            <a:srgbClr val="F3EEE2">
              <a:alpha val="4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1968" y="5449446"/>
            <a:ext cx="7106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D6B1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29564" y="5763771"/>
            <a:ext cx="41756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partners@propential.com.au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258300" y="5192271"/>
            <a:ext cx="4424660" cy="1143000"/>
          </a:xfrm>
          <a:prstGeom prst="roundRect">
            <a:avLst>
              <a:gd name="adj" fmla="val 15000"/>
            </a:avLst>
          </a:prstGeom>
          <a:solidFill>
            <a:srgbClr val="F3EEE2">
              <a:alpha val="4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15229" y="5449446"/>
            <a:ext cx="7106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D6B1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513911" y="5763771"/>
            <a:ext cx="1913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1800 012 795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710227" y="6633175"/>
            <a:ext cx="2867397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A7A399">
                    <a:alpha val="74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reply within one business day.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923609" y="7294120"/>
            <a:ext cx="2440781" cy="69145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8266509" y="7503670"/>
            <a:ext cx="1754981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b="1" spc="5" kern="0" dirty="0">
                <a:solidFill>
                  <a:srgbClr val="221A0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Get accredited →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43000" y="9553575"/>
            <a:ext cx="73326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MEDIPAY HOLDINGS PTY LIMITED · ACL 474336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2026-06-22T03:50:27Z</dcterms:created>
  <dcterms:modified xsi:type="dcterms:W3CDTF">2026-06-22T03:50:27Z</dcterms:modified>
</cp:coreProperties>
</file>